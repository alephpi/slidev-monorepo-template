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（难以用语言形容的差异表征为纯粹的数字差异）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注意这两种性质并不一致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此处的线性变换的作用在于混合不同神经元的信号，而非线性变换在于提升网络的表达能力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如何高效计算梯度：反向传播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类似于对称性破缺，出现特定的结构。特定的结构对特定的信号敏感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类似于对称性破缺，出现特定的结构。特定的结构对特定的信号敏感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词元示例：
  你好世界
  hello⋅world
  👋🌎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作为对比，成年人脑神经元的个数约为 860 亿，其中负责认知的大脑皮层约 160 亿，负责运动的小脑约 690 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融合：真正的统一表征，施加不同解码器能得到不同模态的信息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我更愿意称之为大符号模型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localhost:12445/print?print=clicks#/3" TargetMode="External"/><Relationship Id="rId2" Type="http://schemas.openxmlformats.org/officeDocument/2006/relationships/hyperlink" Target="http://localhost:12445/print?print=clicks#/12" TargetMode="External"/><Relationship Id="rId3" Type="http://schemas.openxmlformats.org/officeDocument/2006/relationships/hyperlink" Target="http://localhost:12445/print?print=clicks#/18" TargetMode="External"/><Relationship Id="rId4" Type="http://schemas.openxmlformats.org/officeDocument/2006/relationships/hyperlink" Target="http://localhost:12445/print?print=clicks#/25" TargetMode="External"/><Relationship Id="rId5" Type="http://schemas.openxmlformats.org/officeDocument/2006/relationships/hyperlink" Target="http://localhost:12445/print?print=clicks#/30" TargetMode="External"/><Relationship Id="rId6" Type="http://schemas.openxmlformats.org/officeDocument/2006/relationships/hyperlink" Target="http://localhost:12445/print?print=clicks#/34" TargetMode="External"/><Relationship Id="rId7" Type="http://schemas.openxmlformats.org/officeDocument/2006/relationships/hyperlink" Target="http://localhost:12445/print?print=clicks#/40" TargetMode="External"/><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hyperlink" Target="https://dpkingma.com/sgvb_mnist_demo/demo.html"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9-8.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playground.tensorflow.org/#activation=relu&amp;batchSize=10&amp;dataset=xor&amp;regDataset=reg-plane&amp;learningRate=0.03&amp;regularizationRate=0&amp;noise=0&amp;networkShape=4&amp;seed=0.38991&amp;showTestData=false&amp;discretize=false&amp;percTrainData=50&amp;x=true&amp;y=true&amp;xTimesY=false&amp;xSquared=false&amp;ySquared=false&amp;cosX=false&amp;sinX=false&amp;cosY=false&amp;sinY=false&amp;collectStats=false&amp;problem=classification&amp;initZero=false&amp;hideText=false"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0" Type="http://schemas.openxmlformats.org/officeDocument/2006/relationships/hyperlink" Target="https://distill.pub/2017/momentum/" TargetMode="External"/><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1" Type="http://schemas.openxmlformats.org/officeDocument/2006/relationships/image" Target="../media/image-16-10.png"/><Relationship Id="rId12" Type="http://schemas.openxmlformats.org/officeDocument/2006/relationships/image" Target="../media/image-16-11.png"/><Relationship Id="rId13" Type="http://schemas.openxmlformats.org/officeDocument/2006/relationships/slideLayout" Target="../slideLayouts/slideLayout1.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gif"/><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5" Type="http://schemas.openxmlformats.org/officeDocument/2006/relationships/hyperlink" Target="https://tiktokenizer.vercel.app/?model=gpt-4o" TargetMode="External"/><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6" Type="http://schemas.openxmlformats.org/officeDocument/2006/relationships/image" Target="../media/image-26-5.png"/><Relationship Id="rId7" Type="http://schemas.openxmlformats.org/officeDocument/2006/relationships/image" Target="../media/image-26-6.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texocr.netlify.app/ocr" TargetMode="Externa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Rendered as an image because of CSS background-image">    </p:cNvPr>
          <p:cNvPicPr>
            <a:picLocks noChangeAspect="1"/>
          </p:cNvPicPr>
          <p:nvPr/>
        </p:nvPicPr>
        <p:blipFill>
          <a:blip r:embed="rId1"/>
          <a:stretch>
            <a:fillRect/>
          </a:stretch>
        </p:blipFill>
        <p:spPr>
          <a:xfrm>
            <a:off x="0" y="0"/>
            <a:ext cx="9334500" cy="5257800"/>
          </a:xfrm>
          <a:prstGeom prst="rect">
            <a:avLst/>
          </a:prstGeom>
        </p:spPr>
      </p:pic>
      <p:pic>
        <p:nvPicPr>
          <p:cNvPr id="3" name="Image 1" descr="Rendered as an image because of CSS background-clip-text">    </p:cNvPr>
          <p:cNvPicPr>
            <a:picLocks noChangeAspect="1"/>
          </p:cNvPicPr>
          <p:nvPr/>
        </p:nvPicPr>
        <p:blipFill>
          <a:blip r:embed="rId2"/>
          <a:stretch>
            <a:fillRect/>
          </a:stretch>
        </p:blipFill>
        <p:spPr>
          <a:xfrm>
            <a:off x="507206" y="895499"/>
            <a:ext cx="8293894" cy="1524000"/>
          </a:xfrm>
          <a:prstGeom prst="rect">
            <a:avLst/>
          </a:prstGeom>
        </p:spPr>
      </p:pic>
      <p:sp>
        <p:nvSpPr>
          <p:cNvPr id="4" name="Text 0"/>
          <p:cNvSpPr txBox="1"/>
          <p:nvPr/>
        </p:nvSpPr>
        <p:spPr>
          <a:xfrm>
            <a:off x="533400" y="2526060"/>
            <a:ext cx="1981349" cy="381000"/>
          </a:xfrm>
          <a:prstGeom prst="rect">
            <a:avLst/>
          </a:prstGeom>
          <a:noFill/>
          <a:ln/>
        </p:spPr>
        <p:txBody>
          <a:bodyPr wrap="none" lIns="0" tIns="0" rIns="0" bIns="0" rtlCol="0" anchor="t"/>
          <a:lstStyle/>
          <a:p>
            <a:pPr algn="l" indent="0" marL="0">
              <a:buNone/>
            </a:pPr>
            <a:r>
              <a:rPr lang="en-US" sz="2100" dirty="0">
                <a:solidFill>
                  <a:srgbClr val="FFFFFF">
                    <a:alpha val="50000"/>
                  </a:srgbClr>
                </a:solidFill>
                <a:latin typeface="Arial" pitchFamily="34" charset="0"/>
                <a:ea typeface="Arial" pitchFamily="34" charset="-122"/>
                <a:cs typeface="Arial" pitchFamily="34" charset="-120"/>
              </a:rPr>
              <a:t>机器学习讨论班</a:t>
            </a:r>
            <a:endParaRPr lang="en-US" sz="2100" dirty="0"/>
          </a:p>
        </p:txBody>
      </p:sp>
      <p:sp>
        <p:nvSpPr>
          <p:cNvPr id="5" name="Text 1"/>
          <p:cNvSpPr txBox="1"/>
          <p:nvPr/>
        </p:nvSpPr>
        <p:spPr>
          <a:xfrm>
            <a:off x="533400" y="3417391"/>
            <a:ext cx="914549" cy="381000"/>
          </a:xfrm>
          <a:prstGeom prst="rect">
            <a:avLst/>
          </a:prstGeom>
          <a:noFill/>
          <a:ln/>
        </p:spPr>
        <p:txBody>
          <a:bodyPr wrap="none" lIns="0" tIns="0" rIns="0" bIns="0" rtlCol="0" anchor="t"/>
          <a:lstStyle/>
          <a:p>
            <a:pPr algn="l" indent="0" marL="0">
              <a:buNone/>
            </a:pPr>
            <a:r>
              <a:rPr lang="en-US" sz="2100" dirty="0">
                <a:solidFill>
                  <a:srgbClr val="FFFFFF"/>
                </a:solidFill>
                <a:latin typeface="Arial" pitchFamily="34" charset="0"/>
                <a:ea typeface="Arial" pitchFamily="34" charset="-122"/>
                <a:cs typeface="Arial" pitchFamily="34" charset="-120"/>
              </a:rPr>
              <a:t>毛思成</a:t>
            </a:r>
            <a:endParaRPr lang="en-US" sz="2100" dirty="0"/>
          </a:p>
        </p:txBody>
      </p:sp>
      <p:sp>
        <p:nvSpPr>
          <p:cNvPr id="6" name="Text 2"/>
          <p:cNvSpPr txBox="1"/>
          <p:nvPr/>
        </p:nvSpPr>
        <p:spPr>
          <a:xfrm>
            <a:off x="533400" y="3885902"/>
            <a:ext cx="1181695" cy="333375"/>
          </a:xfrm>
          <a:prstGeom prst="rect">
            <a:avLst/>
          </a:prstGeom>
          <a:noFill/>
          <a:ln/>
        </p:spPr>
        <p:txBody>
          <a:bodyPr wrap="none" lIns="0" tIns="0" rIns="0" bIns="0" rtlCol="0" anchor="t"/>
          <a:lstStyle/>
          <a:p>
            <a:pPr algn="l" indent="0" marL="0">
              <a:buNone/>
            </a:pPr>
            <a:r>
              <a:rPr lang="en-US" sz="1800" dirty="0">
                <a:solidFill>
                  <a:srgbClr val="FFFFFF"/>
                </a:solidFill>
                <a:latin typeface="Arial" pitchFamily="34" charset="0"/>
                <a:ea typeface="Arial" pitchFamily="34" charset="-122"/>
                <a:cs typeface="Arial" pitchFamily="34" charset="-120"/>
              </a:rPr>
              <a:t>2026/9/18</a:t>
            </a:r>
            <a:endParaRPr lang="en-US" sz="1800" dirty="0"/>
          </a:p>
        </p:txBody>
      </p:sp>
      <p:pic>
        <p:nvPicPr>
          <p:cNvPr id="7" name="Image 2" descr="preencoded.png">    </p:cNvPr>
          <p:cNvPicPr>
            <a:picLocks noChangeAspect="1"/>
          </p:cNvPicPr>
          <p:nvPr/>
        </p:nvPicPr>
        <p:blipFill>
          <a:blip r:embed="rId3"/>
          <a:stretch>
            <a:fillRect/>
          </a:stretch>
        </p:blipFill>
        <p:spPr>
          <a:xfrm>
            <a:off x="8292554" y="4285506"/>
            <a:ext cx="762000" cy="76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1066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大纲</a:t>
            </a:r>
            <a:endParaRPr lang="en-US" sz="3750" dirty="0"/>
          </a:p>
        </p:txBody>
      </p:sp>
      <p:sp>
        <p:nvSpPr>
          <p:cNvPr id="3" name="Text 1"/>
          <p:cNvSpPr txBox="1"/>
          <p:nvPr/>
        </p:nvSpPr>
        <p:spPr>
          <a:xfrm>
            <a:off x="516630" y="1211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1. </a:t>
            </a:r>
            <a:endParaRPr lang="en-US" sz="1320" dirty="0"/>
          </a:p>
        </p:txBody>
      </p:sp>
      <p:sp>
        <p:nvSpPr>
          <p:cNvPr id="4" name="Text 2"/>
          <p:cNvSpPr txBox="1"/>
          <p:nvPr/>
        </p:nvSpPr>
        <p:spPr>
          <a:xfrm>
            <a:off x="694134" y="1239887"/>
            <a:ext cx="1119932" cy="247650"/>
          </a:xfrm>
          <a:prstGeom prst="rect">
            <a:avLst/>
          </a:prstGeom>
          <a:noFill/>
          <a:ln/>
        </p:spPr>
        <p:txBody>
          <a:bodyPr wrap="none" lIns="0" tIns="0" rIns="0" bIns="0" rtlCol="0" anchor="ctr"/>
          <a:lstStyle/>
          <a:p>
            <a:pPr algn="ctr" indent="0" marL="0">
              <a:buNone/>
            </a:pPr>
            <a:r>
              <a:rPr lang="en-US" sz="1320" u="dash" dirty="0">
                <a:solidFill>
                  <a:srgbClr val="00000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机器学习概览</a:t>
            </a:r>
            <a:endParaRPr lang="en-US" sz="1320" dirty="0"/>
          </a:p>
        </p:txBody>
      </p:sp>
      <p:sp>
        <p:nvSpPr>
          <p:cNvPr id="5" name="Text 3"/>
          <p:cNvSpPr txBox="1"/>
          <p:nvPr/>
        </p:nvSpPr>
        <p:spPr>
          <a:xfrm>
            <a:off x="516630" y="151313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2. </a:t>
            </a:r>
            <a:endParaRPr lang="en-US" sz="1320" dirty="0"/>
          </a:p>
        </p:txBody>
      </p:sp>
      <p:sp>
        <p:nvSpPr>
          <p:cNvPr id="6" name="Text 4"/>
          <p:cNvSpPr txBox="1"/>
          <p:nvPr/>
        </p:nvSpPr>
        <p:spPr>
          <a:xfrm>
            <a:off x="694134" y="1541711"/>
            <a:ext cx="1455093" cy="247650"/>
          </a:xfrm>
          <a:prstGeom prst="rect">
            <a:avLst/>
          </a:prstGeom>
          <a:noFill/>
          <a:ln/>
        </p:spPr>
        <p:txBody>
          <a:bodyPr wrap="none" lIns="0" tIns="0" rIns="0" bIns="0" rtlCol="0" anchor="ctr"/>
          <a:lstStyle/>
          <a:p>
            <a:pPr algn="ctr" indent="0" marL="0">
              <a:buNone/>
            </a:pPr>
            <a:r>
              <a:rPr lang="en-US" sz="1320" u="dash" dirty="0">
                <a:solidFill>
                  <a:srgbClr val="00000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深度学习基本概念</a:t>
            </a:r>
            <a:endParaRPr lang="en-US" sz="1320" dirty="0"/>
          </a:p>
        </p:txBody>
      </p:sp>
      <p:sp>
        <p:nvSpPr>
          <p:cNvPr id="7" name="Text 5"/>
          <p:cNvSpPr txBox="1"/>
          <p:nvPr/>
        </p:nvSpPr>
        <p:spPr>
          <a:xfrm>
            <a:off x="516630" y="18149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3. </a:t>
            </a:r>
            <a:endParaRPr lang="en-US" sz="1320" dirty="0"/>
          </a:p>
        </p:txBody>
      </p:sp>
      <p:sp>
        <p:nvSpPr>
          <p:cNvPr id="8" name="Text 6"/>
          <p:cNvSpPr txBox="1"/>
          <p:nvPr/>
        </p:nvSpPr>
        <p:spPr>
          <a:xfrm>
            <a:off x="694134" y="1843534"/>
            <a:ext cx="784771" cy="247650"/>
          </a:xfrm>
          <a:prstGeom prst="rect">
            <a:avLst/>
          </a:prstGeom>
          <a:noFill/>
          <a:ln/>
        </p:spPr>
        <p:txBody>
          <a:bodyPr wrap="none" lIns="0" tIns="0" rIns="0" bIns="0" rtlCol="0" anchor="ctr"/>
          <a:lstStyle/>
          <a:p>
            <a:pPr algn="ctr" indent="0" marL="0">
              <a:buNone/>
            </a:pPr>
            <a:r>
              <a:rPr lang="en-US" sz="1320" u="dash" dirty="0">
                <a:solidFill>
                  <a:srgbClr val="00000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经典架构</a:t>
            </a:r>
            <a:endParaRPr lang="en-US" sz="1320" dirty="0"/>
          </a:p>
        </p:txBody>
      </p:sp>
      <p:sp>
        <p:nvSpPr>
          <p:cNvPr id="9" name="Text 7"/>
          <p:cNvSpPr txBox="1"/>
          <p:nvPr/>
        </p:nvSpPr>
        <p:spPr>
          <a:xfrm>
            <a:off x="516630" y="211678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4. </a:t>
            </a:r>
            <a:endParaRPr lang="en-US" sz="1320" dirty="0"/>
          </a:p>
        </p:txBody>
      </p:sp>
      <p:sp>
        <p:nvSpPr>
          <p:cNvPr id="10" name="Text 8"/>
          <p:cNvSpPr txBox="1"/>
          <p:nvPr/>
        </p:nvSpPr>
        <p:spPr>
          <a:xfrm>
            <a:off x="694134" y="2145357"/>
            <a:ext cx="1838920" cy="247650"/>
          </a:xfrm>
          <a:prstGeom prst="rect">
            <a:avLst/>
          </a:prstGeom>
          <a:noFill/>
          <a:ln/>
        </p:spPr>
        <p:txBody>
          <a:bodyPr wrap="none" lIns="0" tIns="0" rIns="0" bIns="0" rtlCol="0" anchor="ctr"/>
          <a:lstStyle/>
          <a:p>
            <a:pPr algn="ctr" indent="0" marL="0">
              <a:buNone/>
            </a:pPr>
            <a:r>
              <a:rPr lang="en-US" sz="1320" u="dash" dirty="0">
                <a:solidFill>
                  <a:srgbClr val="00000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从 Transformer 到 GPT</a:t>
            </a:r>
            <a:endParaRPr lang="en-US" sz="1320" dirty="0"/>
          </a:p>
        </p:txBody>
      </p:sp>
      <p:sp>
        <p:nvSpPr>
          <p:cNvPr id="11" name="Text 9"/>
          <p:cNvSpPr txBox="1"/>
          <p:nvPr/>
        </p:nvSpPr>
        <p:spPr>
          <a:xfrm>
            <a:off x="516630" y="241860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5. </a:t>
            </a:r>
            <a:endParaRPr lang="en-US" sz="1320" dirty="0"/>
          </a:p>
        </p:txBody>
      </p:sp>
      <p:sp>
        <p:nvSpPr>
          <p:cNvPr id="12" name="Text 10"/>
          <p:cNvSpPr txBox="1"/>
          <p:nvPr/>
        </p:nvSpPr>
        <p:spPr>
          <a:xfrm>
            <a:off x="694134" y="2447181"/>
            <a:ext cx="1287512" cy="247650"/>
          </a:xfrm>
          <a:prstGeom prst="rect">
            <a:avLst/>
          </a:prstGeom>
          <a:noFill/>
          <a:ln/>
        </p:spPr>
        <p:txBody>
          <a:bodyPr wrap="none" lIns="0" tIns="0" rIns="0" bIns="0" rtlCol="0" anchor="ctr"/>
          <a:lstStyle/>
          <a:p>
            <a:pPr algn="ctr" indent="0" marL="0">
              <a:buNone/>
            </a:pPr>
            <a:r>
              <a:rPr lang="en-US" sz="1320" u="dash" dirty="0">
                <a:solidFill>
                  <a:srgbClr val="00000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从文本到多模态</a:t>
            </a:r>
            <a:endParaRPr lang="en-US" sz="1320" dirty="0"/>
          </a:p>
        </p:txBody>
      </p:sp>
      <p:sp>
        <p:nvSpPr>
          <p:cNvPr id="13" name="Text 11"/>
          <p:cNvSpPr txBox="1"/>
          <p:nvPr/>
        </p:nvSpPr>
        <p:spPr>
          <a:xfrm>
            <a:off x="516630" y="272042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6. </a:t>
            </a:r>
            <a:endParaRPr lang="en-US" sz="1320" dirty="0"/>
          </a:p>
        </p:txBody>
      </p:sp>
      <p:sp>
        <p:nvSpPr>
          <p:cNvPr id="14" name="Text 12"/>
          <p:cNvSpPr txBox="1"/>
          <p:nvPr/>
        </p:nvSpPr>
        <p:spPr>
          <a:xfrm>
            <a:off x="694134" y="2749004"/>
            <a:ext cx="1957834" cy="247650"/>
          </a:xfrm>
          <a:prstGeom prst="rect">
            <a:avLst/>
          </a:prstGeom>
          <a:noFill/>
          <a:ln/>
        </p:spPr>
        <p:txBody>
          <a:bodyPr wrap="none" lIns="0" tIns="0" rIns="0" bIns="0" rtlCol="0" anchor="ctr"/>
          <a:lstStyle/>
          <a:p>
            <a:pPr algn="ctr" indent="0" marL="0">
              <a:buNone/>
            </a:pPr>
            <a:r>
              <a:rPr lang="en-US" sz="1320" u="dash" dirty="0">
                <a:solidFill>
                  <a:srgbClr val="000000"/>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深度学习时代的语音处理</a:t>
            </a:r>
            <a:endParaRPr lang="en-US" sz="1320" dirty="0"/>
          </a:p>
        </p:txBody>
      </p:sp>
      <p:sp>
        <p:nvSpPr>
          <p:cNvPr id="15" name="Text 13"/>
          <p:cNvSpPr txBox="1"/>
          <p:nvPr/>
        </p:nvSpPr>
        <p:spPr>
          <a:xfrm>
            <a:off x="516630" y="302225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7. </a:t>
            </a:r>
            <a:endParaRPr lang="en-US" sz="1320" dirty="0"/>
          </a:p>
        </p:txBody>
      </p:sp>
      <p:sp>
        <p:nvSpPr>
          <p:cNvPr id="16" name="Text 14"/>
          <p:cNvSpPr txBox="1"/>
          <p:nvPr/>
        </p:nvSpPr>
        <p:spPr>
          <a:xfrm>
            <a:off x="694134" y="3050828"/>
            <a:ext cx="449610" cy="247650"/>
          </a:xfrm>
          <a:prstGeom prst="rect">
            <a:avLst/>
          </a:prstGeom>
          <a:noFill/>
          <a:ln/>
        </p:spPr>
        <p:txBody>
          <a:bodyPr wrap="none" lIns="0" tIns="0" rIns="0" bIns="0" rtlCol="0" anchor="ctr"/>
          <a:lstStyle/>
          <a:p>
            <a:pPr algn="ctr" indent="0" marL="0">
              <a:buNone/>
            </a:pPr>
            <a:r>
              <a:rPr lang="en-US" sz="1320" u="dash" dirty="0">
                <a:solidFill>
                  <a:srgbClr val="000000"/>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感想</a:t>
            </a:r>
            <a:endParaRPr lang="en-US" sz="1320" dirty="0"/>
          </a:p>
        </p:txBody>
      </p:sp>
      <p:pic>
        <p:nvPicPr>
          <p:cNvPr id="17" name="Image 0" descr="Rendered as an image because of CSS background-image">    </p:cNvPr>
          <p:cNvPicPr>
            <a:picLocks noChangeAspect="1"/>
          </p:cNvPicPr>
          <p:nvPr/>
        </p:nvPicPr>
        <p:blipFill>
          <a:blip r:embed="rId8"/>
          <a:stretch>
            <a:fillRect/>
          </a:stretch>
        </p:blipFill>
        <p:spPr>
          <a:xfrm>
            <a:off x="0" y="210294"/>
            <a:ext cx="326678" cy="838200"/>
          </a:xfrm>
          <a:prstGeom prst="rect">
            <a:avLst/>
          </a:prstGeom>
        </p:spPr>
      </p:pic>
      <p:pic>
        <p:nvPicPr>
          <p:cNvPr id="18" name="Image 1" descr="Rendered as an image because of CSS background-image">    </p:cNvPr>
          <p:cNvPicPr>
            <a:picLocks noChangeAspect="1"/>
          </p:cNvPicPr>
          <p:nvPr/>
        </p:nvPicPr>
        <p:blipFill>
          <a:blip r:embed="rId9"/>
          <a:stretch>
            <a:fillRect/>
          </a:stretch>
        </p:blipFill>
        <p:spPr>
          <a:xfrm>
            <a:off x="0" y="5029200"/>
            <a:ext cx="9334500" cy="228600"/>
          </a:xfrm>
          <a:prstGeom prst="rect">
            <a:avLst/>
          </a:prstGeom>
        </p:spPr>
      </p:pic>
      <p:sp>
        <p:nvSpPr>
          <p:cNvPr id="19" name="Text 15"/>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0" name="Shape 16"/>
          <p:cNvSpPr/>
          <p:nvPr/>
        </p:nvSpPr>
        <p:spPr>
          <a:xfrm>
            <a:off x="647700" y="5067300"/>
            <a:ext cx="9525" cy="152400"/>
          </a:xfrm>
          <a:prstGeom prst="rect">
            <a:avLst/>
          </a:prstGeom>
          <a:solidFill>
            <a:srgbClr val="F0FFFF"/>
          </a:solidFill>
          <a:ln/>
        </p:spPr>
      </p:sp>
      <p:sp>
        <p:nvSpPr>
          <p:cNvPr id="21" name="Text 17"/>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2" name="Text 18"/>
          <p:cNvSpPr txBox="1"/>
          <p:nvPr/>
        </p:nvSpPr>
        <p:spPr>
          <a:xfrm>
            <a:off x="4639568"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3" name="Text 19"/>
          <p:cNvSpPr txBox="1"/>
          <p:nvPr/>
        </p:nvSpPr>
        <p:spPr>
          <a:xfrm>
            <a:off x="8907512" y="5048250"/>
            <a:ext cx="188416"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a:t>
            </a:r>
            <a:endParaRPr lang="en-US" sz="1050" dirty="0"/>
          </a:p>
        </p:txBody>
      </p:sp>
      <p:sp>
        <p:nvSpPr>
          <p:cNvPr id="24" name="Text 20"/>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5" name="Text 21"/>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29918" y="1097756"/>
            <a:ext cx="2171849" cy="495300"/>
          </a:xfrm>
          <a:prstGeom prst="rect">
            <a:avLst/>
          </a:prstGeom>
          <a:noFill/>
          <a:ln/>
        </p:spPr>
        <p:txBody>
          <a:bodyPr wrap="none" lIns="0" tIns="0" rIns="0" bIns="0" rtlCol="0" anchor="t"/>
          <a:lstStyle/>
          <a:p>
            <a:pPr algn="l" indent="0" marL="0">
              <a:buNone/>
            </a:pPr>
            <a:r>
              <a:rPr lang="en-US" sz="2700" dirty="0">
                <a:solidFill>
                  <a:srgbClr val="000000"/>
                </a:solidFill>
                <a:latin typeface="Arial" pitchFamily="34" charset="0"/>
                <a:ea typeface="Arial" pitchFamily="34" charset="-122"/>
                <a:cs typeface="Arial" pitchFamily="34" charset="-120"/>
              </a:rPr>
              <a:t>机器学习概览</a:t>
            </a:r>
            <a:endParaRPr lang="en-US" sz="2700" dirty="0"/>
          </a:p>
        </p:txBody>
      </p:sp>
      <p:sp>
        <p:nvSpPr>
          <p:cNvPr id="3" name="Text 1"/>
          <p:cNvSpPr txBox="1"/>
          <p:nvPr/>
        </p:nvSpPr>
        <p:spPr>
          <a:xfrm>
            <a:off x="3630263" y="168830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3864918" y="1716881"/>
            <a:ext cx="7847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基本概念</a:t>
            </a:r>
            <a:endParaRPr lang="en-US" sz="1320" dirty="0"/>
          </a:p>
        </p:txBody>
      </p:sp>
      <p:sp>
        <p:nvSpPr>
          <p:cNvPr id="5" name="Text 3"/>
          <p:cNvSpPr txBox="1"/>
          <p:nvPr/>
        </p:nvSpPr>
        <p:spPr>
          <a:xfrm>
            <a:off x="3630263" y="199013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3864918" y="2018705"/>
            <a:ext cx="7847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模式识别</a:t>
            </a:r>
            <a:endParaRPr lang="en-US" sz="1320" dirty="0"/>
          </a:p>
        </p:txBody>
      </p:sp>
      <p:sp>
        <p:nvSpPr>
          <p:cNvPr id="7" name="Text 5"/>
          <p:cNvSpPr txBox="1"/>
          <p:nvPr/>
        </p:nvSpPr>
        <p:spPr>
          <a:xfrm>
            <a:off x="3630263" y="229195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3864918" y="2320528"/>
            <a:ext cx="44961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特征</a:t>
            </a:r>
            <a:endParaRPr lang="en-US" sz="1320" dirty="0"/>
          </a:p>
        </p:txBody>
      </p:sp>
      <p:sp>
        <p:nvSpPr>
          <p:cNvPr id="9" name="Text 7"/>
          <p:cNvSpPr txBox="1"/>
          <p:nvPr/>
        </p:nvSpPr>
        <p:spPr>
          <a:xfrm>
            <a:off x="3630263" y="259377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3864918" y="2622352"/>
            <a:ext cx="44961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表征</a:t>
            </a:r>
            <a:endParaRPr lang="en-US" sz="1320" dirty="0"/>
          </a:p>
        </p:txBody>
      </p:sp>
      <p:sp>
        <p:nvSpPr>
          <p:cNvPr id="11" name="Text 9"/>
          <p:cNvSpPr txBox="1"/>
          <p:nvPr/>
        </p:nvSpPr>
        <p:spPr>
          <a:xfrm>
            <a:off x="3630263" y="289560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3864918" y="2924175"/>
            <a:ext cx="7847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表征学习</a:t>
            </a:r>
            <a:endParaRPr lang="en-US" sz="1320" dirty="0"/>
          </a:p>
        </p:txBody>
      </p:sp>
      <p:sp>
        <p:nvSpPr>
          <p:cNvPr id="13" name="Text 11"/>
          <p:cNvSpPr txBox="1"/>
          <p:nvPr/>
        </p:nvSpPr>
        <p:spPr>
          <a:xfrm>
            <a:off x="3630263" y="319742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2"/>
          <p:cNvSpPr txBox="1"/>
          <p:nvPr/>
        </p:nvSpPr>
        <p:spPr>
          <a:xfrm>
            <a:off x="3864918" y="3225998"/>
            <a:ext cx="145509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什么是好的表征？</a:t>
            </a:r>
            <a:endParaRPr lang="en-US" sz="1320" dirty="0"/>
          </a:p>
        </p:txBody>
      </p:sp>
      <p:sp>
        <p:nvSpPr>
          <p:cNvPr id="15" name="Text 13"/>
          <p:cNvSpPr txBox="1"/>
          <p:nvPr/>
        </p:nvSpPr>
        <p:spPr>
          <a:xfrm>
            <a:off x="3630263" y="349924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6" name="Text 14"/>
          <p:cNvSpPr txBox="1"/>
          <p:nvPr/>
        </p:nvSpPr>
        <p:spPr>
          <a:xfrm>
            <a:off x="3864918" y="3527822"/>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数据与标签</a:t>
            </a:r>
            <a:endParaRPr lang="en-US" sz="1320" dirty="0"/>
          </a:p>
        </p:txBody>
      </p:sp>
      <p:sp>
        <p:nvSpPr>
          <p:cNvPr id="17" name="Text 15"/>
          <p:cNvSpPr txBox="1"/>
          <p:nvPr/>
        </p:nvSpPr>
        <p:spPr>
          <a:xfrm>
            <a:off x="3630263" y="380107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8" name="Text 16"/>
          <p:cNvSpPr txBox="1"/>
          <p:nvPr/>
        </p:nvSpPr>
        <p:spPr>
          <a:xfrm>
            <a:off x="3864918" y="3829645"/>
            <a:ext cx="44961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小节</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0193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基本概念</a:t>
            </a:r>
            <a:endParaRPr lang="en-US" sz="3750" dirty="0"/>
          </a:p>
        </p:txBody>
      </p:sp>
      <p:sp>
        <p:nvSpPr>
          <p:cNvPr id="3" name="Text 1"/>
          <p:cNvSpPr txBox="1"/>
          <p:nvPr/>
        </p:nvSpPr>
        <p:spPr>
          <a:xfrm>
            <a:off x="533400" y="1354187"/>
            <a:ext cx="4865340" cy="466725"/>
          </a:xfrm>
          <a:prstGeom prst="rect">
            <a:avLst/>
          </a:prstGeom>
          <a:noFill/>
          <a:ln/>
        </p:spPr>
        <p:txBody>
          <a:bodyPr wrap="square" lIns="0" tIns="0" rIns="0" bIns="0" rtlCol="0" anchor="t"/>
          <a:lstStyle/>
          <a:p>
            <a:pPr algn="l" indent="0" marL="0">
              <a:lnSpc>
                <a:spcPts val="1800"/>
              </a:lnSpc>
              <a:buNone/>
            </a:pPr>
            <a:r>
              <a:rPr lang="en-US" sz="1320" dirty="0">
                <a:solidFill>
                  <a:srgbClr val="000000"/>
                </a:solidFill>
                <a:latin typeface="Arial" pitchFamily="34" charset="0"/>
                <a:ea typeface="Arial" pitchFamily="34" charset="-122"/>
                <a:cs typeface="Arial" pitchFamily="34" charset="-120"/>
              </a:rPr>
              <a:t>机器学习：借助算法从数据中获得统计规律，并利用规律对未知数据进行预测。</a:t>
            </a:r>
            <a:endParaRPr lang="en-US" sz="1320" dirty="0"/>
          </a:p>
        </p:txBody>
      </p:sp>
      <p:sp>
        <p:nvSpPr>
          <p:cNvPr id="4" name="Text 2"/>
          <p:cNvSpPr txBox="1"/>
          <p:nvPr/>
        </p:nvSpPr>
        <p:spPr>
          <a:xfrm>
            <a:off x="533400" y="2116187"/>
            <a:ext cx="447154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深度学习：专指以人工神经网络为主要模型的机器学习算法</a:t>
            </a:r>
            <a:endParaRPr lang="en-US" sz="1320" dirty="0"/>
          </a:p>
        </p:txBody>
      </p:sp>
      <p:sp>
        <p:nvSpPr>
          <p:cNvPr id="5" name="Text 3"/>
          <p:cNvSpPr txBox="1"/>
          <p:nvPr/>
        </p:nvSpPr>
        <p:spPr>
          <a:xfrm>
            <a:off x="533400" y="2649587"/>
            <a:ext cx="195932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算法 = 模型 + 训练 + 推理</a:t>
            </a:r>
            <a:endParaRPr lang="en-US" sz="1320" dirty="0"/>
          </a:p>
        </p:txBody>
      </p:sp>
      <p:sp>
        <p:nvSpPr>
          <p:cNvPr id="6" name="Text 4"/>
          <p:cNvSpPr txBox="1"/>
          <p:nvPr/>
        </p:nvSpPr>
        <p:spPr>
          <a:xfrm>
            <a:off x="516630" y="30401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7" name="Text 5"/>
          <p:cNvSpPr txBox="1"/>
          <p:nvPr/>
        </p:nvSpPr>
        <p:spPr>
          <a:xfrm>
            <a:off x="751284" y="3068687"/>
            <a:ext cx="316676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模型 model：一种独立于数据的先验结构</a:t>
            </a:r>
            <a:endParaRPr lang="en-US" sz="1320" dirty="0"/>
          </a:p>
        </p:txBody>
      </p:sp>
      <p:sp>
        <p:nvSpPr>
          <p:cNvPr id="8" name="Text 6"/>
          <p:cNvSpPr txBox="1"/>
          <p:nvPr/>
        </p:nvSpPr>
        <p:spPr>
          <a:xfrm>
            <a:off x="516630" y="334193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9" name="Text 7"/>
          <p:cNvSpPr txBox="1"/>
          <p:nvPr/>
        </p:nvSpPr>
        <p:spPr>
          <a:xfrm>
            <a:off x="751284" y="3370511"/>
            <a:ext cx="377755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训练 training：调整模型参数拟合已知数据的过程</a:t>
            </a:r>
            <a:endParaRPr lang="en-US" sz="1320" dirty="0"/>
          </a:p>
        </p:txBody>
      </p:sp>
      <p:sp>
        <p:nvSpPr>
          <p:cNvPr id="10" name="Text 8"/>
          <p:cNvSpPr txBox="1"/>
          <p:nvPr/>
        </p:nvSpPr>
        <p:spPr>
          <a:xfrm>
            <a:off x="516630" y="36437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1" name="Text 9"/>
          <p:cNvSpPr txBox="1"/>
          <p:nvPr/>
        </p:nvSpPr>
        <p:spPr>
          <a:xfrm>
            <a:off x="751284" y="3672334"/>
            <a:ext cx="389468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推理 inference：固定模型参数预测未知数据的过程</a:t>
            </a:r>
            <a:endParaRPr lang="en-US" sz="1320" dirty="0"/>
          </a:p>
        </p:txBody>
      </p:sp>
      <p:pic>
        <p:nvPicPr>
          <p:cNvPr id="12" name="Image 0" descr="preencoded.png">    </p:cNvPr>
          <p:cNvPicPr>
            <a:picLocks noChangeAspect="1"/>
          </p:cNvPicPr>
          <p:nvPr/>
        </p:nvPicPr>
        <p:blipFill>
          <a:blip r:embed="rId1"/>
          <a:stretch>
            <a:fillRect/>
          </a:stretch>
        </p:blipFill>
        <p:spPr>
          <a:xfrm>
            <a:off x="5570190" y="1211312"/>
            <a:ext cx="3230910" cy="3249960"/>
          </a:xfrm>
          <a:prstGeom prst="rect">
            <a:avLst/>
          </a:prstGeom>
        </p:spPr>
      </p:pic>
      <p:pic>
        <p:nvPicPr>
          <p:cNvPr id="13"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14"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15" name="Text 10"/>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6" name="Shape 11"/>
          <p:cNvSpPr/>
          <p:nvPr/>
        </p:nvSpPr>
        <p:spPr>
          <a:xfrm>
            <a:off x="647700" y="5067300"/>
            <a:ext cx="9525" cy="152400"/>
          </a:xfrm>
          <a:prstGeom prst="rect">
            <a:avLst/>
          </a:prstGeom>
          <a:solidFill>
            <a:srgbClr val="F0FFFF"/>
          </a:solidFill>
          <a:ln/>
        </p:spPr>
      </p:sp>
      <p:sp>
        <p:nvSpPr>
          <p:cNvPr id="17" name="Text 12"/>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8" name="Text 13"/>
          <p:cNvSpPr txBox="1"/>
          <p:nvPr/>
        </p:nvSpPr>
        <p:spPr>
          <a:xfrm>
            <a:off x="4639568"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9" name="Text 14"/>
          <p:cNvSpPr txBox="1"/>
          <p:nvPr/>
        </p:nvSpPr>
        <p:spPr>
          <a:xfrm>
            <a:off x="8907512" y="5048250"/>
            <a:ext cx="188416"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a:t>
            </a:r>
            <a:endParaRPr lang="en-US" sz="1050" dirty="0"/>
          </a:p>
        </p:txBody>
      </p:sp>
      <p:sp>
        <p:nvSpPr>
          <p:cNvPr id="20" name="Text 15"/>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1" name="Text 16"/>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0193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模式识别</a:t>
            </a:r>
            <a:endParaRPr lang="en-US" sz="3750" dirty="0"/>
          </a:p>
        </p:txBody>
      </p:sp>
      <p:sp>
        <p:nvSpPr>
          <p:cNvPr id="3" name="Text 1"/>
          <p:cNvSpPr txBox="1"/>
          <p:nvPr/>
        </p:nvSpPr>
        <p:spPr>
          <a:xfrm>
            <a:off x="533400" y="893266"/>
            <a:ext cx="1869430"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Pattern Recognition</a:t>
            </a:r>
            <a:endParaRPr lang="en-US" sz="1500" dirty="0"/>
          </a:p>
        </p:txBody>
      </p:sp>
      <p:sp>
        <p:nvSpPr>
          <p:cNvPr id="4" name="Text 2"/>
          <p:cNvSpPr txBox="1"/>
          <p:nvPr/>
        </p:nvSpPr>
        <p:spPr>
          <a:xfrm>
            <a:off x="533400" y="1293316"/>
            <a:ext cx="799162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机器学习的经典任务是模式识别，其核心在于判断</a:t>
            </a:r>
            <a:pPr algn="l" indent="0" marL="0">
              <a:buNone/>
            </a:pPr>
            <a:r>
              <a:rPr lang="en-US" sz="1320" b="1" dirty="0">
                <a:solidFill>
                  <a:srgbClr val="000000"/>
                </a:solidFill>
                <a:latin typeface="Arial" pitchFamily="34" charset="0"/>
                <a:ea typeface="Arial" pitchFamily="34" charset="-122"/>
                <a:cs typeface="Arial" pitchFamily="34" charset="-120"/>
              </a:rPr>
              <a:t>是</a:t>
            </a:r>
            <a:pPr algn="l" indent="0" marL="0">
              <a:buNone/>
            </a:pPr>
            <a:r>
              <a:rPr lang="en-US" sz="1320" dirty="0">
                <a:solidFill>
                  <a:srgbClr val="000000"/>
                </a:solidFill>
                <a:latin typeface="Arial" pitchFamily="34" charset="0"/>
                <a:ea typeface="Arial" pitchFamily="34" charset="-122"/>
                <a:cs typeface="Arial" pitchFamily="34" charset="-120"/>
              </a:rPr>
              <a:t>与</a:t>
            </a:r>
            <a:pPr algn="l" indent="0" marL="0">
              <a:buNone/>
            </a:pPr>
            <a:r>
              <a:rPr lang="en-US" sz="1320" b="1" dirty="0">
                <a:solidFill>
                  <a:srgbClr val="000000"/>
                </a:solidFill>
                <a:latin typeface="Arial" pitchFamily="34" charset="0"/>
                <a:ea typeface="Arial" pitchFamily="34" charset="-122"/>
                <a:cs typeface="Arial" pitchFamily="34" charset="-120"/>
              </a:rPr>
              <a:t>不是</a:t>
            </a:r>
            <a:pPr algn="l" indent="0" marL="0">
              <a:buNone/>
            </a:pPr>
            <a:r>
              <a:rPr lang="en-US" sz="1320" dirty="0">
                <a:solidFill>
                  <a:srgbClr val="000000"/>
                </a:solidFill>
                <a:latin typeface="Arial" pitchFamily="34" charset="0"/>
                <a:ea typeface="Arial" pitchFamily="34" charset="-122"/>
                <a:cs typeface="Arial" pitchFamily="34" charset="-120"/>
              </a:rPr>
              <a:t>，即</a:t>
            </a:r>
            <a:pPr algn="l" indent="0" marL="0">
              <a:buNone/>
            </a:pPr>
            <a:r>
              <a:rPr lang="en-US" sz="1320" b="1" dirty="0">
                <a:solidFill>
                  <a:srgbClr val="000000"/>
                </a:solidFill>
                <a:latin typeface="Arial" pitchFamily="34" charset="0"/>
                <a:ea typeface="Arial" pitchFamily="34" charset="-122"/>
                <a:cs typeface="Arial" pitchFamily="34" charset="-120"/>
              </a:rPr>
              <a:t>什么属于同一模式，什么不属于同一模式</a:t>
            </a:r>
            <a:pPr algn="l" indent="0" marL="0">
              <a:buNone/>
            </a:pPr>
            <a:r>
              <a:rPr lang="en-US" sz="1320" dirty="0">
                <a:solidFill>
                  <a:srgbClr val="000000"/>
                </a:solidFill>
                <a:latin typeface="Arial" pitchFamily="34" charset="0"/>
                <a:ea typeface="Arial" pitchFamily="34" charset="-122"/>
                <a:cs typeface="Arial" pitchFamily="34" charset="-120"/>
              </a:rPr>
              <a:t>。</a:t>
            </a:r>
            <a:endParaRPr lang="en-US" sz="1320" dirty="0"/>
          </a:p>
        </p:txBody>
      </p:sp>
      <p:sp>
        <p:nvSpPr>
          <p:cNvPr id="5" name="Text 3"/>
          <p:cNvSpPr txBox="1"/>
          <p:nvPr/>
        </p:nvSpPr>
        <p:spPr>
          <a:xfrm>
            <a:off x="533400" y="1826716"/>
            <a:ext cx="380717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例如经典的手写数字识别问题（MNIST， Lecun）</a:t>
            </a:r>
            <a:endParaRPr lang="en-US" sz="1320" dirty="0"/>
          </a:p>
        </p:txBody>
      </p:sp>
      <p:sp>
        <p:nvSpPr>
          <p:cNvPr id="6" name="Text 4"/>
          <p:cNvSpPr txBox="1"/>
          <p:nvPr/>
        </p:nvSpPr>
        <p:spPr>
          <a:xfrm>
            <a:off x="533400" y="2360116"/>
            <a:ext cx="61719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难点：</a:t>
            </a:r>
            <a:endParaRPr lang="en-US" sz="1320" dirty="0"/>
          </a:p>
        </p:txBody>
      </p:sp>
      <p:sp>
        <p:nvSpPr>
          <p:cNvPr id="7" name="Text 5"/>
          <p:cNvSpPr txBox="1"/>
          <p:nvPr/>
        </p:nvSpPr>
        <p:spPr>
          <a:xfrm>
            <a:off x="516630" y="27506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751284" y="2779216"/>
            <a:ext cx="497487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概念上</a:t>
            </a:r>
            <a:pPr algn="l" indent="0" marL="0">
              <a:buNone/>
            </a:pPr>
            <a:r>
              <a:rPr lang="en-US" sz="1320" b="1" dirty="0">
                <a:solidFill>
                  <a:srgbClr val="000000"/>
                </a:solidFill>
                <a:latin typeface="Arial" pitchFamily="34" charset="0"/>
                <a:ea typeface="Arial" pitchFamily="34" charset="-122"/>
                <a:cs typeface="Arial" pitchFamily="34" charset="-120"/>
              </a:rPr>
              <a:t>不同</a:t>
            </a:r>
            <a:pPr algn="l" indent="0" marL="0">
              <a:buNone/>
            </a:pPr>
            <a:r>
              <a:rPr lang="en-US" sz="1320" dirty="0">
                <a:solidFill>
                  <a:srgbClr val="000000"/>
                </a:solidFill>
                <a:latin typeface="Arial" pitchFamily="34" charset="0"/>
                <a:ea typeface="Arial" pitchFamily="34" charset="-122"/>
                <a:cs typeface="Arial" pitchFamily="34" charset="-120"/>
              </a:rPr>
              <a:t>的数字在像素空间中的实现</a:t>
            </a:r>
            <a:pPr algn="l" indent="0" marL="0">
              <a:buNone/>
            </a:pPr>
            <a:r>
              <a:rPr lang="en-US" sz="1320" b="1" dirty="0">
                <a:solidFill>
                  <a:srgbClr val="000000"/>
                </a:solidFill>
                <a:latin typeface="Arial" pitchFamily="34" charset="0"/>
                <a:ea typeface="Arial" pitchFamily="34" charset="-122"/>
                <a:cs typeface="Arial" pitchFamily="34" charset="-120"/>
              </a:rPr>
              <a:t>不同</a:t>
            </a:r>
            <a:pPr algn="l" indent="0" marL="0">
              <a:buNone/>
            </a:pPr>
            <a:r>
              <a:rPr lang="en-US" sz="1320" dirty="0">
                <a:solidFill>
                  <a:srgbClr val="000000"/>
                </a:solidFill>
                <a:latin typeface="Arial" pitchFamily="34" charset="0"/>
                <a:ea typeface="Arial" pitchFamily="34" charset="-122"/>
                <a:cs typeface="Arial" pitchFamily="34" charset="-120"/>
              </a:rPr>
              <a:t>（信号意义上的差异）</a:t>
            </a:r>
            <a:endParaRPr lang="en-US" sz="1320" dirty="0"/>
          </a:p>
        </p:txBody>
      </p:sp>
      <p:sp>
        <p:nvSpPr>
          <p:cNvPr id="9" name="Text 7"/>
          <p:cNvSpPr txBox="1"/>
          <p:nvPr/>
        </p:nvSpPr>
        <p:spPr>
          <a:xfrm>
            <a:off x="516630" y="30524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751284" y="3081040"/>
            <a:ext cx="514245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概念上</a:t>
            </a:r>
            <a:pPr algn="l" indent="0" marL="0">
              <a:buNone/>
            </a:pPr>
            <a:r>
              <a:rPr lang="en-US" sz="1320" b="1" dirty="0">
                <a:solidFill>
                  <a:srgbClr val="000000"/>
                </a:solidFill>
                <a:latin typeface="Arial" pitchFamily="34" charset="0"/>
                <a:ea typeface="Arial" pitchFamily="34" charset="-122"/>
                <a:cs typeface="Arial" pitchFamily="34" charset="-120"/>
              </a:rPr>
              <a:t>相同</a:t>
            </a:r>
            <a:pPr algn="l" indent="0" marL="0">
              <a:buNone/>
            </a:pPr>
            <a:r>
              <a:rPr lang="en-US" sz="1320" dirty="0">
                <a:solidFill>
                  <a:srgbClr val="000000"/>
                </a:solidFill>
                <a:latin typeface="Arial" pitchFamily="34" charset="0"/>
                <a:ea typeface="Arial" pitchFamily="34" charset="-122"/>
                <a:cs typeface="Arial" pitchFamily="34" charset="-120"/>
              </a:rPr>
              <a:t>的数字在像素空间中的实现</a:t>
            </a:r>
            <a:pPr algn="l" indent="0" marL="0">
              <a:buNone/>
            </a:pPr>
            <a:r>
              <a:rPr lang="en-US" sz="1320" b="1" dirty="0">
                <a:solidFill>
                  <a:srgbClr val="000000"/>
                </a:solidFill>
                <a:latin typeface="Arial" pitchFamily="34" charset="0"/>
                <a:ea typeface="Arial" pitchFamily="34" charset="-122"/>
                <a:cs typeface="Arial" pitchFamily="34" charset="-120"/>
              </a:rPr>
              <a:t>也不同</a:t>
            </a:r>
            <a:pPr algn="l" indent="0" marL="0">
              <a:buNone/>
            </a:pPr>
            <a:r>
              <a:rPr lang="en-US" sz="1320" dirty="0">
                <a:solidFill>
                  <a:srgbClr val="000000"/>
                </a:solidFill>
                <a:latin typeface="Arial" pitchFamily="34" charset="0"/>
                <a:ea typeface="Arial" pitchFamily="34" charset="-122"/>
                <a:cs typeface="Arial" pitchFamily="34" charset="-120"/>
              </a:rPr>
              <a:t>（噪声意义上的差异）</a:t>
            </a:r>
            <a:endParaRPr lang="en-US" sz="1320" dirty="0"/>
          </a:p>
        </p:txBody>
      </p:sp>
      <p:sp>
        <p:nvSpPr>
          <p:cNvPr id="11" name="Text 9"/>
          <p:cNvSpPr txBox="1"/>
          <p:nvPr/>
        </p:nvSpPr>
        <p:spPr>
          <a:xfrm>
            <a:off x="516630" y="33542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751284" y="3382863"/>
            <a:ext cx="413638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这两种差异在像素空间中的区别并不清晰（低信噪比）</a:t>
            </a:r>
            <a:endParaRPr lang="en-US" sz="1320" dirty="0"/>
          </a:p>
        </p:txBody>
      </p:sp>
      <p:sp>
        <p:nvSpPr>
          <p:cNvPr id="13" name="Text 11"/>
          <p:cNvSpPr txBox="1"/>
          <p:nvPr/>
        </p:nvSpPr>
        <p:spPr>
          <a:xfrm>
            <a:off x="533400" y="3798987"/>
            <a:ext cx="547702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由此使用统计模型，因其能够容忍噪声，在含有噪声的情况下进行推断。</a:t>
            </a:r>
            <a:endParaRPr lang="en-US" sz="1320" dirty="0"/>
          </a:p>
        </p:txBody>
      </p:sp>
      <p:pic>
        <p:nvPicPr>
          <p:cNvPr id="14" name="Image 0" descr="preencoded.png">    </p:cNvPr>
          <p:cNvPicPr>
            <a:picLocks noChangeAspect="1"/>
          </p:cNvPicPr>
          <p:nvPr/>
        </p:nvPicPr>
        <p:blipFill>
          <a:blip r:embed="rId1"/>
          <a:stretch>
            <a:fillRect/>
          </a:stretch>
        </p:blipFill>
        <p:spPr>
          <a:xfrm>
            <a:off x="6377880" y="1683841"/>
            <a:ext cx="2423220" cy="2423220"/>
          </a:xfrm>
          <a:prstGeom prst="rect">
            <a:avLst/>
          </a:prstGeom>
        </p:spPr>
      </p:pic>
      <p:pic>
        <p:nvPicPr>
          <p:cNvPr id="15"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16"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17" name="Text 12"/>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8" name="Shape 13"/>
          <p:cNvSpPr/>
          <p:nvPr/>
        </p:nvSpPr>
        <p:spPr>
          <a:xfrm>
            <a:off x="647700" y="5067300"/>
            <a:ext cx="9525" cy="152400"/>
          </a:xfrm>
          <a:prstGeom prst="rect">
            <a:avLst/>
          </a:prstGeom>
          <a:solidFill>
            <a:srgbClr val="F0FFFF"/>
          </a:solidFill>
          <a:ln/>
        </p:spPr>
      </p:sp>
      <p:sp>
        <p:nvSpPr>
          <p:cNvPr id="19" name="Text 14"/>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0" name="Text 15"/>
          <p:cNvSpPr txBox="1"/>
          <p:nvPr/>
        </p:nvSpPr>
        <p:spPr>
          <a:xfrm>
            <a:off x="4639568"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1" name="Text 16"/>
          <p:cNvSpPr txBox="1"/>
          <p:nvPr/>
        </p:nvSpPr>
        <p:spPr>
          <a:xfrm>
            <a:off x="8907512" y="5048250"/>
            <a:ext cx="188416"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5</a:t>
            </a:r>
            <a:endParaRPr lang="en-US" sz="1050" dirty="0"/>
          </a:p>
        </p:txBody>
      </p:sp>
      <p:sp>
        <p:nvSpPr>
          <p:cNvPr id="22" name="Text 17"/>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3" name="Text 18"/>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1066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特征</a:t>
            </a:r>
            <a:endParaRPr lang="en-US" sz="3750" dirty="0"/>
          </a:p>
        </p:txBody>
      </p:sp>
      <p:sp>
        <p:nvSpPr>
          <p:cNvPr id="3" name="Text 1"/>
          <p:cNvSpPr txBox="1"/>
          <p:nvPr/>
        </p:nvSpPr>
        <p:spPr>
          <a:xfrm>
            <a:off x="533400" y="893266"/>
            <a:ext cx="788343"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Feature</a:t>
            </a:r>
            <a:endParaRPr lang="en-US" sz="1500" dirty="0"/>
          </a:p>
        </p:txBody>
      </p:sp>
      <p:sp>
        <p:nvSpPr>
          <p:cNvPr id="4" name="Text 2"/>
          <p:cNvSpPr txBox="1"/>
          <p:nvPr/>
        </p:nvSpPr>
        <p:spPr>
          <a:xfrm>
            <a:off x="533400" y="1293316"/>
            <a:ext cx="426690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模式识别起决定性作用的因素。例如：8 的特征是什么？</a:t>
            </a:r>
            <a:endParaRPr lang="en-US" sz="1320" dirty="0"/>
          </a:p>
        </p:txBody>
      </p:sp>
      <p:pic>
        <p:nvPicPr>
          <p:cNvPr id="5" name="Image 0" descr="preencoded.png">    </p:cNvPr>
          <p:cNvPicPr>
            <a:picLocks noChangeAspect="1"/>
          </p:cNvPicPr>
          <p:nvPr/>
        </p:nvPicPr>
        <p:blipFill>
          <a:blip r:embed="rId1"/>
          <a:stretch>
            <a:fillRect/>
          </a:stretch>
        </p:blipFill>
        <p:spPr>
          <a:xfrm>
            <a:off x="533400" y="1683841"/>
            <a:ext cx="688925" cy="868114"/>
          </a:xfrm>
          <a:prstGeom prst="rect">
            <a:avLst/>
          </a:prstGeom>
        </p:spPr>
      </p:pic>
      <p:pic>
        <p:nvPicPr>
          <p:cNvPr id="6" name="Image 1" descr="preencoded.png">    </p:cNvPr>
          <p:cNvPicPr>
            <a:picLocks noChangeAspect="1"/>
          </p:cNvPicPr>
          <p:nvPr/>
        </p:nvPicPr>
        <p:blipFill>
          <a:blip r:embed="rId2"/>
          <a:stretch>
            <a:fillRect/>
          </a:stretch>
        </p:blipFill>
        <p:spPr>
          <a:xfrm>
            <a:off x="1911251" y="1683841"/>
            <a:ext cx="688925" cy="868114"/>
          </a:xfrm>
          <a:prstGeom prst="rect">
            <a:avLst/>
          </a:prstGeom>
        </p:spPr>
      </p:pic>
      <p:pic>
        <p:nvPicPr>
          <p:cNvPr id="7" name="Image 2" descr="preencoded.png">    </p:cNvPr>
          <p:cNvPicPr>
            <a:picLocks noChangeAspect="1"/>
          </p:cNvPicPr>
          <p:nvPr/>
        </p:nvPicPr>
        <p:blipFill>
          <a:blip r:embed="rId3"/>
          <a:stretch>
            <a:fillRect/>
          </a:stretch>
        </p:blipFill>
        <p:spPr>
          <a:xfrm>
            <a:off x="3289250" y="1683841"/>
            <a:ext cx="688925" cy="971996"/>
          </a:xfrm>
          <a:prstGeom prst="rect">
            <a:avLst/>
          </a:prstGeom>
        </p:spPr>
      </p:pic>
      <p:pic>
        <p:nvPicPr>
          <p:cNvPr id="8" name="Image 3" descr="preencoded.png">    </p:cNvPr>
          <p:cNvPicPr>
            <a:picLocks noChangeAspect="1"/>
          </p:cNvPicPr>
          <p:nvPr/>
        </p:nvPicPr>
        <p:blipFill>
          <a:blip r:embed="rId4"/>
          <a:stretch>
            <a:fillRect/>
          </a:stretch>
        </p:blipFill>
        <p:spPr>
          <a:xfrm>
            <a:off x="4667250" y="1683841"/>
            <a:ext cx="688925" cy="971996"/>
          </a:xfrm>
          <a:prstGeom prst="rect">
            <a:avLst/>
          </a:prstGeom>
        </p:spPr>
      </p:pic>
      <p:pic>
        <p:nvPicPr>
          <p:cNvPr id="9" name="Image 4" descr="preencoded.png">    </p:cNvPr>
          <p:cNvPicPr>
            <a:picLocks noChangeAspect="1"/>
          </p:cNvPicPr>
          <p:nvPr/>
        </p:nvPicPr>
        <p:blipFill>
          <a:blip r:embed="rId5"/>
          <a:stretch>
            <a:fillRect/>
          </a:stretch>
        </p:blipFill>
        <p:spPr>
          <a:xfrm>
            <a:off x="6045101" y="1683841"/>
            <a:ext cx="688925" cy="971996"/>
          </a:xfrm>
          <a:prstGeom prst="rect">
            <a:avLst/>
          </a:prstGeom>
        </p:spPr>
      </p:pic>
      <p:pic>
        <p:nvPicPr>
          <p:cNvPr id="10" name="Image 5" descr="preencoded.png">    </p:cNvPr>
          <p:cNvPicPr>
            <a:picLocks noChangeAspect="1"/>
          </p:cNvPicPr>
          <p:nvPr/>
        </p:nvPicPr>
        <p:blipFill>
          <a:blip r:embed="rId6"/>
          <a:stretch>
            <a:fillRect/>
          </a:stretch>
        </p:blipFill>
        <p:spPr>
          <a:xfrm>
            <a:off x="7423100" y="1683841"/>
            <a:ext cx="688925" cy="788194"/>
          </a:xfrm>
          <a:prstGeom prst="rect">
            <a:avLst/>
          </a:prstGeom>
        </p:spPr>
      </p:pic>
      <p:sp>
        <p:nvSpPr>
          <p:cNvPr id="11" name="Text 3"/>
          <p:cNvSpPr txBox="1"/>
          <p:nvPr/>
        </p:nvSpPr>
        <p:spPr>
          <a:xfrm>
            <a:off x="516630" y="280823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4"/>
          <p:cNvSpPr txBox="1"/>
          <p:nvPr/>
        </p:nvSpPr>
        <p:spPr>
          <a:xfrm>
            <a:off x="751284" y="2836813"/>
            <a:ext cx="430396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人眼很容易判断，但判断的依据很难用自然语言完整叙述</a:t>
            </a:r>
            <a:endParaRPr lang="en-US" sz="1320" dirty="0"/>
          </a:p>
        </p:txBody>
      </p:sp>
      <p:sp>
        <p:nvSpPr>
          <p:cNvPr id="13" name="Text 5"/>
          <p:cNvSpPr txBox="1"/>
          <p:nvPr/>
        </p:nvSpPr>
        <p:spPr>
          <a:xfrm>
            <a:off x="516630" y="322733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6"/>
          <p:cNvSpPr txBox="1"/>
          <p:nvPr/>
        </p:nvSpPr>
        <p:spPr>
          <a:xfrm>
            <a:off x="751284" y="3255913"/>
            <a:ext cx="8078057" cy="466725"/>
          </a:xfrm>
          <a:prstGeom prst="rect">
            <a:avLst/>
          </a:prstGeom>
          <a:noFill/>
          <a:ln/>
        </p:spPr>
        <p:txBody>
          <a:bodyPr wrap="square" lIns="0" tIns="0" rIns="0" bIns="0" rtlCol="0" anchor="t"/>
          <a:lstStyle/>
          <a:p>
            <a:pPr algn="l" indent="0" marL="0">
              <a:lnSpc>
                <a:spcPts val="1800"/>
              </a:lnSpc>
              <a:buNone/>
            </a:pPr>
            <a:r>
              <a:rPr lang="en-US" sz="1320" dirty="0">
                <a:solidFill>
                  <a:srgbClr val="000000"/>
                </a:solidFill>
                <a:latin typeface="Arial" pitchFamily="34" charset="0"/>
                <a:ea typeface="Arial" pitchFamily="34" charset="-122"/>
                <a:cs typeface="Arial" pitchFamily="34" charset="-120"/>
              </a:rPr>
              <a:t>Moravec 悖论：人类所独有的高阶智慧能力只需要非常少的计算能力，例如推理，但是无意识的技能和直觉却需要极大的运算能力。（所谓的高阶能力实际上是符号能力，而无意识的技能是前符号/符号化的能力。）</a:t>
            </a:r>
            <a:endParaRPr lang="en-US" sz="1320" dirty="0"/>
          </a:p>
        </p:txBody>
      </p:sp>
      <p:sp>
        <p:nvSpPr>
          <p:cNvPr id="15" name="Text 7"/>
          <p:cNvSpPr txBox="1"/>
          <p:nvPr/>
        </p:nvSpPr>
        <p:spPr>
          <a:xfrm>
            <a:off x="516630" y="387503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6" name="Text 8"/>
          <p:cNvSpPr txBox="1"/>
          <p:nvPr/>
        </p:nvSpPr>
        <p:spPr>
          <a:xfrm>
            <a:off x="751284" y="3903613"/>
            <a:ext cx="497428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关键问题：应该如何表示这些特征使得机器能够识别相应的模式？</a:t>
            </a:r>
            <a:endParaRPr lang="en-US" sz="1320" dirty="0"/>
          </a:p>
        </p:txBody>
      </p:sp>
      <p:pic>
        <p:nvPicPr>
          <p:cNvPr id="17" name="Image 6" descr="Rendered as an image because of CSS background-image">    </p:cNvPr>
          <p:cNvPicPr>
            <a:picLocks noChangeAspect="1"/>
          </p:cNvPicPr>
          <p:nvPr/>
        </p:nvPicPr>
        <p:blipFill>
          <a:blip r:embed="rId7"/>
          <a:stretch>
            <a:fillRect/>
          </a:stretch>
        </p:blipFill>
        <p:spPr>
          <a:xfrm>
            <a:off x="0" y="210294"/>
            <a:ext cx="326678" cy="838200"/>
          </a:xfrm>
          <a:prstGeom prst="rect">
            <a:avLst/>
          </a:prstGeom>
        </p:spPr>
      </p:pic>
      <p:pic>
        <p:nvPicPr>
          <p:cNvPr id="18" name="Image 7" descr="Rendered as an image because of CSS background-image">    </p:cNvPr>
          <p:cNvPicPr>
            <a:picLocks noChangeAspect="1"/>
          </p:cNvPicPr>
          <p:nvPr/>
        </p:nvPicPr>
        <p:blipFill>
          <a:blip r:embed="rId8"/>
          <a:stretch>
            <a:fillRect/>
          </a:stretch>
        </p:blipFill>
        <p:spPr>
          <a:xfrm>
            <a:off x="0" y="5029200"/>
            <a:ext cx="9334500" cy="228600"/>
          </a:xfrm>
          <a:prstGeom prst="rect">
            <a:avLst/>
          </a:prstGeom>
        </p:spPr>
      </p:pic>
      <p:sp>
        <p:nvSpPr>
          <p:cNvPr id="19" name="Text 9"/>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0" name="Shape 10"/>
          <p:cNvSpPr/>
          <p:nvPr/>
        </p:nvSpPr>
        <p:spPr>
          <a:xfrm>
            <a:off x="647700" y="5067300"/>
            <a:ext cx="9525" cy="152400"/>
          </a:xfrm>
          <a:prstGeom prst="rect">
            <a:avLst/>
          </a:prstGeom>
          <a:solidFill>
            <a:srgbClr val="F0FFFF"/>
          </a:solidFill>
          <a:ln/>
        </p:spPr>
      </p:sp>
      <p:sp>
        <p:nvSpPr>
          <p:cNvPr id="21" name="Text 11"/>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2" name="Text 12"/>
          <p:cNvSpPr txBox="1"/>
          <p:nvPr/>
        </p:nvSpPr>
        <p:spPr>
          <a:xfrm>
            <a:off x="4639568"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3" name="Text 13"/>
          <p:cNvSpPr txBox="1"/>
          <p:nvPr/>
        </p:nvSpPr>
        <p:spPr>
          <a:xfrm>
            <a:off x="8907512" y="5048250"/>
            <a:ext cx="188416"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6</a:t>
            </a:r>
            <a:endParaRPr lang="en-US" sz="1050" dirty="0"/>
          </a:p>
        </p:txBody>
      </p:sp>
      <p:sp>
        <p:nvSpPr>
          <p:cNvPr id="24" name="Text 14"/>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5" name="Text 15"/>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1066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表征</a:t>
            </a:r>
            <a:endParaRPr lang="en-US" sz="3750" dirty="0"/>
          </a:p>
        </p:txBody>
      </p:sp>
      <p:sp>
        <p:nvSpPr>
          <p:cNvPr id="3" name="Text 1"/>
          <p:cNvSpPr txBox="1"/>
          <p:nvPr/>
        </p:nvSpPr>
        <p:spPr>
          <a:xfrm>
            <a:off x="533400" y="893266"/>
            <a:ext cx="1472654"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Representation</a:t>
            </a:r>
            <a:endParaRPr lang="en-US" sz="1500" dirty="0"/>
          </a:p>
        </p:txBody>
      </p:sp>
      <p:sp>
        <p:nvSpPr>
          <p:cNvPr id="4" name="Text 2"/>
          <p:cNvSpPr txBox="1"/>
          <p:nvPr/>
        </p:nvSpPr>
        <p:spPr>
          <a:xfrm>
            <a:off x="533400" y="1293316"/>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常见信号的（原始）表征</a:t>
            </a:r>
            <a:endParaRPr lang="en-US" sz="1320" dirty="0"/>
          </a:p>
        </p:txBody>
      </p:sp>
      <p:sp>
        <p:nvSpPr>
          <p:cNvPr id="5" name="Text 3"/>
          <p:cNvSpPr txBox="1"/>
          <p:nvPr/>
        </p:nvSpPr>
        <p:spPr>
          <a:xfrm>
            <a:off x="516630" y="16838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6" name="Image 0" descr="Rendered as an image because of CSS math">    </p:cNvPr>
          <p:cNvPicPr>
            <a:picLocks noChangeAspect="1"/>
          </p:cNvPicPr>
          <p:nvPr/>
        </p:nvPicPr>
        <p:blipFill>
          <a:blip r:embed="rId1"/>
          <a:stretch>
            <a:fillRect/>
          </a:stretch>
        </p:blipFill>
        <p:spPr>
          <a:xfrm>
            <a:off x="2464743" y="1721941"/>
            <a:ext cx="659160" cy="238125"/>
          </a:xfrm>
          <a:prstGeom prst="rect">
            <a:avLst/>
          </a:prstGeom>
        </p:spPr>
      </p:pic>
      <p:pic>
        <p:nvPicPr>
          <p:cNvPr id="7" name="Image 1" descr="Rendered as an image because of CSS math">    </p:cNvPr>
          <p:cNvPicPr>
            <a:picLocks noChangeAspect="1"/>
          </p:cNvPicPr>
          <p:nvPr/>
        </p:nvPicPr>
        <p:blipFill>
          <a:blip r:embed="rId2"/>
          <a:stretch>
            <a:fillRect/>
          </a:stretch>
        </p:blipFill>
        <p:spPr>
          <a:xfrm>
            <a:off x="3664297" y="1721941"/>
            <a:ext cx="159246" cy="238125"/>
          </a:xfrm>
          <a:prstGeom prst="rect">
            <a:avLst/>
          </a:prstGeom>
        </p:spPr>
      </p:pic>
      <p:pic>
        <p:nvPicPr>
          <p:cNvPr id="8" name="Image 2" descr="Rendered as an image because of CSS math">    </p:cNvPr>
          <p:cNvPicPr>
            <a:picLocks noChangeAspect="1"/>
          </p:cNvPicPr>
          <p:nvPr/>
        </p:nvPicPr>
        <p:blipFill>
          <a:blip r:embed="rId3"/>
          <a:stretch>
            <a:fillRect/>
          </a:stretch>
        </p:blipFill>
        <p:spPr>
          <a:xfrm>
            <a:off x="4569023" y="1721941"/>
            <a:ext cx="183952" cy="238125"/>
          </a:xfrm>
          <a:prstGeom prst="rect">
            <a:avLst/>
          </a:prstGeom>
        </p:spPr>
      </p:pic>
      <p:sp>
        <p:nvSpPr>
          <p:cNvPr id="9" name="Text 4"/>
          <p:cNvSpPr txBox="1"/>
          <p:nvPr/>
        </p:nvSpPr>
        <p:spPr>
          <a:xfrm>
            <a:off x="751284" y="1712416"/>
            <a:ext cx="515912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文本表征为时间序列： </a:t>
            </a:r>
            <a:pPr algn="l" indent="0" marL="0">
              <a:buNone/>
            </a:pPr>
            <a:r>
              <a:rPr lang="en-US" sz="1320" dirty="0">
                <a:solidFill>
                  <a:srgbClr val="000000"/>
                </a:solidFill>
                <a:latin typeface="Arial" pitchFamily="34" charset="0"/>
                <a:ea typeface="Arial" pitchFamily="34" charset="-122"/>
                <a:cs typeface="Arial" pitchFamily="34" charset="-120"/>
              </a:rPr>
              <a:t>，其中 </a:t>
            </a:r>
            <a:pPr algn="l" indent="0" marL="0">
              <a:buNone/>
            </a:pPr>
            <a:r>
              <a:rPr lang="en-US" sz="1320" dirty="0">
                <a:solidFill>
                  <a:srgbClr val="000000"/>
                </a:solidFill>
                <a:latin typeface="Arial" pitchFamily="34" charset="0"/>
                <a:ea typeface="Arial" pitchFamily="34" charset="-122"/>
                <a:cs typeface="Arial" pitchFamily="34" charset="-120"/>
              </a:rPr>
              <a:t> 为字典， </a:t>
            </a:r>
            <a:pPr algn="l" indent="0" marL="0">
              <a:buNone/>
            </a:pPr>
            <a:r>
              <a:rPr lang="en-US" sz="1320" dirty="0">
                <a:solidFill>
                  <a:srgbClr val="000000"/>
                </a:solidFill>
                <a:latin typeface="Arial" pitchFamily="34" charset="0"/>
                <a:ea typeface="Arial" pitchFamily="34" charset="-122"/>
                <a:cs typeface="Arial" pitchFamily="34" charset="-120"/>
              </a:rPr>
              <a:t> 为离散时间。</a:t>
            </a:r>
            <a:endParaRPr lang="en-US" sz="1320" dirty="0"/>
          </a:p>
        </p:txBody>
      </p:sp>
      <p:sp>
        <p:nvSpPr>
          <p:cNvPr id="10" name="Text 5"/>
          <p:cNvSpPr txBox="1"/>
          <p:nvPr/>
        </p:nvSpPr>
        <p:spPr>
          <a:xfrm>
            <a:off x="516630" y="19856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11" name="Image 3" descr="Rendered as an image because of CSS math">    </p:cNvPr>
          <p:cNvPicPr>
            <a:picLocks noChangeAspect="1"/>
          </p:cNvPicPr>
          <p:nvPr/>
        </p:nvPicPr>
        <p:blipFill>
          <a:blip r:embed="rId4"/>
          <a:stretch>
            <a:fillRect/>
          </a:stretch>
        </p:blipFill>
        <p:spPr>
          <a:xfrm>
            <a:off x="2967484" y="2023765"/>
            <a:ext cx="1135410" cy="238125"/>
          </a:xfrm>
          <a:prstGeom prst="rect">
            <a:avLst/>
          </a:prstGeom>
        </p:spPr>
      </p:pic>
      <p:pic>
        <p:nvPicPr>
          <p:cNvPr id="12" name="Image 4" descr="Rendered as an image because of CSS math">    </p:cNvPr>
          <p:cNvPicPr>
            <a:picLocks noChangeAspect="1"/>
          </p:cNvPicPr>
          <p:nvPr/>
        </p:nvPicPr>
        <p:blipFill>
          <a:blip r:embed="rId5"/>
          <a:stretch>
            <a:fillRect/>
          </a:stretch>
        </p:blipFill>
        <p:spPr>
          <a:xfrm>
            <a:off x="4643289" y="2023765"/>
            <a:ext cx="218629" cy="238125"/>
          </a:xfrm>
          <a:prstGeom prst="rect">
            <a:avLst/>
          </a:prstGeom>
        </p:spPr>
      </p:pic>
      <p:pic>
        <p:nvPicPr>
          <p:cNvPr id="13" name="Image 5" descr="Rendered as an image because of CSS math">    </p:cNvPr>
          <p:cNvPicPr>
            <a:picLocks noChangeAspect="1"/>
          </p:cNvPicPr>
          <p:nvPr/>
        </p:nvPicPr>
        <p:blipFill>
          <a:blip r:embed="rId6"/>
          <a:stretch>
            <a:fillRect/>
          </a:stretch>
        </p:blipFill>
        <p:spPr>
          <a:xfrm>
            <a:off x="5569893" y="2023765"/>
            <a:ext cx="178296" cy="238125"/>
          </a:xfrm>
          <a:prstGeom prst="rect">
            <a:avLst/>
          </a:prstGeom>
        </p:spPr>
      </p:pic>
      <p:pic>
        <p:nvPicPr>
          <p:cNvPr id="14" name="Image 6" descr="Rendered as an image because of CSS math">    </p:cNvPr>
          <p:cNvPicPr>
            <a:picLocks noChangeAspect="1"/>
          </p:cNvPicPr>
          <p:nvPr/>
        </p:nvPicPr>
        <p:blipFill>
          <a:blip r:embed="rId7"/>
          <a:stretch>
            <a:fillRect/>
          </a:stretch>
        </p:blipFill>
        <p:spPr>
          <a:xfrm>
            <a:off x="6456164" y="2023765"/>
            <a:ext cx="157311" cy="238125"/>
          </a:xfrm>
          <a:prstGeom prst="rect">
            <a:avLst/>
          </a:prstGeom>
        </p:spPr>
      </p:pic>
      <p:sp>
        <p:nvSpPr>
          <p:cNvPr id="15" name="Text 6"/>
          <p:cNvSpPr txBox="1"/>
          <p:nvPr/>
        </p:nvSpPr>
        <p:spPr>
          <a:xfrm>
            <a:off x="751284" y="2014240"/>
            <a:ext cx="685204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图片表征为像素空间中的点： </a:t>
            </a:r>
            <a:pPr algn="l" indent="0" marL="0">
              <a:buNone/>
            </a:pPr>
            <a:r>
              <a:rPr lang="en-US" sz="1320" dirty="0">
                <a:solidFill>
                  <a:srgbClr val="000000"/>
                </a:solidFill>
                <a:latin typeface="Arial" pitchFamily="34" charset="0"/>
                <a:ea typeface="Arial" pitchFamily="34" charset="-122"/>
                <a:cs typeface="Arial" pitchFamily="34" charset="-120"/>
              </a:rPr>
              <a:t>，其中 </a:t>
            </a:r>
            <a:pPr algn="l" indent="0" marL="0">
              <a:buNone/>
            </a:pPr>
            <a:r>
              <a:rPr lang="en-US" sz="1320" dirty="0">
                <a:solidFill>
                  <a:srgbClr val="000000"/>
                </a:solidFill>
                <a:latin typeface="Arial" pitchFamily="34" charset="0"/>
                <a:ea typeface="Arial" pitchFamily="34" charset="-122"/>
                <a:cs typeface="Arial" pitchFamily="34" charset="-120"/>
              </a:rPr>
              <a:t> 为宽度，</a:t>
            </a:r>
            <a:pPr algn="l" indent="0" marL="0">
              <a:buNone/>
            </a:pPr>
            <a:r>
              <a:rPr lang="en-US" sz="1320" dirty="0">
                <a:solidFill>
                  <a:srgbClr val="000000"/>
                </a:solidFill>
                <a:latin typeface="Arial" pitchFamily="34" charset="0"/>
                <a:ea typeface="Arial" pitchFamily="34" charset="-122"/>
                <a:cs typeface="Arial" pitchFamily="34" charset="-120"/>
              </a:rPr>
              <a:t> 为高度，</a:t>
            </a:r>
            <a:pPr algn="l" indent="0" marL="0">
              <a:buNone/>
            </a:pPr>
            <a:r>
              <a:rPr lang="en-US" sz="1320" dirty="0">
                <a:solidFill>
                  <a:srgbClr val="000000"/>
                </a:solidFill>
                <a:latin typeface="Arial" pitchFamily="34" charset="0"/>
                <a:ea typeface="Arial" pitchFamily="34" charset="-122"/>
                <a:cs typeface="Arial" pitchFamily="34" charset="-120"/>
              </a:rPr>
              <a:t> 为通道数。</a:t>
            </a:r>
            <a:endParaRPr lang="en-US" sz="1320" dirty="0"/>
          </a:p>
        </p:txBody>
      </p:sp>
      <p:sp>
        <p:nvSpPr>
          <p:cNvPr id="16" name="Text 7"/>
          <p:cNvSpPr txBox="1"/>
          <p:nvPr/>
        </p:nvSpPr>
        <p:spPr>
          <a:xfrm>
            <a:off x="516630" y="22874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17" name="Image 7" descr="Rendered as an image because of CSS math">    </p:cNvPr>
          <p:cNvPicPr>
            <a:picLocks noChangeAspect="1"/>
          </p:cNvPicPr>
          <p:nvPr/>
        </p:nvPicPr>
        <p:blipFill>
          <a:blip r:embed="rId8"/>
          <a:stretch>
            <a:fillRect/>
          </a:stretch>
        </p:blipFill>
        <p:spPr>
          <a:xfrm>
            <a:off x="2464743" y="2325588"/>
            <a:ext cx="618530" cy="238125"/>
          </a:xfrm>
          <a:prstGeom prst="rect">
            <a:avLst/>
          </a:prstGeom>
        </p:spPr>
      </p:pic>
      <p:pic>
        <p:nvPicPr>
          <p:cNvPr id="18" name="Image 8" descr="Rendered as an image because of CSS math">    </p:cNvPr>
          <p:cNvPicPr>
            <a:picLocks noChangeAspect="1"/>
          </p:cNvPicPr>
          <p:nvPr/>
        </p:nvPicPr>
        <p:blipFill>
          <a:blip r:embed="rId9"/>
          <a:stretch>
            <a:fillRect/>
          </a:stretch>
        </p:blipFill>
        <p:spPr>
          <a:xfrm>
            <a:off x="3623667" y="2325588"/>
            <a:ext cx="142429" cy="238125"/>
          </a:xfrm>
          <a:prstGeom prst="rect">
            <a:avLst/>
          </a:prstGeom>
        </p:spPr>
      </p:pic>
      <p:sp>
        <p:nvSpPr>
          <p:cNvPr id="19" name="Text 8"/>
          <p:cNvSpPr txBox="1"/>
          <p:nvPr/>
        </p:nvSpPr>
        <p:spPr>
          <a:xfrm>
            <a:off x="751284" y="2316063"/>
            <a:ext cx="383708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声音表征为时间序列： </a:t>
            </a:r>
            <a:pPr algn="l" indent="0" marL="0">
              <a:buNone/>
            </a:pPr>
            <a:r>
              <a:rPr lang="en-US" sz="1320" dirty="0">
                <a:solidFill>
                  <a:srgbClr val="000000"/>
                </a:solidFill>
                <a:latin typeface="Arial" pitchFamily="34" charset="0"/>
                <a:ea typeface="Arial" pitchFamily="34" charset="-122"/>
                <a:cs typeface="Arial" pitchFamily="34" charset="-120"/>
              </a:rPr>
              <a:t>，其中 </a:t>
            </a:r>
            <a:pPr algn="l" indent="0" marL="0">
              <a:buNone/>
            </a:pPr>
            <a:r>
              <a:rPr lang="en-US" sz="1320" dirty="0">
                <a:solidFill>
                  <a:srgbClr val="000000"/>
                </a:solidFill>
                <a:latin typeface="Arial" pitchFamily="34" charset="0"/>
                <a:ea typeface="Arial" pitchFamily="34" charset="-122"/>
                <a:cs typeface="Arial" pitchFamily="34" charset="-120"/>
              </a:rPr>
              <a:t> 为时间。</a:t>
            </a:r>
            <a:endParaRPr lang="en-US" sz="1320" dirty="0"/>
          </a:p>
        </p:txBody>
      </p:sp>
      <p:sp>
        <p:nvSpPr>
          <p:cNvPr id="20" name="Text 9"/>
          <p:cNvSpPr txBox="1"/>
          <p:nvPr/>
        </p:nvSpPr>
        <p:spPr>
          <a:xfrm>
            <a:off x="533400" y="2732187"/>
            <a:ext cx="2237929"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多维数组 array / 张量 tensor</a:t>
            </a:r>
            <a:endParaRPr lang="en-US" sz="1320" dirty="0"/>
          </a:p>
        </p:txBody>
      </p:sp>
      <p:sp>
        <p:nvSpPr>
          <p:cNvPr id="21" name="Text 10"/>
          <p:cNvSpPr txBox="1"/>
          <p:nvPr/>
        </p:nvSpPr>
        <p:spPr>
          <a:xfrm>
            <a:off x="516630" y="31227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2" name="Text 11"/>
          <p:cNvSpPr txBox="1"/>
          <p:nvPr/>
        </p:nvSpPr>
        <p:spPr>
          <a:xfrm>
            <a:off x="751284" y="3151287"/>
            <a:ext cx="262815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把质的差异统一为纯粹的量的差异</a:t>
            </a:r>
            <a:endParaRPr lang="en-US" sz="1320" dirty="0"/>
          </a:p>
        </p:txBody>
      </p:sp>
      <p:sp>
        <p:nvSpPr>
          <p:cNvPr id="23" name="Text 12"/>
          <p:cNvSpPr txBox="1"/>
          <p:nvPr/>
        </p:nvSpPr>
        <p:spPr>
          <a:xfrm>
            <a:off x="516630" y="34245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4" name="Text 13"/>
          <p:cNvSpPr txBox="1"/>
          <p:nvPr/>
        </p:nvSpPr>
        <p:spPr>
          <a:xfrm>
            <a:off x="751284" y="3453110"/>
            <a:ext cx="212541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划分轴仅仅是为了方便操作</a:t>
            </a:r>
            <a:endParaRPr lang="en-US" sz="1320" dirty="0"/>
          </a:p>
        </p:txBody>
      </p:sp>
      <p:pic>
        <p:nvPicPr>
          <p:cNvPr id="25" name="Image 9" descr="preencoded.png">    </p:cNvPr>
          <p:cNvPicPr>
            <a:picLocks noChangeAspect="1"/>
          </p:cNvPicPr>
          <p:nvPr/>
        </p:nvPicPr>
        <p:blipFill>
          <a:blip r:embed="rId10"/>
          <a:stretch>
            <a:fillRect/>
          </a:stretch>
        </p:blipFill>
        <p:spPr>
          <a:xfrm>
            <a:off x="533400" y="3840659"/>
            <a:ext cx="2480221" cy="1199555"/>
          </a:xfrm>
          <a:prstGeom prst="rect">
            <a:avLst/>
          </a:prstGeom>
        </p:spPr>
      </p:pic>
      <p:pic>
        <p:nvPicPr>
          <p:cNvPr id="26" name="Image 10" descr="preencoded.png">    </p:cNvPr>
          <p:cNvPicPr>
            <a:picLocks noChangeAspect="1"/>
          </p:cNvPicPr>
          <p:nvPr/>
        </p:nvPicPr>
        <p:blipFill>
          <a:blip r:embed="rId11"/>
          <a:stretch>
            <a:fillRect/>
          </a:stretch>
        </p:blipFill>
        <p:spPr>
          <a:xfrm>
            <a:off x="3013621" y="3840659"/>
            <a:ext cx="4960590" cy="1199555"/>
          </a:xfrm>
          <a:prstGeom prst="rect">
            <a:avLst/>
          </a:prstGeom>
        </p:spPr>
      </p:pic>
      <p:pic>
        <p:nvPicPr>
          <p:cNvPr id="27" name="Image 11" descr="Rendered as an image because of CSS background-image">    </p:cNvPr>
          <p:cNvPicPr>
            <a:picLocks noChangeAspect="1"/>
          </p:cNvPicPr>
          <p:nvPr/>
        </p:nvPicPr>
        <p:blipFill>
          <a:blip r:embed="rId12"/>
          <a:stretch>
            <a:fillRect/>
          </a:stretch>
        </p:blipFill>
        <p:spPr>
          <a:xfrm>
            <a:off x="0" y="210294"/>
            <a:ext cx="326678" cy="838200"/>
          </a:xfrm>
          <a:prstGeom prst="rect">
            <a:avLst/>
          </a:prstGeom>
        </p:spPr>
      </p:pic>
      <p:pic>
        <p:nvPicPr>
          <p:cNvPr id="28" name="Image 12" descr="Rendered as an image because of CSS background-image">    </p:cNvPr>
          <p:cNvPicPr>
            <a:picLocks noChangeAspect="1"/>
          </p:cNvPicPr>
          <p:nvPr/>
        </p:nvPicPr>
        <p:blipFill>
          <a:blip r:embed="rId13"/>
          <a:stretch>
            <a:fillRect/>
          </a:stretch>
        </p:blipFill>
        <p:spPr>
          <a:xfrm>
            <a:off x="0" y="5029200"/>
            <a:ext cx="9334500" cy="228600"/>
          </a:xfrm>
          <a:prstGeom prst="rect">
            <a:avLst/>
          </a:prstGeom>
        </p:spPr>
      </p:pic>
      <p:sp>
        <p:nvSpPr>
          <p:cNvPr id="29" name="Text 14"/>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30" name="Shape 15"/>
          <p:cNvSpPr/>
          <p:nvPr/>
        </p:nvSpPr>
        <p:spPr>
          <a:xfrm>
            <a:off x="647700" y="5067300"/>
            <a:ext cx="9525" cy="152400"/>
          </a:xfrm>
          <a:prstGeom prst="rect">
            <a:avLst/>
          </a:prstGeom>
          <a:solidFill>
            <a:srgbClr val="F0FFFF"/>
          </a:solidFill>
          <a:ln/>
        </p:spPr>
      </p:sp>
      <p:sp>
        <p:nvSpPr>
          <p:cNvPr id="31" name="Text 16"/>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32" name="Text 17"/>
          <p:cNvSpPr txBox="1"/>
          <p:nvPr/>
        </p:nvSpPr>
        <p:spPr>
          <a:xfrm>
            <a:off x="4639568"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33" name="Text 18"/>
          <p:cNvSpPr txBox="1"/>
          <p:nvPr/>
        </p:nvSpPr>
        <p:spPr>
          <a:xfrm>
            <a:off x="8907512" y="5048250"/>
            <a:ext cx="188416"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7</a:t>
            </a:r>
            <a:endParaRPr lang="en-US" sz="1050" dirty="0"/>
          </a:p>
        </p:txBody>
      </p:sp>
      <p:sp>
        <p:nvSpPr>
          <p:cNvPr id="34" name="Text 19"/>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35" name="Text 20"/>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0193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表征学习</a:t>
            </a:r>
            <a:endParaRPr lang="en-US" sz="3750" dirty="0"/>
          </a:p>
        </p:txBody>
      </p:sp>
      <p:sp>
        <p:nvSpPr>
          <p:cNvPr id="3" name="Text 1"/>
          <p:cNvSpPr txBox="1"/>
          <p:nvPr/>
        </p:nvSpPr>
        <p:spPr>
          <a:xfrm>
            <a:off x="533400" y="893266"/>
            <a:ext cx="2245370"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Representation learning</a:t>
            </a:r>
            <a:endParaRPr lang="en-US" sz="1500" dirty="0"/>
          </a:p>
        </p:txBody>
      </p:sp>
      <p:pic>
        <p:nvPicPr>
          <p:cNvPr id="4" name="Image 0" descr="Rendered as an image because of CSS math">    </p:cNvPr>
          <p:cNvPicPr>
            <a:picLocks noChangeAspect="1"/>
          </p:cNvPicPr>
          <p:nvPr/>
        </p:nvPicPr>
        <p:blipFill>
          <a:blip r:embed="rId1"/>
          <a:stretch>
            <a:fillRect/>
          </a:stretch>
        </p:blipFill>
        <p:spPr>
          <a:xfrm>
            <a:off x="4425404" y="1302841"/>
            <a:ext cx="817513" cy="238125"/>
          </a:xfrm>
          <a:prstGeom prst="rect">
            <a:avLst/>
          </a:prstGeom>
        </p:spPr>
      </p:pic>
      <p:pic>
        <p:nvPicPr>
          <p:cNvPr id="5" name="Image 1" descr="Rendered as an image because of CSS math">    </p:cNvPr>
          <p:cNvPicPr>
            <a:picLocks noChangeAspect="1"/>
          </p:cNvPicPr>
          <p:nvPr/>
        </p:nvPicPr>
        <p:blipFill>
          <a:blip r:embed="rId2"/>
          <a:stretch>
            <a:fillRect/>
          </a:stretch>
        </p:blipFill>
        <p:spPr>
          <a:xfrm>
            <a:off x="6155978" y="1302841"/>
            <a:ext cx="537865" cy="238125"/>
          </a:xfrm>
          <a:prstGeom prst="rect">
            <a:avLst/>
          </a:prstGeom>
        </p:spPr>
      </p:pic>
      <p:pic>
        <p:nvPicPr>
          <p:cNvPr id="6" name="Image 2" descr="Rendered as an image because of CSS math">    </p:cNvPr>
          <p:cNvPicPr>
            <a:picLocks noChangeAspect="1"/>
          </p:cNvPicPr>
          <p:nvPr/>
        </p:nvPicPr>
        <p:blipFill>
          <a:blip r:embed="rId3"/>
          <a:stretch>
            <a:fillRect/>
          </a:stretch>
        </p:blipFill>
        <p:spPr>
          <a:xfrm>
            <a:off x="7271742" y="1302841"/>
            <a:ext cx="497681" cy="238125"/>
          </a:xfrm>
          <a:prstGeom prst="rect">
            <a:avLst/>
          </a:prstGeom>
        </p:spPr>
      </p:pic>
      <p:sp>
        <p:nvSpPr>
          <p:cNvPr id="7" name="Text 2"/>
          <p:cNvSpPr txBox="1"/>
          <p:nvPr/>
        </p:nvSpPr>
        <p:spPr>
          <a:xfrm>
            <a:off x="533400" y="1293316"/>
            <a:ext cx="8293164" cy="500509"/>
          </a:xfrm>
          <a:prstGeom prst="rect">
            <a:avLst/>
          </a:prstGeom>
          <a:noFill/>
          <a:ln/>
        </p:spPr>
        <p:txBody>
          <a:bodyPr wrap="square" lIns="0" tIns="0" rIns="0" bIns="0" rtlCol="0" anchor="t"/>
          <a:lstStyle/>
          <a:p>
            <a:pPr algn="l" indent="0" marL="0">
              <a:lnSpc>
                <a:spcPts val="2066"/>
              </a:lnSpc>
              <a:buNone/>
            </a:pPr>
            <a:r>
              <a:rPr lang="en-US" sz="1320" dirty="0">
                <a:solidFill>
                  <a:srgbClr val="000000"/>
                </a:solidFill>
                <a:latin typeface="Arial" pitchFamily="34" charset="0"/>
                <a:ea typeface="Arial" pitchFamily="34" charset="-122"/>
                <a:cs typeface="Arial" pitchFamily="34" charset="-120"/>
              </a:rPr>
              <a:t>由于前面提到的信噪比问题，我们希望找到一个映射 </a:t>
            </a:r>
            <a:pPr algn="l" indent="0" marL="0">
              <a:lnSpc>
                <a:spcPts val="2066"/>
              </a:lnSpc>
              <a:buNone/>
            </a:pPr>
            <a:r>
              <a:rPr lang="en-US" sz="1320" dirty="0">
                <a:solidFill>
                  <a:srgbClr val="000000"/>
                </a:solidFill>
                <a:latin typeface="Arial" pitchFamily="34" charset="0"/>
                <a:ea typeface="Arial" pitchFamily="34" charset="-122"/>
                <a:cs typeface="Arial" pitchFamily="34" charset="-120"/>
              </a:rPr>
              <a:t> 使得原数据 </a:t>
            </a:r>
            <a:pPr algn="l" indent="0" marL="0">
              <a:lnSpc>
                <a:spcPts val="2066"/>
              </a:lnSpc>
              <a:buNone/>
            </a:pPr>
            <a:r>
              <a:rPr lang="en-US" sz="1320" dirty="0">
                <a:solidFill>
                  <a:srgbClr val="000000"/>
                </a:solidFill>
                <a:latin typeface="Arial" pitchFamily="34" charset="0"/>
                <a:ea typeface="Arial" pitchFamily="34" charset="-122"/>
                <a:cs typeface="Arial" pitchFamily="34" charset="-120"/>
              </a:rPr>
              <a:t> 的表征 </a:t>
            </a:r>
            <a:pPr algn="l" indent="0" marL="0">
              <a:lnSpc>
                <a:spcPts val="2066"/>
              </a:lnSpc>
              <a:buNone/>
            </a:pPr>
            <a:r>
              <a:rPr lang="en-US" sz="1320" dirty="0">
                <a:solidFill>
                  <a:srgbClr val="000000"/>
                </a:solidFill>
                <a:latin typeface="Arial" pitchFamily="34" charset="0"/>
                <a:ea typeface="Arial" pitchFamily="34" charset="-122"/>
                <a:cs typeface="Arial" pitchFamily="34" charset="-120"/>
              </a:rPr>
              <a:t> 具有</a:t>
            </a:r>
            <a:pPr algn="l" indent="0" marL="0">
              <a:lnSpc>
                <a:spcPts val="2066"/>
              </a:lnSpc>
              <a:buNone/>
            </a:pPr>
            <a:r>
              <a:rPr lang="en-US" sz="1320" b="1" dirty="0">
                <a:solidFill>
                  <a:srgbClr val="000000"/>
                </a:solidFill>
                <a:latin typeface="Arial" pitchFamily="34" charset="0"/>
                <a:ea typeface="Arial" pitchFamily="34" charset="-122"/>
                <a:cs typeface="Arial" pitchFamily="34" charset="-120"/>
              </a:rPr>
              <a:t>更好</a:t>
            </a:r>
            <a:pPr algn="l" indent="0" marL="0">
              <a:lnSpc>
                <a:spcPts val="2066"/>
              </a:lnSpc>
              <a:buNone/>
            </a:pPr>
            <a:r>
              <a:rPr lang="en-US" sz="1320" dirty="0">
                <a:solidFill>
                  <a:srgbClr val="000000"/>
                </a:solidFill>
                <a:latin typeface="Arial" pitchFamily="34" charset="0"/>
                <a:ea typeface="Arial" pitchFamily="34" charset="-122"/>
                <a:cs typeface="Arial" pitchFamily="34" charset="-120"/>
              </a:rPr>
              <a:t>的性质。这个任务被称为表征学习。</a:t>
            </a:r>
            <a:endParaRPr lang="en-US" sz="1320" dirty="0"/>
          </a:p>
        </p:txBody>
      </p:sp>
      <p:pic>
        <p:nvPicPr>
          <p:cNvPr id="8" name="Image 3" descr="preencoded.png">    </p:cNvPr>
          <p:cNvPicPr>
            <a:picLocks noChangeAspect="1"/>
          </p:cNvPicPr>
          <p:nvPr/>
        </p:nvPicPr>
        <p:blipFill>
          <a:blip r:embed="rId4"/>
          <a:stretch>
            <a:fillRect/>
          </a:stretch>
        </p:blipFill>
        <p:spPr>
          <a:xfrm>
            <a:off x="533400" y="1946225"/>
            <a:ext cx="4133850" cy="2098328"/>
          </a:xfrm>
          <a:prstGeom prst="rect">
            <a:avLst/>
          </a:prstGeom>
        </p:spPr>
      </p:pic>
      <p:pic>
        <p:nvPicPr>
          <p:cNvPr id="9" name="Image 4" descr="Rendered as an image because of CSS math">    </p:cNvPr>
          <p:cNvPicPr>
            <a:picLocks noChangeAspect="1"/>
          </p:cNvPicPr>
          <p:nvPr/>
        </p:nvPicPr>
        <p:blipFill>
          <a:blip r:embed="rId5"/>
          <a:stretch>
            <a:fillRect/>
          </a:stretch>
        </p:blipFill>
        <p:spPr>
          <a:xfrm>
            <a:off x="2749600" y="4196953"/>
            <a:ext cx="116979" cy="238125"/>
          </a:xfrm>
          <a:prstGeom prst="rect">
            <a:avLst/>
          </a:prstGeom>
        </p:spPr>
      </p:pic>
      <p:pic>
        <p:nvPicPr>
          <p:cNvPr id="10" name="Image 5" descr="Rendered as an image because of CSS math">    </p:cNvPr>
          <p:cNvPicPr>
            <a:picLocks noChangeAspect="1"/>
          </p:cNvPicPr>
          <p:nvPr/>
        </p:nvPicPr>
        <p:blipFill>
          <a:blip r:embed="rId6"/>
          <a:stretch>
            <a:fillRect/>
          </a:stretch>
        </p:blipFill>
        <p:spPr>
          <a:xfrm>
            <a:off x="4922193" y="4196953"/>
            <a:ext cx="147786" cy="238125"/>
          </a:xfrm>
          <a:prstGeom prst="rect">
            <a:avLst/>
          </a:prstGeom>
        </p:spPr>
      </p:pic>
      <p:pic>
        <p:nvPicPr>
          <p:cNvPr id="11" name="Image 6" descr="Rendered as an image because of CSS math">    </p:cNvPr>
          <p:cNvPicPr>
            <a:picLocks noChangeAspect="1"/>
          </p:cNvPicPr>
          <p:nvPr/>
        </p:nvPicPr>
        <p:blipFill>
          <a:blip r:embed="rId7"/>
          <a:stretch>
            <a:fillRect/>
          </a:stretch>
        </p:blipFill>
        <p:spPr>
          <a:xfrm>
            <a:off x="8137773" y="4196953"/>
            <a:ext cx="416421" cy="238125"/>
          </a:xfrm>
          <a:prstGeom prst="rect">
            <a:avLst/>
          </a:prstGeom>
        </p:spPr>
      </p:pic>
      <p:pic>
        <p:nvPicPr>
          <p:cNvPr id="12" name="Image 7" descr="Rendered as an image because of CSS math">    </p:cNvPr>
          <p:cNvPicPr>
            <a:picLocks noChangeAspect="1"/>
          </p:cNvPicPr>
          <p:nvPr/>
        </p:nvPicPr>
        <p:blipFill>
          <a:blip r:embed="rId8"/>
          <a:stretch>
            <a:fillRect/>
          </a:stretch>
        </p:blipFill>
        <p:spPr>
          <a:xfrm>
            <a:off x="2280047" y="4459337"/>
            <a:ext cx="104031" cy="238125"/>
          </a:xfrm>
          <a:prstGeom prst="rect">
            <a:avLst/>
          </a:prstGeom>
        </p:spPr>
      </p:pic>
      <p:sp>
        <p:nvSpPr>
          <p:cNvPr id="13" name="Text 3"/>
          <p:cNvSpPr txBox="1"/>
          <p:nvPr/>
        </p:nvSpPr>
        <p:spPr>
          <a:xfrm>
            <a:off x="533400" y="4187428"/>
            <a:ext cx="8409599" cy="500509"/>
          </a:xfrm>
          <a:prstGeom prst="rect">
            <a:avLst/>
          </a:prstGeom>
          <a:noFill/>
          <a:ln/>
        </p:spPr>
        <p:txBody>
          <a:bodyPr wrap="square" lIns="0" tIns="0" rIns="0" bIns="0" rtlCol="0" anchor="t"/>
          <a:lstStyle/>
          <a:p>
            <a:pPr algn="l" indent="0" marL="0">
              <a:lnSpc>
                <a:spcPts val="2066"/>
              </a:lnSpc>
              <a:buNone/>
            </a:pPr>
            <a:r>
              <a:rPr lang="en-US" sz="1320" dirty="0">
                <a:solidFill>
                  <a:srgbClr val="000000"/>
                </a:solidFill>
                <a:latin typeface="Arial" pitchFamily="34" charset="0"/>
                <a:ea typeface="Arial" pitchFamily="34" charset="-122"/>
                <a:cs typeface="Arial" pitchFamily="34" charset="-120"/>
              </a:rPr>
              <a:t>根据语境的不同，这里的映射 </a:t>
            </a:r>
            <a:pPr algn="l" indent="0" marL="0">
              <a:lnSpc>
                <a:spcPts val="2066"/>
              </a:lnSpc>
              <a:buNone/>
            </a:pPr>
            <a:r>
              <a:rPr lang="en-US" sz="1320" dirty="0">
                <a:solidFill>
                  <a:srgbClr val="000000"/>
                </a:solidFill>
                <a:latin typeface="Arial" pitchFamily="34" charset="0"/>
                <a:ea typeface="Arial" pitchFamily="34" charset="-122"/>
                <a:cs typeface="Arial" pitchFamily="34" charset="-120"/>
              </a:rPr>
              <a:t> 也被称为编码器 encoder，</a:t>
            </a:r>
            <a:pPr algn="l" indent="0" marL="0">
              <a:lnSpc>
                <a:spcPts val="2066"/>
              </a:lnSpc>
              <a:buNone/>
            </a:pPr>
            <a:r>
              <a:rPr lang="en-US" sz="1320" dirty="0">
                <a:solidFill>
                  <a:srgbClr val="000000"/>
                </a:solidFill>
                <a:latin typeface="Arial" pitchFamily="34" charset="0"/>
                <a:ea typeface="Arial" pitchFamily="34" charset="-122"/>
                <a:cs typeface="Arial" pitchFamily="34" charset="-120"/>
              </a:rPr>
              <a:t> 所在的空间被称为隐空间 latent space， </a:t>
            </a:r>
            <a:pPr algn="l" indent="0" marL="0">
              <a:lnSpc>
                <a:spcPts val="2066"/>
              </a:lnSpc>
              <a:buNone/>
            </a:pPr>
            <a:r>
              <a:rPr lang="en-US" sz="1320" dirty="0">
                <a:solidFill>
                  <a:srgbClr val="000000"/>
                </a:solidFill>
                <a:latin typeface="Arial" pitchFamily="34" charset="0"/>
                <a:ea typeface="Arial" pitchFamily="34" charset="-122"/>
                <a:cs typeface="Arial" pitchFamily="34" charset="-120"/>
              </a:rPr>
              <a:t> 也被称为流形 manifold，</a:t>
            </a:r>
            <a:pPr algn="l" indent="0" marL="0">
              <a:lnSpc>
                <a:spcPts val="2066"/>
              </a:lnSpc>
              <a:buNone/>
            </a:pPr>
            <a:r>
              <a:rPr lang="en-US" sz="1320" dirty="0">
                <a:solidFill>
                  <a:srgbClr val="000000"/>
                </a:solidFill>
                <a:latin typeface="Arial" pitchFamily="34" charset="0"/>
                <a:ea typeface="Arial" pitchFamily="34" charset="-122"/>
                <a:cs typeface="Arial" pitchFamily="34" charset="-120"/>
              </a:rPr>
              <a:t> 也被称为嵌入 embedding 或者编码 code。</a:t>
            </a:r>
            <a:endParaRPr lang="en-US" sz="1320" dirty="0"/>
          </a:p>
        </p:txBody>
      </p:sp>
      <p:pic>
        <p:nvPicPr>
          <p:cNvPr id="14" name="Image 8" descr="Rendered as an image because of CSS background-image">    </p:cNvPr>
          <p:cNvPicPr>
            <a:picLocks noChangeAspect="1"/>
          </p:cNvPicPr>
          <p:nvPr/>
        </p:nvPicPr>
        <p:blipFill>
          <a:blip r:embed="rId9"/>
          <a:stretch>
            <a:fillRect/>
          </a:stretch>
        </p:blipFill>
        <p:spPr>
          <a:xfrm>
            <a:off x="0" y="210294"/>
            <a:ext cx="326678" cy="838200"/>
          </a:xfrm>
          <a:prstGeom prst="rect">
            <a:avLst/>
          </a:prstGeom>
        </p:spPr>
      </p:pic>
      <p:pic>
        <p:nvPicPr>
          <p:cNvPr id="15" name="Image 9" descr="Rendered as an image because of CSS background-image">    </p:cNvPr>
          <p:cNvPicPr>
            <a:picLocks noChangeAspect="1"/>
          </p:cNvPicPr>
          <p:nvPr/>
        </p:nvPicPr>
        <p:blipFill>
          <a:blip r:embed="rId10"/>
          <a:stretch>
            <a:fillRect/>
          </a:stretch>
        </p:blipFill>
        <p:spPr>
          <a:xfrm>
            <a:off x="0" y="5029200"/>
            <a:ext cx="9334500" cy="228600"/>
          </a:xfrm>
          <a:prstGeom prst="rect">
            <a:avLst/>
          </a:prstGeom>
        </p:spPr>
      </p:pic>
      <p:sp>
        <p:nvSpPr>
          <p:cNvPr id="16" name="Text 4"/>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7" name="Shape 5"/>
          <p:cNvSpPr/>
          <p:nvPr/>
        </p:nvSpPr>
        <p:spPr>
          <a:xfrm>
            <a:off x="647700" y="5067300"/>
            <a:ext cx="9525" cy="152400"/>
          </a:xfrm>
          <a:prstGeom prst="rect">
            <a:avLst/>
          </a:prstGeom>
          <a:solidFill>
            <a:srgbClr val="F0FFFF"/>
          </a:solidFill>
          <a:ln/>
        </p:spPr>
      </p:sp>
      <p:sp>
        <p:nvSpPr>
          <p:cNvPr id="18" name="Text 6"/>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9" name="Text 7"/>
          <p:cNvSpPr txBox="1"/>
          <p:nvPr/>
        </p:nvSpPr>
        <p:spPr>
          <a:xfrm>
            <a:off x="4639568"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0" name="Text 8"/>
          <p:cNvSpPr txBox="1"/>
          <p:nvPr/>
        </p:nvSpPr>
        <p:spPr>
          <a:xfrm>
            <a:off x="8907512" y="5048250"/>
            <a:ext cx="188416"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8</a:t>
            </a:r>
            <a:endParaRPr lang="en-US" sz="1050" dirty="0"/>
          </a:p>
        </p:txBody>
      </p:sp>
      <p:sp>
        <p:nvSpPr>
          <p:cNvPr id="21" name="Text 9"/>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2" name="Text 10"/>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39243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什么是好的表征？</a:t>
            </a:r>
            <a:endParaRPr lang="en-US" sz="3750" dirty="0"/>
          </a:p>
        </p:txBody>
      </p:sp>
      <p:sp>
        <p:nvSpPr>
          <p:cNvPr id="3" name="Text 1"/>
          <p:cNvSpPr txBox="1"/>
          <p:nvPr/>
        </p:nvSpPr>
        <p:spPr>
          <a:xfrm>
            <a:off x="533400" y="1211312"/>
            <a:ext cx="179025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信噪比高（压缩率高）</a:t>
            </a:r>
            <a:endParaRPr lang="en-US" sz="1320" dirty="0"/>
          </a:p>
        </p:txBody>
      </p:sp>
      <p:pic>
        <p:nvPicPr>
          <p:cNvPr id="4" name="Image 0" descr="Rendered as an image because of CSS math">    </p:cNvPr>
          <p:cNvPicPr>
            <a:picLocks noChangeAspect="1"/>
          </p:cNvPicPr>
          <p:nvPr/>
        </p:nvPicPr>
        <p:blipFill>
          <a:blip r:embed="rId1"/>
          <a:stretch>
            <a:fillRect/>
          </a:stretch>
        </p:blipFill>
        <p:spPr>
          <a:xfrm>
            <a:off x="2452092" y="1615083"/>
            <a:ext cx="762595" cy="238125"/>
          </a:xfrm>
          <a:prstGeom prst="rect">
            <a:avLst/>
          </a:prstGeom>
        </p:spPr>
      </p:pic>
      <p:pic>
        <p:nvPicPr>
          <p:cNvPr id="5" name="Image 1" descr="Rendered as an image because of CSS math">    </p:cNvPr>
          <p:cNvPicPr>
            <a:picLocks noChangeAspect="1"/>
          </p:cNvPicPr>
          <p:nvPr/>
        </p:nvPicPr>
        <p:blipFill>
          <a:blip r:embed="rId2"/>
          <a:stretch>
            <a:fillRect/>
          </a:stretch>
        </p:blipFill>
        <p:spPr>
          <a:xfrm>
            <a:off x="533400" y="1867942"/>
            <a:ext cx="305395" cy="238125"/>
          </a:xfrm>
          <a:prstGeom prst="rect">
            <a:avLst/>
          </a:prstGeom>
        </p:spPr>
      </p:pic>
      <p:pic>
        <p:nvPicPr>
          <p:cNvPr id="6" name="Image 2" descr="preencoded.png">
            <a:hlinkClick r:id="rId4" tooltip=""/>
          </p:cNvPr>
          <p:cNvPicPr>
            <a:picLocks noChangeAspect="1"/>
          </p:cNvPicPr>
          <p:nvPr/>
        </p:nvPicPr>
        <p:blipFill>
          <a:blip r:embed="rId3"/>
          <a:stretch>
            <a:fillRect/>
          </a:stretch>
        </p:blipFill>
        <p:spPr>
          <a:xfrm>
            <a:off x="533400" y="2120801"/>
            <a:ext cx="4038451" cy="2398365"/>
          </a:xfrm>
          <a:prstGeom prst="rect">
            <a:avLst/>
          </a:prstGeom>
        </p:spPr>
      </p:pic>
      <p:sp>
        <p:nvSpPr>
          <p:cNvPr id="7" name="Text 2"/>
          <p:cNvSpPr txBox="1"/>
          <p:nvPr/>
        </p:nvSpPr>
        <p:spPr>
          <a:xfrm>
            <a:off x="533400" y="1605558"/>
            <a:ext cx="383872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MNIST 图像表征从原空间 </a:t>
            </a:r>
            <a:pPr algn="l" indent="0" marL="0">
              <a:buNone/>
            </a:pPr>
            <a:r>
              <a:rPr lang="en-US" sz="1320" dirty="0">
                <a:solidFill>
                  <a:srgbClr val="000000"/>
                </a:solidFill>
                <a:latin typeface="Arial" pitchFamily="34" charset="0"/>
                <a:ea typeface="Arial" pitchFamily="34" charset="-122"/>
                <a:cs typeface="Arial" pitchFamily="34" charset="-120"/>
              </a:rPr>
              <a:t> 映射到隐空间</a:t>
            </a:r>
            <a:endParaRPr lang="en-US" sz="1320" dirty="0"/>
          </a:p>
        </p:txBody>
      </p:sp>
      <p:sp>
        <p:nvSpPr>
          <p:cNvPr id="8" name="Text 3"/>
          <p:cNvSpPr txBox="1"/>
          <p:nvPr/>
        </p:nvSpPr>
        <p:spPr>
          <a:xfrm>
            <a:off x="4762500" y="1211312"/>
            <a:ext cx="145509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（线性）可分性强</a:t>
            </a:r>
            <a:endParaRPr lang="en-US" sz="1320" dirty="0"/>
          </a:p>
        </p:txBody>
      </p:sp>
      <p:pic>
        <p:nvPicPr>
          <p:cNvPr id="9" name="Image 3" descr="Rendered as an image because of CSS math">    </p:cNvPr>
          <p:cNvPicPr>
            <a:picLocks noChangeAspect="1"/>
          </p:cNvPicPr>
          <p:nvPr/>
        </p:nvPicPr>
        <p:blipFill>
          <a:blip r:embed="rId5"/>
          <a:stretch>
            <a:fillRect/>
          </a:stretch>
        </p:blipFill>
        <p:spPr>
          <a:xfrm>
            <a:off x="6978700" y="1615083"/>
            <a:ext cx="229195" cy="238125"/>
          </a:xfrm>
          <a:prstGeom prst="rect">
            <a:avLst/>
          </a:prstGeom>
        </p:spPr>
      </p:pic>
      <p:pic>
        <p:nvPicPr>
          <p:cNvPr id="10" name="Image 4" descr="Rendered as an image because of CSS math">    </p:cNvPr>
          <p:cNvPicPr>
            <a:picLocks noChangeAspect="1"/>
          </p:cNvPicPr>
          <p:nvPr/>
        </p:nvPicPr>
        <p:blipFill>
          <a:blip r:embed="rId6"/>
          <a:stretch>
            <a:fillRect/>
          </a:stretch>
        </p:blipFill>
        <p:spPr>
          <a:xfrm>
            <a:off x="8288536" y="1615083"/>
            <a:ext cx="229195" cy="238125"/>
          </a:xfrm>
          <a:prstGeom prst="rect">
            <a:avLst/>
          </a:prstGeom>
        </p:spPr>
      </p:pic>
      <p:sp>
        <p:nvSpPr>
          <p:cNvPr id="11" name="Text 4"/>
          <p:cNvSpPr txBox="1"/>
          <p:nvPr/>
        </p:nvSpPr>
        <p:spPr>
          <a:xfrm>
            <a:off x="4762500" y="1605558"/>
            <a:ext cx="364033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甜甜圈式二分类数据从原空间 </a:t>
            </a:r>
            <a:pPr algn="l" indent="0" marL="0">
              <a:buNone/>
            </a:pPr>
            <a:r>
              <a:rPr lang="en-US" sz="1320" dirty="0">
                <a:solidFill>
                  <a:srgbClr val="000000"/>
                </a:solidFill>
                <a:latin typeface="Arial" pitchFamily="34" charset="0"/>
                <a:ea typeface="Arial" pitchFamily="34" charset="-122"/>
                <a:cs typeface="Arial" pitchFamily="34" charset="-120"/>
              </a:rPr>
              <a:t> 映射到隐空间</a:t>
            </a:r>
            <a:endParaRPr lang="en-US" sz="1320" dirty="0"/>
          </a:p>
        </p:txBody>
      </p:sp>
      <p:pic>
        <p:nvPicPr>
          <p:cNvPr id="12" name="Image 5" descr="preencoded.png">    </p:cNvPr>
          <p:cNvPicPr>
            <a:picLocks noChangeAspect="1"/>
          </p:cNvPicPr>
          <p:nvPr/>
        </p:nvPicPr>
        <p:blipFill>
          <a:blip r:embed="rId7"/>
          <a:stretch>
            <a:fillRect/>
          </a:stretch>
        </p:blipFill>
        <p:spPr>
          <a:xfrm>
            <a:off x="4762500" y="2271713"/>
            <a:ext cx="4038600" cy="1794867"/>
          </a:xfrm>
          <a:prstGeom prst="rect">
            <a:avLst/>
          </a:prstGeom>
        </p:spPr>
      </p:pic>
      <p:pic>
        <p:nvPicPr>
          <p:cNvPr id="13" name="Image 6" descr="Rendered as an image because of CSS background-image">    </p:cNvPr>
          <p:cNvPicPr>
            <a:picLocks noChangeAspect="1"/>
          </p:cNvPicPr>
          <p:nvPr/>
        </p:nvPicPr>
        <p:blipFill>
          <a:blip r:embed="rId8"/>
          <a:stretch>
            <a:fillRect/>
          </a:stretch>
        </p:blipFill>
        <p:spPr>
          <a:xfrm>
            <a:off x="0" y="210294"/>
            <a:ext cx="326678" cy="838200"/>
          </a:xfrm>
          <a:prstGeom prst="rect">
            <a:avLst/>
          </a:prstGeom>
        </p:spPr>
      </p:pic>
      <p:pic>
        <p:nvPicPr>
          <p:cNvPr id="14" name="Image 7" descr="Rendered as an image because of CSS background-image">    </p:cNvPr>
          <p:cNvPicPr>
            <a:picLocks noChangeAspect="1"/>
          </p:cNvPicPr>
          <p:nvPr/>
        </p:nvPicPr>
        <p:blipFill>
          <a:blip r:embed="rId9"/>
          <a:stretch>
            <a:fillRect/>
          </a:stretch>
        </p:blipFill>
        <p:spPr>
          <a:xfrm>
            <a:off x="0" y="5029200"/>
            <a:ext cx="9334500" cy="228600"/>
          </a:xfrm>
          <a:prstGeom prst="rect">
            <a:avLst/>
          </a:prstGeom>
        </p:spPr>
      </p:pic>
      <p:sp>
        <p:nvSpPr>
          <p:cNvPr id="15" name="Text 5"/>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6" name="Shape 6"/>
          <p:cNvSpPr/>
          <p:nvPr/>
        </p:nvSpPr>
        <p:spPr>
          <a:xfrm>
            <a:off x="647700" y="5067300"/>
            <a:ext cx="9525" cy="152400"/>
          </a:xfrm>
          <a:prstGeom prst="rect">
            <a:avLst/>
          </a:prstGeom>
          <a:solidFill>
            <a:srgbClr val="F0FFFF"/>
          </a:solidFill>
          <a:ln/>
        </p:spPr>
      </p:sp>
      <p:sp>
        <p:nvSpPr>
          <p:cNvPr id="17" name="Text 7"/>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8" name="Text 8"/>
          <p:cNvSpPr txBox="1"/>
          <p:nvPr/>
        </p:nvSpPr>
        <p:spPr>
          <a:xfrm>
            <a:off x="4639568"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9" name="Text 9"/>
          <p:cNvSpPr txBox="1"/>
          <p:nvPr/>
        </p:nvSpPr>
        <p:spPr>
          <a:xfrm>
            <a:off x="8907512" y="5048250"/>
            <a:ext cx="188416"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9</a:t>
            </a:r>
            <a:endParaRPr lang="en-US" sz="1050" dirty="0"/>
          </a:p>
        </p:txBody>
      </p:sp>
      <p:sp>
        <p:nvSpPr>
          <p:cNvPr id="20" name="Text 10"/>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1" name="Text 11"/>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4955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数据与标签</a:t>
            </a:r>
            <a:endParaRPr lang="en-US" sz="3750" dirty="0"/>
          </a:p>
        </p:txBody>
      </p:sp>
      <p:sp>
        <p:nvSpPr>
          <p:cNvPr id="3" name="Text 1"/>
          <p:cNvSpPr txBox="1"/>
          <p:nvPr/>
        </p:nvSpPr>
        <p:spPr>
          <a:xfrm>
            <a:off x="533400" y="1354187"/>
            <a:ext cx="4057650" cy="466725"/>
          </a:xfrm>
          <a:prstGeom prst="rect">
            <a:avLst/>
          </a:prstGeom>
          <a:noFill/>
          <a:ln/>
        </p:spPr>
        <p:txBody>
          <a:bodyPr wrap="square" lIns="0" tIns="0" rIns="0" bIns="0" rtlCol="0" anchor="t"/>
          <a:lstStyle/>
          <a:p>
            <a:pPr algn="l" indent="0" marL="0">
              <a:lnSpc>
                <a:spcPts val="1800"/>
              </a:lnSpc>
              <a:buNone/>
            </a:pPr>
            <a:r>
              <a:rPr lang="en-US" sz="1320" dirty="0">
                <a:solidFill>
                  <a:srgbClr val="000000"/>
                </a:solidFill>
                <a:latin typeface="Arial" pitchFamily="34" charset="0"/>
                <a:ea typeface="Arial" pitchFamily="34" charset="-122"/>
                <a:cs typeface="Arial" pitchFamily="34" charset="-120"/>
              </a:rPr>
              <a:t>数据常有：文本（网页、出版物），音频（播客、视频音轨），图像（照片、图画、截图）。</a:t>
            </a:r>
            <a:endParaRPr lang="en-US" sz="1320" dirty="0"/>
          </a:p>
        </p:txBody>
      </p:sp>
      <p:sp>
        <p:nvSpPr>
          <p:cNvPr id="4" name="Text 2"/>
          <p:cNvSpPr txBox="1"/>
          <p:nvPr/>
        </p:nvSpPr>
        <p:spPr>
          <a:xfrm>
            <a:off x="533400" y="2116187"/>
            <a:ext cx="4057650" cy="466725"/>
          </a:xfrm>
          <a:prstGeom prst="rect">
            <a:avLst/>
          </a:prstGeom>
          <a:noFill/>
          <a:ln/>
        </p:spPr>
        <p:txBody>
          <a:bodyPr wrap="square" lIns="0" tIns="0" rIns="0" bIns="0" rtlCol="0" anchor="t"/>
          <a:lstStyle/>
          <a:p>
            <a:pPr algn="l" indent="0" marL="0">
              <a:lnSpc>
                <a:spcPts val="1800"/>
              </a:lnSpc>
              <a:buNone/>
            </a:pPr>
            <a:r>
              <a:rPr lang="en-US" sz="1320" dirty="0">
                <a:solidFill>
                  <a:srgbClr val="000000"/>
                </a:solidFill>
                <a:latin typeface="Arial" pitchFamily="34" charset="0"/>
                <a:ea typeface="Arial" pitchFamily="34" charset="-122"/>
                <a:cs typeface="Arial" pitchFamily="34" charset="-120"/>
              </a:rPr>
              <a:t>但标签不常有（电影影评打分）。标签因任务而异，多数情况靠人工打标。</a:t>
            </a:r>
            <a:endParaRPr lang="en-US" sz="1320" dirty="0"/>
          </a:p>
        </p:txBody>
      </p:sp>
      <p:sp>
        <p:nvSpPr>
          <p:cNvPr id="5" name="Text 3"/>
          <p:cNvSpPr txBox="1"/>
          <p:nvPr/>
        </p:nvSpPr>
        <p:spPr>
          <a:xfrm>
            <a:off x="533400" y="2878187"/>
            <a:ext cx="370686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学习数据是否自带标签？监督学习 vs 无监督学习</a:t>
            </a:r>
            <a:endParaRPr lang="en-US" sz="1320" dirty="0"/>
          </a:p>
        </p:txBody>
      </p:sp>
      <p:sp>
        <p:nvSpPr>
          <p:cNvPr id="6" name="Text 4"/>
          <p:cNvSpPr txBox="1"/>
          <p:nvPr/>
        </p:nvSpPr>
        <p:spPr>
          <a:xfrm>
            <a:off x="533400" y="3411587"/>
            <a:ext cx="4121875" cy="695325"/>
          </a:xfrm>
          <a:prstGeom prst="rect">
            <a:avLst/>
          </a:prstGeom>
          <a:noFill/>
          <a:ln/>
        </p:spPr>
        <p:txBody>
          <a:bodyPr wrap="square" lIns="0" tIns="0" rIns="0" bIns="0" rtlCol="0" anchor="t"/>
          <a:lstStyle/>
          <a:p>
            <a:pPr algn="l" indent="0" marL="0">
              <a:lnSpc>
                <a:spcPts val="1800"/>
              </a:lnSpc>
              <a:buNone/>
            </a:pPr>
            <a:r>
              <a:rPr lang="en-US" sz="1320" dirty="0">
                <a:solidFill>
                  <a:srgbClr val="000000"/>
                </a:solidFill>
                <a:latin typeface="Arial" pitchFamily="34" charset="0"/>
                <a:ea typeface="Arial" pitchFamily="34" charset="-122"/>
                <a:cs typeface="Arial" pitchFamily="34" charset="-120"/>
              </a:rPr>
              <a:t>在无标数据集上如何巧妙的</a:t>
            </a:r>
            <a:pPr algn="l" indent="0" marL="0">
              <a:lnSpc>
                <a:spcPts val="1800"/>
              </a:lnSpc>
              <a:buNone/>
            </a:pPr>
            <a:r>
              <a:rPr lang="en-US" sz="1320" b="1" dirty="0">
                <a:solidFill>
                  <a:srgbClr val="000000"/>
                </a:solidFill>
                <a:latin typeface="Arial" pitchFamily="34" charset="0"/>
                <a:ea typeface="Arial" pitchFamily="34" charset="-122"/>
                <a:cs typeface="Arial" pitchFamily="34" charset="-120"/>
              </a:rPr>
              <a:t>构造</a:t>
            </a:r>
            <a:pPr algn="l" indent="0" marL="0">
              <a:lnSpc>
                <a:spcPts val="1800"/>
              </a:lnSpc>
              <a:buNone/>
            </a:pPr>
            <a:r>
              <a:rPr lang="en-US" sz="1320" dirty="0">
                <a:solidFill>
                  <a:srgbClr val="000000"/>
                </a:solidFill>
                <a:latin typeface="Arial" pitchFamily="34" charset="0"/>
                <a:ea typeface="Arial" pitchFamily="34" charset="-122"/>
                <a:cs typeface="Arial" pitchFamily="34" charset="-120"/>
              </a:rPr>
              <a:t>标签，决定了是否能够利用海量数据。一种新的构造方式设定了一种新的模式识别任务，这种人为构造的任务能够帮助真实任务。</a:t>
            </a:r>
            <a:endParaRPr lang="en-US" sz="1320" dirty="0"/>
          </a:p>
        </p:txBody>
      </p:sp>
      <p:pic>
        <p:nvPicPr>
          <p:cNvPr id="7" name="Image 0" descr="preencoded.png">    </p:cNvPr>
          <p:cNvPicPr>
            <a:picLocks noChangeAspect="1"/>
          </p:cNvPicPr>
          <p:nvPr/>
        </p:nvPicPr>
        <p:blipFill>
          <a:blip r:embed="rId1"/>
          <a:stretch>
            <a:fillRect/>
          </a:stretch>
        </p:blipFill>
        <p:spPr>
          <a:xfrm>
            <a:off x="4762500" y="1211312"/>
            <a:ext cx="4038600" cy="3037880"/>
          </a:xfrm>
          <a:prstGeom prst="rect">
            <a:avLst/>
          </a:prstGeom>
        </p:spPr>
      </p:pic>
      <p:pic>
        <p:nvPicPr>
          <p:cNvPr id="8"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9"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10" name="Text 5"/>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1" name="Shape 6"/>
          <p:cNvSpPr/>
          <p:nvPr/>
        </p:nvSpPr>
        <p:spPr>
          <a:xfrm>
            <a:off x="647700" y="5067300"/>
            <a:ext cx="9525" cy="152400"/>
          </a:xfrm>
          <a:prstGeom prst="rect">
            <a:avLst/>
          </a:prstGeom>
          <a:solidFill>
            <a:srgbClr val="F0FFFF"/>
          </a:solidFill>
          <a:ln/>
        </p:spPr>
      </p:sp>
      <p:sp>
        <p:nvSpPr>
          <p:cNvPr id="12" name="Text 7"/>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3" name="Text 8"/>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4" name="Text 9"/>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10</a:t>
            </a:r>
            <a:endParaRPr lang="en-US" sz="1050" dirty="0"/>
          </a:p>
        </p:txBody>
      </p:sp>
      <p:sp>
        <p:nvSpPr>
          <p:cNvPr id="15" name="Text 10"/>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16" name="Text 11"/>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1066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小结</a:t>
            </a:r>
            <a:endParaRPr lang="en-US" sz="3750" dirty="0"/>
          </a:p>
        </p:txBody>
      </p:sp>
      <p:sp>
        <p:nvSpPr>
          <p:cNvPr id="3" name="Text 1"/>
          <p:cNvSpPr txBox="1"/>
          <p:nvPr/>
        </p:nvSpPr>
        <p:spPr>
          <a:xfrm>
            <a:off x="533400" y="1354187"/>
            <a:ext cx="179025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机器学习的基本假设：</a:t>
            </a:r>
            <a:endParaRPr lang="en-US" sz="1320" dirty="0"/>
          </a:p>
        </p:txBody>
      </p:sp>
      <p:sp>
        <p:nvSpPr>
          <p:cNvPr id="4" name="Text 2"/>
          <p:cNvSpPr txBox="1"/>
          <p:nvPr/>
        </p:nvSpPr>
        <p:spPr>
          <a:xfrm>
            <a:off x="516630" y="17447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1. </a:t>
            </a:r>
            <a:endParaRPr lang="en-US" sz="1320" dirty="0"/>
          </a:p>
        </p:txBody>
      </p:sp>
      <p:pic>
        <p:nvPicPr>
          <p:cNvPr id="5" name="Image 0" descr="Rendered as an image because of CSS math">    </p:cNvPr>
          <p:cNvPicPr>
            <a:picLocks noChangeAspect="1"/>
          </p:cNvPicPr>
          <p:nvPr/>
        </p:nvPicPr>
        <p:blipFill>
          <a:blip r:embed="rId1"/>
          <a:stretch>
            <a:fillRect/>
          </a:stretch>
        </p:blipFill>
        <p:spPr>
          <a:xfrm>
            <a:off x="2464743" y="1782812"/>
            <a:ext cx="172492" cy="238125"/>
          </a:xfrm>
          <a:prstGeom prst="rect">
            <a:avLst/>
          </a:prstGeom>
        </p:spPr>
      </p:pic>
      <p:pic>
        <p:nvPicPr>
          <p:cNvPr id="6" name="Image 1" descr="Rendered as an image because of CSS math">    </p:cNvPr>
          <p:cNvPicPr>
            <a:picLocks noChangeAspect="1"/>
          </p:cNvPicPr>
          <p:nvPr/>
        </p:nvPicPr>
        <p:blipFill>
          <a:blip r:embed="rId2"/>
          <a:stretch>
            <a:fillRect/>
          </a:stretch>
        </p:blipFill>
        <p:spPr>
          <a:xfrm>
            <a:off x="4220617" y="1782812"/>
            <a:ext cx="177701" cy="238125"/>
          </a:xfrm>
          <a:prstGeom prst="rect">
            <a:avLst/>
          </a:prstGeom>
        </p:spPr>
      </p:pic>
      <p:pic>
        <p:nvPicPr>
          <p:cNvPr id="7" name="Image 2" descr="Rendered as an image because of CSS math">    </p:cNvPr>
          <p:cNvPicPr>
            <a:picLocks noChangeAspect="1"/>
          </p:cNvPicPr>
          <p:nvPr/>
        </p:nvPicPr>
        <p:blipFill>
          <a:blip r:embed="rId3"/>
          <a:stretch>
            <a:fillRect/>
          </a:stretch>
        </p:blipFill>
        <p:spPr>
          <a:xfrm>
            <a:off x="6652022" y="1782812"/>
            <a:ext cx="240357" cy="238125"/>
          </a:xfrm>
          <a:prstGeom prst="rect">
            <a:avLst/>
          </a:prstGeom>
        </p:spPr>
      </p:pic>
      <p:pic>
        <p:nvPicPr>
          <p:cNvPr id="8" name="Image 3" descr="Rendered as an image because of CSS math">    </p:cNvPr>
          <p:cNvPicPr>
            <a:picLocks noChangeAspect="1"/>
          </p:cNvPicPr>
          <p:nvPr/>
        </p:nvPicPr>
        <p:blipFill>
          <a:blip r:embed="rId4"/>
          <a:stretch>
            <a:fillRect/>
          </a:stretch>
        </p:blipFill>
        <p:spPr>
          <a:xfrm>
            <a:off x="3831729" y="2099518"/>
            <a:ext cx="1503164" cy="238125"/>
          </a:xfrm>
          <a:prstGeom prst="rect">
            <a:avLst/>
          </a:prstGeom>
        </p:spPr>
      </p:pic>
      <p:sp>
        <p:nvSpPr>
          <p:cNvPr id="9" name="Text 3"/>
          <p:cNvSpPr txBox="1"/>
          <p:nvPr/>
        </p:nvSpPr>
        <p:spPr>
          <a:xfrm>
            <a:off x="751326" y="1773287"/>
            <a:ext cx="8163371" cy="554831"/>
          </a:xfrm>
          <a:prstGeom prst="rect">
            <a:avLst/>
          </a:prstGeom>
          <a:noFill/>
          <a:ln/>
        </p:spPr>
        <p:txBody>
          <a:bodyPr wrap="square" lIns="0" tIns="0" rIns="0" bIns="0" rtlCol="0" anchor="t"/>
          <a:lstStyle/>
          <a:p>
            <a:pPr algn="l" indent="0" marL="0">
              <a:lnSpc>
                <a:spcPts val="2494"/>
              </a:lnSpc>
              <a:buNone/>
            </a:pPr>
            <a:r>
              <a:rPr lang="en-US" sz="1320" dirty="0">
                <a:solidFill>
                  <a:srgbClr val="000000"/>
                </a:solidFill>
                <a:latin typeface="Arial" pitchFamily="34" charset="0"/>
                <a:ea typeface="Arial" pitchFamily="34" charset="-122"/>
                <a:cs typeface="Arial" pitchFamily="34" charset="-120"/>
              </a:rPr>
              <a:t>统计分布假设：数据集 </a:t>
            </a:r>
            <a:pPr algn="l" indent="0" marL="0">
              <a:lnSpc>
                <a:spcPts val="2494"/>
              </a:lnSpc>
              <a:buNone/>
            </a:pPr>
            <a:r>
              <a:rPr lang="en-US" sz="1320" dirty="0">
                <a:solidFill>
                  <a:srgbClr val="000000"/>
                </a:solidFill>
                <a:latin typeface="Arial" pitchFamily="34" charset="0"/>
                <a:ea typeface="Arial" pitchFamily="34" charset="-122"/>
                <a:cs typeface="Arial" pitchFamily="34" charset="-120"/>
              </a:rPr>
              <a:t> 总是服从于表征空间 </a:t>
            </a:r>
            <a:pPr algn="l" indent="0" marL="0">
              <a:lnSpc>
                <a:spcPts val="2494"/>
              </a:lnSpc>
              <a:buNone/>
            </a:pPr>
            <a:r>
              <a:rPr lang="en-US" sz="1320" dirty="0">
                <a:solidFill>
                  <a:srgbClr val="000000"/>
                </a:solidFill>
                <a:latin typeface="Arial" pitchFamily="34" charset="0"/>
                <a:ea typeface="Arial" pitchFamily="34" charset="-122"/>
                <a:cs typeface="Arial" pitchFamily="34" charset="-120"/>
              </a:rPr>
              <a:t> 上的一个（未知的）数据分布 </a:t>
            </a:r>
            <a:pPr algn="l" indent="0" marL="0">
              <a:lnSpc>
                <a:spcPts val="2494"/>
              </a:lnSpc>
              <a:buNone/>
            </a:pPr>
            <a:r>
              <a:rPr lang="en-US" sz="1320" dirty="0">
                <a:solidFill>
                  <a:srgbClr val="000000"/>
                </a:solidFill>
                <a:latin typeface="Arial" pitchFamily="34" charset="0"/>
                <a:ea typeface="Arial" pitchFamily="34" charset="-122"/>
                <a:cs typeface="Arial" pitchFamily="34" charset="-120"/>
              </a:rPr>
              <a:t>。数据点可以看成分布的独立同分布采样 sample/实现 realization </a:t>
            </a:r>
            <a:pPr algn="l" indent="0" marL="0">
              <a:lnSpc>
                <a:spcPts val="2494"/>
              </a:lnSpc>
              <a:buNone/>
            </a:pPr>
            <a:r>
              <a:rPr lang="en-US" sz="1320" dirty="0">
                <a:solidFill>
                  <a:srgbClr val="000000"/>
                </a:solidFill>
                <a:latin typeface="Arial" pitchFamily="34" charset="0"/>
                <a:ea typeface="Arial" pitchFamily="34" charset="-122"/>
                <a:cs typeface="Arial" pitchFamily="34" charset="-120"/>
              </a:rPr>
              <a:t>，且这个分布一般默认存在密度函数。</a:t>
            </a:r>
            <a:endParaRPr lang="en-US" sz="1320" dirty="0"/>
          </a:p>
        </p:txBody>
      </p:sp>
      <p:sp>
        <p:nvSpPr>
          <p:cNvPr id="10" name="Text 4"/>
          <p:cNvSpPr txBox="1"/>
          <p:nvPr/>
        </p:nvSpPr>
        <p:spPr>
          <a:xfrm>
            <a:off x="516630" y="236324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2. </a:t>
            </a:r>
            <a:endParaRPr lang="en-US" sz="1320" dirty="0"/>
          </a:p>
        </p:txBody>
      </p:sp>
      <p:sp>
        <p:nvSpPr>
          <p:cNvPr id="11" name="Text 5"/>
          <p:cNvSpPr txBox="1"/>
          <p:nvPr/>
        </p:nvSpPr>
        <p:spPr>
          <a:xfrm>
            <a:off x="751284" y="2391817"/>
            <a:ext cx="564460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流形假设：存在一个好的表征映射，使得数据点可以嵌入到一个低维流形。</a:t>
            </a:r>
            <a:endParaRPr lang="en-US" sz="1320" dirty="0"/>
          </a:p>
        </p:txBody>
      </p:sp>
      <p:sp>
        <p:nvSpPr>
          <p:cNvPr id="12" name="Text 6"/>
          <p:cNvSpPr txBox="1"/>
          <p:nvPr/>
        </p:nvSpPr>
        <p:spPr>
          <a:xfrm>
            <a:off x="533400" y="2807940"/>
            <a:ext cx="145509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机器学习的目标：</a:t>
            </a:r>
            <a:endParaRPr lang="en-US" sz="1320" dirty="0"/>
          </a:p>
        </p:txBody>
      </p:sp>
      <p:sp>
        <p:nvSpPr>
          <p:cNvPr id="13" name="Text 7"/>
          <p:cNvSpPr txBox="1"/>
          <p:nvPr/>
        </p:nvSpPr>
        <p:spPr>
          <a:xfrm>
            <a:off x="516630" y="31984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1. </a:t>
            </a:r>
            <a:endParaRPr lang="en-US" sz="1320" dirty="0"/>
          </a:p>
        </p:txBody>
      </p:sp>
      <p:sp>
        <p:nvSpPr>
          <p:cNvPr id="14" name="Text 8"/>
          <p:cNvSpPr txBox="1"/>
          <p:nvPr/>
        </p:nvSpPr>
        <p:spPr>
          <a:xfrm>
            <a:off x="751284" y="3227040"/>
            <a:ext cx="673402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密度估计（生成式任务）：根据数据集估计分布，以便可以采样出</a:t>
            </a:r>
            <a:pPr algn="l" indent="0" marL="0">
              <a:buNone/>
            </a:pPr>
            <a:r>
              <a:rPr lang="en-US" sz="1320" b="1" dirty="0">
                <a:solidFill>
                  <a:srgbClr val="000000"/>
                </a:solidFill>
                <a:latin typeface="Arial" pitchFamily="34" charset="0"/>
                <a:ea typeface="Arial" pitchFamily="34" charset="-122"/>
                <a:cs typeface="Arial" pitchFamily="34" charset="-120"/>
              </a:rPr>
              <a:t>与数据集一致</a:t>
            </a:r>
            <a:pPr algn="l" indent="0" marL="0">
              <a:buNone/>
            </a:pPr>
            <a:r>
              <a:rPr lang="en-US" sz="1320" dirty="0">
                <a:solidFill>
                  <a:srgbClr val="000000"/>
                </a:solidFill>
                <a:latin typeface="Arial" pitchFamily="34" charset="0"/>
                <a:ea typeface="Arial" pitchFamily="34" charset="-122"/>
                <a:cs typeface="Arial" pitchFamily="34" charset="-120"/>
              </a:rPr>
              <a:t>的新数据。</a:t>
            </a:r>
            <a:endParaRPr lang="en-US" sz="1320" dirty="0"/>
          </a:p>
        </p:txBody>
      </p:sp>
      <p:sp>
        <p:nvSpPr>
          <p:cNvPr id="15" name="Text 9"/>
          <p:cNvSpPr txBox="1"/>
          <p:nvPr/>
        </p:nvSpPr>
        <p:spPr>
          <a:xfrm>
            <a:off x="516630" y="350028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2. </a:t>
            </a:r>
            <a:endParaRPr lang="en-US" sz="1320" dirty="0"/>
          </a:p>
        </p:txBody>
      </p:sp>
      <p:pic>
        <p:nvPicPr>
          <p:cNvPr id="16" name="Image 4" descr="Rendered as an image because of CSS math">    </p:cNvPr>
          <p:cNvPicPr>
            <a:picLocks noChangeAspect="1"/>
          </p:cNvPicPr>
          <p:nvPr/>
        </p:nvPicPr>
        <p:blipFill>
          <a:blip r:embed="rId5"/>
          <a:stretch>
            <a:fillRect/>
          </a:stretch>
        </p:blipFill>
        <p:spPr>
          <a:xfrm>
            <a:off x="4261842" y="3538389"/>
            <a:ext cx="1285131" cy="238125"/>
          </a:xfrm>
          <a:prstGeom prst="rect">
            <a:avLst/>
          </a:prstGeom>
        </p:spPr>
      </p:pic>
      <p:pic>
        <p:nvPicPr>
          <p:cNvPr id="17" name="Image 5" descr="Rendered as an image because of CSS math">    </p:cNvPr>
          <p:cNvPicPr>
            <a:picLocks noChangeAspect="1"/>
          </p:cNvPicPr>
          <p:nvPr/>
        </p:nvPicPr>
        <p:blipFill>
          <a:blip r:embed="rId6"/>
          <a:stretch>
            <a:fillRect/>
          </a:stretch>
        </p:blipFill>
        <p:spPr>
          <a:xfrm>
            <a:off x="6590109" y="3538389"/>
            <a:ext cx="531019" cy="238125"/>
          </a:xfrm>
          <a:prstGeom prst="rect">
            <a:avLst/>
          </a:prstGeom>
        </p:spPr>
      </p:pic>
      <p:sp>
        <p:nvSpPr>
          <p:cNvPr id="18" name="Text 10"/>
          <p:cNvSpPr txBox="1"/>
          <p:nvPr/>
        </p:nvSpPr>
        <p:spPr>
          <a:xfrm>
            <a:off x="751284" y="3528864"/>
            <a:ext cx="66518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模式识别（判别式任务）： 根据带标签的数据集 </a:t>
            </a:r>
            <a:pPr algn="l" indent="0" marL="0">
              <a:buNone/>
            </a:pPr>
            <a:r>
              <a:rPr lang="en-US" sz="1320" dirty="0">
                <a:solidFill>
                  <a:srgbClr val="000000"/>
                </a:solidFill>
                <a:latin typeface="Arial" pitchFamily="34" charset="0"/>
                <a:ea typeface="Arial" pitchFamily="34" charset="-122"/>
                <a:cs typeface="Arial" pitchFamily="34" charset="-120"/>
              </a:rPr>
              <a:t>，求后验分布 </a:t>
            </a:r>
            <a:pPr algn="l" indent="0" marL="0">
              <a:buNone/>
            </a:pPr>
            <a:r>
              <a:rPr lang="en-US" sz="1320" dirty="0">
                <a:solidFill>
                  <a:srgbClr val="000000"/>
                </a:solidFill>
                <a:latin typeface="Arial" pitchFamily="34" charset="0"/>
                <a:ea typeface="Arial" pitchFamily="34" charset="-122"/>
                <a:cs typeface="Arial" pitchFamily="34" charset="-120"/>
              </a:rPr>
              <a:t>。</a:t>
            </a:r>
            <a:endParaRPr lang="en-US" sz="1320" dirty="0"/>
          </a:p>
        </p:txBody>
      </p:sp>
      <p:sp>
        <p:nvSpPr>
          <p:cNvPr id="19" name="Text 11"/>
          <p:cNvSpPr txBox="1"/>
          <p:nvPr/>
        </p:nvSpPr>
        <p:spPr>
          <a:xfrm>
            <a:off x="516630" y="38021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3. </a:t>
            </a:r>
            <a:endParaRPr lang="en-US" sz="1320" dirty="0"/>
          </a:p>
        </p:txBody>
      </p:sp>
      <p:pic>
        <p:nvPicPr>
          <p:cNvPr id="20" name="Image 6" descr="Rendered as an image because of CSS math">    </p:cNvPr>
          <p:cNvPicPr>
            <a:picLocks noChangeAspect="1"/>
          </p:cNvPicPr>
          <p:nvPr/>
        </p:nvPicPr>
        <p:blipFill>
          <a:blip r:embed="rId7"/>
          <a:stretch>
            <a:fillRect/>
          </a:stretch>
        </p:blipFill>
        <p:spPr>
          <a:xfrm>
            <a:off x="2297162" y="3840212"/>
            <a:ext cx="924669" cy="238125"/>
          </a:xfrm>
          <a:prstGeom prst="rect">
            <a:avLst/>
          </a:prstGeom>
        </p:spPr>
      </p:pic>
      <p:pic>
        <p:nvPicPr>
          <p:cNvPr id="21" name="Image 7" descr="Rendered as an image because of CSS math">    </p:cNvPr>
          <p:cNvPicPr>
            <a:picLocks noChangeAspect="1"/>
          </p:cNvPicPr>
          <p:nvPr/>
        </p:nvPicPr>
        <p:blipFill>
          <a:blip r:embed="rId8"/>
          <a:stretch>
            <a:fillRect/>
          </a:stretch>
        </p:blipFill>
        <p:spPr>
          <a:xfrm>
            <a:off x="5102870" y="3840212"/>
            <a:ext cx="147786" cy="238125"/>
          </a:xfrm>
          <a:prstGeom prst="rect">
            <a:avLst/>
          </a:prstGeom>
        </p:spPr>
      </p:pic>
      <p:pic>
        <p:nvPicPr>
          <p:cNvPr id="22" name="Image 8" descr="Rendered as an image because of CSS math">    </p:cNvPr>
          <p:cNvPicPr>
            <a:picLocks noChangeAspect="1"/>
          </p:cNvPicPr>
          <p:nvPr/>
        </p:nvPicPr>
        <p:blipFill>
          <a:blip r:embed="rId9"/>
          <a:stretch>
            <a:fillRect/>
          </a:stretch>
        </p:blipFill>
        <p:spPr>
          <a:xfrm>
            <a:off x="5996136" y="3840212"/>
            <a:ext cx="230832" cy="238125"/>
          </a:xfrm>
          <a:prstGeom prst="rect">
            <a:avLst/>
          </a:prstGeom>
        </p:spPr>
      </p:pic>
      <p:sp>
        <p:nvSpPr>
          <p:cNvPr id="23" name="Text 12"/>
          <p:cNvSpPr txBox="1"/>
          <p:nvPr/>
        </p:nvSpPr>
        <p:spPr>
          <a:xfrm>
            <a:off x="751326" y="3830687"/>
            <a:ext cx="8206636"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表征学习：找到映射 </a:t>
            </a:r>
            <a:pPr algn="l" indent="0" marL="0">
              <a:lnSpc>
                <a:spcPts val="2377"/>
              </a:lnSpc>
              <a:buNone/>
            </a:pPr>
            <a:r>
              <a:rPr lang="en-US" sz="1320" dirty="0">
                <a:solidFill>
                  <a:srgbClr val="000000"/>
                </a:solidFill>
                <a:latin typeface="Arial" pitchFamily="34" charset="0"/>
                <a:ea typeface="Arial" pitchFamily="34" charset="-122"/>
                <a:cs typeface="Arial" pitchFamily="34" charset="-120"/>
              </a:rPr>
              <a:t>，使得变换后的表征空间 </a:t>
            </a:r>
            <a:pPr algn="l" indent="0" marL="0">
              <a:lnSpc>
                <a:spcPts val="2377"/>
              </a:lnSpc>
              <a:buNone/>
            </a:pPr>
            <a:r>
              <a:rPr lang="en-US" sz="1320" dirty="0">
                <a:solidFill>
                  <a:srgbClr val="000000"/>
                </a:solidFill>
                <a:latin typeface="Arial" pitchFamily="34" charset="0"/>
                <a:ea typeface="Arial" pitchFamily="34" charset="-122"/>
                <a:cs typeface="Arial" pitchFamily="34" charset="-120"/>
              </a:rPr>
              <a:t> 上的分布 </a:t>
            </a:r>
            <a:pPr algn="l" indent="0" marL="0">
              <a:lnSpc>
                <a:spcPts val="2377"/>
              </a:lnSpc>
              <a:buNone/>
            </a:pPr>
            <a:r>
              <a:rPr lang="en-US" sz="1320" dirty="0">
                <a:solidFill>
                  <a:srgbClr val="000000"/>
                </a:solidFill>
                <a:latin typeface="Arial" pitchFamily="34" charset="0"/>
                <a:ea typeface="Arial" pitchFamily="34" charset="-122"/>
                <a:cs typeface="Arial" pitchFamily="34" charset="-120"/>
              </a:rPr>
              <a:t> 有更简单的形式。它使得生成式任务的采样更容易，使得判别式任务的决策更容易。</a:t>
            </a:r>
            <a:endParaRPr lang="en-US" sz="1320" dirty="0"/>
          </a:p>
        </p:txBody>
      </p:sp>
      <p:pic>
        <p:nvPicPr>
          <p:cNvPr id="24" name="Image 9" descr="Rendered as an image because of CSS background-image">    </p:cNvPr>
          <p:cNvPicPr>
            <a:picLocks noChangeAspect="1"/>
          </p:cNvPicPr>
          <p:nvPr/>
        </p:nvPicPr>
        <p:blipFill>
          <a:blip r:embed="rId10"/>
          <a:stretch>
            <a:fillRect/>
          </a:stretch>
        </p:blipFill>
        <p:spPr>
          <a:xfrm>
            <a:off x="0" y="210294"/>
            <a:ext cx="326678" cy="838200"/>
          </a:xfrm>
          <a:prstGeom prst="rect">
            <a:avLst/>
          </a:prstGeom>
        </p:spPr>
      </p:pic>
      <p:pic>
        <p:nvPicPr>
          <p:cNvPr id="25" name="Image 10" descr="Rendered as an image because of CSS background-image">    </p:cNvPr>
          <p:cNvPicPr>
            <a:picLocks noChangeAspect="1"/>
          </p:cNvPicPr>
          <p:nvPr/>
        </p:nvPicPr>
        <p:blipFill>
          <a:blip r:embed="rId11"/>
          <a:stretch>
            <a:fillRect/>
          </a:stretch>
        </p:blipFill>
        <p:spPr>
          <a:xfrm>
            <a:off x="0" y="5029200"/>
            <a:ext cx="9334500" cy="228600"/>
          </a:xfrm>
          <a:prstGeom prst="rect">
            <a:avLst/>
          </a:prstGeom>
        </p:spPr>
      </p:pic>
      <p:sp>
        <p:nvSpPr>
          <p:cNvPr id="26" name="Text 13"/>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7" name="Shape 14"/>
          <p:cNvSpPr/>
          <p:nvPr/>
        </p:nvSpPr>
        <p:spPr>
          <a:xfrm>
            <a:off x="647700" y="5067300"/>
            <a:ext cx="9525" cy="152400"/>
          </a:xfrm>
          <a:prstGeom prst="rect">
            <a:avLst/>
          </a:prstGeom>
          <a:solidFill>
            <a:srgbClr val="F0FFFF"/>
          </a:solidFill>
          <a:ln/>
        </p:spPr>
      </p:sp>
      <p:sp>
        <p:nvSpPr>
          <p:cNvPr id="28" name="Text 15"/>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9" name="Text 16"/>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30" name="Text 17"/>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11</a:t>
            </a:r>
            <a:endParaRPr lang="en-US" sz="1050" dirty="0"/>
          </a:p>
        </p:txBody>
      </p:sp>
      <p:sp>
        <p:nvSpPr>
          <p:cNvPr id="31" name="Text 18"/>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32" name="Text 19"/>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287018" y="1550491"/>
            <a:ext cx="2857649" cy="495300"/>
          </a:xfrm>
          <a:prstGeom prst="rect">
            <a:avLst/>
          </a:prstGeom>
          <a:noFill/>
          <a:ln/>
        </p:spPr>
        <p:txBody>
          <a:bodyPr wrap="none" lIns="0" tIns="0" rIns="0" bIns="0" rtlCol="0" anchor="t"/>
          <a:lstStyle/>
          <a:p>
            <a:pPr algn="l" indent="0" marL="0">
              <a:buNone/>
            </a:pPr>
            <a:r>
              <a:rPr lang="en-US" sz="2700" dirty="0">
                <a:solidFill>
                  <a:srgbClr val="000000"/>
                </a:solidFill>
                <a:latin typeface="Arial" pitchFamily="34" charset="0"/>
                <a:ea typeface="Arial" pitchFamily="34" charset="-122"/>
                <a:cs typeface="Arial" pitchFamily="34" charset="-120"/>
              </a:rPr>
              <a:t>深度学习基本概念</a:t>
            </a:r>
            <a:endParaRPr lang="en-US" sz="2700" dirty="0"/>
          </a:p>
        </p:txBody>
      </p:sp>
      <p:sp>
        <p:nvSpPr>
          <p:cNvPr id="3" name="Text 1"/>
          <p:cNvSpPr txBox="1"/>
          <p:nvPr/>
        </p:nvSpPr>
        <p:spPr>
          <a:xfrm>
            <a:off x="3287363" y="21410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3522018" y="2169616"/>
            <a:ext cx="128751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深度学习的特点</a:t>
            </a:r>
            <a:endParaRPr lang="en-US" sz="1320" dirty="0"/>
          </a:p>
        </p:txBody>
      </p:sp>
      <p:sp>
        <p:nvSpPr>
          <p:cNvPr id="5" name="Text 3"/>
          <p:cNvSpPr txBox="1"/>
          <p:nvPr/>
        </p:nvSpPr>
        <p:spPr>
          <a:xfrm>
            <a:off x="3287363" y="24428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3522018" y="2471440"/>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模型：人工神经网络</a:t>
            </a:r>
            <a:endParaRPr lang="en-US" sz="1320" dirty="0"/>
          </a:p>
        </p:txBody>
      </p:sp>
      <p:sp>
        <p:nvSpPr>
          <p:cNvPr id="7" name="Text 5"/>
          <p:cNvSpPr txBox="1"/>
          <p:nvPr/>
        </p:nvSpPr>
        <p:spPr>
          <a:xfrm>
            <a:off x="3287363" y="27446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3522018" y="2773263"/>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推理和训练</a:t>
            </a:r>
            <a:endParaRPr lang="en-US" sz="1320" dirty="0"/>
          </a:p>
        </p:txBody>
      </p:sp>
      <p:sp>
        <p:nvSpPr>
          <p:cNvPr id="9" name="Text 7"/>
          <p:cNvSpPr txBox="1"/>
          <p:nvPr/>
        </p:nvSpPr>
        <p:spPr>
          <a:xfrm>
            <a:off x="3287363" y="30465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3522018" y="3075087"/>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梯度优化器</a:t>
            </a:r>
            <a:endParaRPr lang="en-US" sz="1320" dirty="0"/>
          </a:p>
        </p:txBody>
      </p:sp>
      <p:sp>
        <p:nvSpPr>
          <p:cNvPr id="11" name="Text 9"/>
          <p:cNvSpPr txBox="1"/>
          <p:nvPr/>
        </p:nvSpPr>
        <p:spPr>
          <a:xfrm>
            <a:off x="3287363" y="33483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3522018" y="3376910"/>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正向传播和反向传播</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34480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深度学习的特点</a:t>
            </a:r>
            <a:endParaRPr lang="en-US" sz="3750" dirty="0"/>
          </a:p>
        </p:txBody>
      </p:sp>
      <p:sp>
        <p:nvSpPr>
          <p:cNvPr id="3" name="Text 1"/>
          <p:cNvSpPr txBox="1"/>
          <p:nvPr/>
        </p:nvSpPr>
        <p:spPr>
          <a:xfrm>
            <a:off x="516630" y="1211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1. </a:t>
            </a:r>
            <a:endParaRPr lang="en-US" sz="1320" dirty="0"/>
          </a:p>
        </p:txBody>
      </p:sp>
      <p:sp>
        <p:nvSpPr>
          <p:cNvPr id="4" name="Text 2"/>
          <p:cNvSpPr txBox="1"/>
          <p:nvPr/>
        </p:nvSpPr>
        <p:spPr>
          <a:xfrm>
            <a:off x="751284" y="1239887"/>
            <a:ext cx="7847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匀质化：</a:t>
            </a:r>
            <a:endParaRPr lang="en-US" sz="1320" dirty="0"/>
          </a:p>
        </p:txBody>
      </p:sp>
      <p:sp>
        <p:nvSpPr>
          <p:cNvPr id="5" name="Text 3"/>
          <p:cNvSpPr txBox="1"/>
          <p:nvPr/>
        </p:nvSpPr>
        <p:spPr>
          <a:xfrm>
            <a:off x="734514" y="151313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969169" y="1541711"/>
            <a:ext cx="229299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硬件：重复的简单计算单元。</a:t>
            </a:r>
            <a:endParaRPr lang="en-US" sz="1320" dirty="0"/>
          </a:p>
        </p:txBody>
      </p:sp>
      <p:sp>
        <p:nvSpPr>
          <p:cNvPr id="7" name="Text 5"/>
          <p:cNvSpPr txBox="1"/>
          <p:nvPr/>
        </p:nvSpPr>
        <p:spPr>
          <a:xfrm>
            <a:off x="734514" y="18149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969169" y="1843534"/>
            <a:ext cx="296331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模型：重复的结构相似的神经网络层。</a:t>
            </a:r>
            <a:endParaRPr lang="en-US" sz="1320" dirty="0"/>
          </a:p>
        </p:txBody>
      </p:sp>
      <p:sp>
        <p:nvSpPr>
          <p:cNvPr id="9" name="Text 7"/>
          <p:cNvSpPr txBox="1"/>
          <p:nvPr/>
        </p:nvSpPr>
        <p:spPr>
          <a:xfrm>
            <a:off x="734514" y="211678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969169" y="2145357"/>
            <a:ext cx="346605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训练和推理：统一的计算过程，与模型解耦。</a:t>
            </a:r>
            <a:endParaRPr lang="en-US" sz="1320" dirty="0"/>
          </a:p>
        </p:txBody>
      </p:sp>
      <p:sp>
        <p:nvSpPr>
          <p:cNvPr id="11" name="Text 9"/>
          <p:cNvSpPr txBox="1"/>
          <p:nvPr/>
        </p:nvSpPr>
        <p:spPr>
          <a:xfrm>
            <a:off x="734514" y="241860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969169" y="2447181"/>
            <a:ext cx="313089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数据：统一的张量表示不同模态的数据。</a:t>
            </a:r>
            <a:endParaRPr lang="en-US" sz="1320" dirty="0"/>
          </a:p>
        </p:txBody>
      </p:sp>
      <p:sp>
        <p:nvSpPr>
          <p:cNvPr id="13" name="Text 11"/>
          <p:cNvSpPr txBox="1"/>
          <p:nvPr/>
        </p:nvSpPr>
        <p:spPr>
          <a:xfrm>
            <a:off x="734514" y="272042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2"/>
          <p:cNvSpPr txBox="1"/>
          <p:nvPr/>
        </p:nvSpPr>
        <p:spPr>
          <a:xfrm>
            <a:off x="969169" y="2749004"/>
            <a:ext cx="262815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任务：统一的计算处理不同任务。</a:t>
            </a:r>
            <a:endParaRPr lang="en-US" sz="1320" dirty="0"/>
          </a:p>
        </p:txBody>
      </p:sp>
      <p:sp>
        <p:nvSpPr>
          <p:cNvPr id="15" name="Text 13"/>
          <p:cNvSpPr txBox="1"/>
          <p:nvPr/>
        </p:nvSpPr>
        <p:spPr>
          <a:xfrm>
            <a:off x="516630" y="302225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2. </a:t>
            </a:r>
            <a:endParaRPr lang="en-US" sz="1320" dirty="0"/>
          </a:p>
        </p:txBody>
      </p:sp>
      <p:sp>
        <p:nvSpPr>
          <p:cNvPr id="16" name="Text 14"/>
          <p:cNvSpPr txBox="1"/>
          <p:nvPr/>
        </p:nvSpPr>
        <p:spPr>
          <a:xfrm>
            <a:off x="751284" y="3050828"/>
            <a:ext cx="7847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规模化：</a:t>
            </a:r>
            <a:endParaRPr lang="en-US" sz="1320" dirty="0"/>
          </a:p>
        </p:txBody>
      </p:sp>
      <p:sp>
        <p:nvSpPr>
          <p:cNvPr id="17" name="Text 15"/>
          <p:cNvSpPr txBox="1"/>
          <p:nvPr/>
        </p:nvSpPr>
        <p:spPr>
          <a:xfrm>
            <a:off x="734514" y="332407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8" name="Text 16"/>
          <p:cNvSpPr txBox="1"/>
          <p:nvPr/>
        </p:nvSpPr>
        <p:spPr>
          <a:xfrm>
            <a:off x="969169" y="3352651"/>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模型规模化</a:t>
            </a:r>
            <a:endParaRPr lang="en-US" sz="1320" dirty="0"/>
          </a:p>
        </p:txBody>
      </p:sp>
      <p:sp>
        <p:nvSpPr>
          <p:cNvPr id="19" name="Text 17"/>
          <p:cNvSpPr txBox="1"/>
          <p:nvPr/>
        </p:nvSpPr>
        <p:spPr>
          <a:xfrm>
            <a:off x="734514" y="362590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0" name="Text 18"/>
          <p:cNvSpPr txBox="1"/>
          <p:nvPr/>
        </p:nvSpPr>
        <p:spPr>
          <a:xfrm>
            <a:off x="969169" y="3654475"/>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数据规模化</a:t>
            </a:r>
            <a:endParaRPr lang="en-US" sz="1320" dirty="0"/>
          </a:p>
        </p:txBody>
      </p:sp>
      <p:sp>
        <p:nvSpPr>
          <p:cNvPr id="21" name="Text 19"/>
          <p:cNvSpPr txBox="1"/>
          <p:nvPr/>
        </p:nvSpPr>
        <p:spPr>
          <a:xfrm>
            <a:off x="516630" y="392772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3. </a:t>
            </a:r>
            <a:endParaRPr lang="en-US" sz="1320" dirty="0"/>
          </a:p>
        </p:txBody>
      </p:sp>
      <p:sp>
        <p:nvSpPr>
          <p:cNvPr id="22" name="Text 20"/>
          <p:cNvSpPr txBox="1"/>
          <p:nvPr/>
        </p:nvSpPr>
        <p:spPr>
          <a:xfrm>
            <a:off x="751326" y="3956298"/>
            <a:ext cx="4647414"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端到端：传统机器学习流程中异质性的处理步骤不断被整合进匀质的神经网络计算。</a:t>
            </a:r>
            <a:endParaRPr lang="en-US" sz="1320" dirty="0"/>
          </a:p>
        </p:txBody>
      </p:sp>
      <p:pic>
        <p:nvPicPr>
          <p:cNvPr id="23" name="Image 0" descr="preencoded.png">    </p:cNvPr>
          <p:cNvPicPr>
            <a:picLocks noChangeAspect="1"/>
          </p:cNvPicPr>
          <p:nvPr/>
        </p:nvPicPr>
        <p:blipFill>
          <a:blip r:embed="rId1"/>
          <a:stretch>
            <a:fillRect/>
          </a:stretch>
        </p:blipFill>
        <p:spPr>
          <a:xfrm>
            <a:off x="5570190" y="1211312"/>
            <a:ext cx="3230910" cy="3774877"/>
          </a:xfrm>
          <a:prstGeom prst="rect">
            <a:avLst/>
          </a:prstGeom>
        </p:spPr>
      </p:pic>
      <p:pic>
        <p:nvPicPr>
          <p:cNvPr id="24"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25"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26" name="Text 2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7" name="Shape 22"/>
          <p:cNvSpPr/>
          <p:nvPr/>
        </p:nvSpPr>
        <p:spPr>
          <a:xfrm>
            <a:off x="647700" y="5067300"/>
            <a:ext cx="9525" cy="152400"/>
          </a:xfrm>
          <a:prstGeom prst="rect">
            <a:avLst/>
          </a:prstGeom>
          <a:solidFill>
            <a:srgbClr val="F0FFFF"/>
          </a:solidFill>
          <a:ln/>
        </p:spPr>
      </p:sp>
      <p:sp>
        <p:nvSpPr>
          <p:cNvPr id="28" name="Text 2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9" name="Text 2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30" name="Text 2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13</a:t>
            </a:r>
            <a:endParaRPr lang="en-US" sz="1050" dirty="0"/>
          </a:p>
        </p:txBody>
      </p:sp>
      <p:sp>
        <p:nvSpPr>
          <p:cNvPr id="31" name="Text 2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32" name="Text 2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44005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模型：人工神经网络</a:t>
            </a:r>
            <a:endParaRPr lang="en-US" sz="3750" dirty="0"/>
          </a:p>
        </p:txBody>
      </p:sp>
      <p:sp>
        <p:nvSpPr>
          <p:cNvPr id="3" name="Text 1"/>
          <p:cNvSpPr txBox="1"/>
          <p:nvPr/>
        </p:nvSpPr>
        <p:spPr>
          <a:xfrm>
            <a:off x="516630" y="13637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1392287"/>
            <a:ext cx="77125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感知机 perceptron (Rosenblatt,1958)：用线性变换加上一个非线性激活（例如 sigmoid, tanh, ReLU）</a:t>
            </a:r>
            <a:endParaRPr lang="en-US" sz="1320" dirty="0"/>
          </a:p>
        </p:txBody>
      </p:sp>
      <p:pic>
        <p:nvPicPr>
          <p:cNvPr id="5" name="Image 0" descr="Rendered as an image because of CSS math">    </p:cNvPr>
          <p:cNvPicPr>
            <a:picLocks noChangeAspect="1"/>
          </p:cNvPicPr>
          <p:nvPr/>
        </p:nvPicPr>
        <p:blipFill>
          <a:blip r:embed="rId1"/>
          <a:stretch>
            <a:fillRect/>
          </a:stretch>
        </p:blipFill>
        <p:spPr>
          <a:xfrm>
            <a:off x="751284" y="1797993"/>
            <a:ext cx="8049816" cy="263872"/>
          </a:xfrm>
          <a:prstGeom prst="rect">
            <a:avLst/>
          </a:prstGeom>
        </p:spPr>
      </p:pic>
      <p:sp>
        <p:nvSpPr>
          <p:cNvPr id="6" name="Text 3"/>
          <p:cNvSpPr txBox="1"/>
          <p:nvPr/>
        </p:nvSpPr>
        <p:spPr>
          <a:xfrm>
            <a:off x="751284" y="2219920"/>
            <a:ext cx="354970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模拟生物神经细胞对刺激的响应。（异或问题）</a:t>
            </a:r>
            <a:endParaRPr lang="en-US" sz="1320" dirty="0"/>
          </a:p>
        </p:txBody>
      </p:sp>
      <p:sp>
        <p:nvSpPr>
          <p:cNvPr id="7" name="Text 4"/>
          <p:cNvSpPr txBox="1"/>
          <p:nvPr/>
        </p:nvSpPr>
        <p:spPr>
          <a:xfrm>
            <a:off x="516630" y="261044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5"/>
          <p:cNvSpPr txBox="1"/>
          <p:nvPr/>
        </p:nvSpPr>
        <p:spPr>
          <a:xfrm>
            <a:off x="751284" y="2639020"/>
            <a:ext cx="5431929"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多层感知机 multilayer perceptron (Rumelhart,1987)：堆叠多层感知机</a:t>
            </a:r>
            <a:endParaRPr lang="en-US" sz="1320" dirty="0"/>
          </a:p>
        </p:txBody>
      </p:sp>
      <p:pic>
        <p:nvPicPr>
          <p:cNvPr id="9" name="Image 1" descr="Rendered as an image because of CSS math">    </p:cNvPr>
          <p:cNvPicPr>
            <a:picLocks noChangeAspect="1"/>
          </p:cNvPicPr>
          <p:nvPr/>
        </p:nvPicPr>
        <p:blipFill>
          <a:blip r:embed="rId2"/>
          <a:stretch>
            <a:fillRect/>
          </a:stretch>
        </p:blipFill>
        <p:spPr>
          <a:xfrm>
            <a:off x="751284" y="3044726"/>
            <a:ext cx="8049816" cy="271760"/>
          </a:xfrm>
          <a:prstGeom prst="rect">
            <a:avLst/>
          </a:prstGeom>
        </p:spPr>
      </p:pic>
      <p:sp>
        <p:nvSpPr>
          <p:cNvPr id="10" name="Text 6"/>
          <p:cNvSpPr txBox="1"/>
          <p:nvPr/>
        </p:nvSpPr>
        <p:spPr>
          <a:xfrm>
            <a:off x="751284" y="3474541"/>
            <a:ext cx="489064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并提出相应的反向传播算法，</a:t>
            </a:r>
            <a:pPr algn="l" indent="0" marL="0">
              <a:buNone/>
            </a:pPr>
            <a:r>
              <a:rPr lang="en-US" sz="1320" u="dash" dirty="0">
                <a:solidFill>
                  <a:srgbClr val="00000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解决了异或问题</a:t>
            </a:r>
            <a:pPr algn="l" indent="0" marL="0">
              <a:buNone/>
            </a:pPr>
            <a:r>
              <a:rPr lang="en-US" sz="1320" dirty="0">
                <a:solidFill>
                  <a:srgbClr val="000000"/>
                </a:solidFill>
                <a:latin typeface="Arial" pitchFamily="34" charset="0"/>
                <a:ea typeface="Arial" pitchFamily="34" charset="-122"/>
                <a:cs typeface="Arial" pitchFamily="34" charset="-120"/>
              </a:rPr>
              <a:t>。（通用逼近定理）</a:t>
            </a:r>
            <a:endParaRPr lang="en-US" sz="1320" dirty="0"/>
          </a:p>
        </p:txBody>
      </p:sp>
      <p:sp>
        <p:nvSpPr>
          <p:cNvPr id="11" name="Text 7"/>
          <p:cNvSpPr txBox="1"/>
          <p:nvPr/>
        </p:nvSpPr>
        <p:spPr>
          <a:xfrm>
            <a:off x="516630" y="386506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8"/>
          <p:cNvSpPr txBox="1"/>
          <p:nvPr/>
        </p:nvSpPr>
        <p:spPr>
          <a:xfrm>
            <a:off x="751284" y="3893641"/>
            <a:ext cx="8068866" cy="466725"/>
          </a:xfrm>
          <a:prstGeom prst="rect">
            <a:avLst/>
          </a:prstGeom>
          <a:noFill/>
          <a:ln/>
        </p:spPr>
        <p:txBody>
          <a:bodyPr wrap="square" lIns="0" tIns="0" rIns="0" bIns="0" rtlCol="0" anchor="t"/>
          <a:lstStyle/>
          <a:p>
            <a:pPr algn="l" indent="0" marL="0">
              <a:lnSpc>
                <a:spcPts val="1800"/>
              </a:lnSpc>
              <a:buNone/>
            </a:pPr>
            <a:r>
              <a:rPr lang="en-US" sz="1320" dirty="0">
                <a:solidFill>
                  <a:srgbClr val="000000"/>
                </a:solidFill>
                <a:latin typeface="Arial" pitchFamily="34" charset="0"/>
                <a:ea typeface="Arial" pitchFamily="34" charset="-122"/>
                <a:cs typeface="Arial" pitchFamily="34" charset="-120"/>
              </a:rPr>
              <a:t>现代神经网络的基础模块：CNN(1998)，RNN/LSTM(1997)，ResNet(2015)，Attention(2014), Transformer(2017)</a:t>
            </a:r>
            <a:endParaRPr lang="en-US" sz="1320" dirty="0"/>
          </a:p>
        </p:txBody>
      </p:sp>
      <p:pic>
        <p:nvPicPr>
          <p:cNvPr id="13" name="Image 2" descr="Rendered as an image because of CSS background-image">    </p:cNvPr>
          <p:cNvPicPr>
            <a:picLocks noChangeAspect="1"/>
          </p:cNvPicPr>
          <p:nvPr/>
        </p:nvPicPr>
        <p:blipFill>
          <a:blip r:embed="rId4"/>
          <a:stretch>
            <a:fillRect/>
          </a:stretch>
        </p:blipFill>
        <p:spPr>
          <a:xfrm>
            <a:off x="0" y="210294"/>
            <a:ext cx="326678" cy="838200"/>
          </a:xfrm>
          <a:prstGeom prst="rect">
            <a:avLst/>
          </a:prstGeom>
        </p:spPr>
      </p:pic>
      <p:pic>
        <p:nvPicPr>
          <p:cNvPr id="14" name="Image 3" descr="Rendered as an image because of CSS background-image">    </p:cNvPr>
          <p:cNvPicPr>
            <a:picLocks noChangeAspect="1"/>
          </p:cNvPicPr>
          <p:nvPr/>
        </p:nvPicPr>
        <p:blipFill>
          <a:blip r:embed="rId5"/>
          <a:stretch>
            <a:fillRect/>
          </a:stretch>
        </p:blipFill>
        <p:spPr>
          <a:xfrm>
            <a:off x="0" y="5029200"/>
            <a:ext cx="9334500" cy="228600"/>
          </a:xfrm>
          <a:prstGeom prst="rect">
            <a:avLst/>
          </a:prstGeom>
        </p:spPr>
      </p:pic>
      <p:sp>
        <p:nvSpPr>
          <p:cNvPr id="15" name="Text 9"/>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6" name="Shape 10"/>
          <p:cNvSpPr/>
          <p:nvPr/>
        </p:nvSpPr>
        <p:spPr>
          <a:xfrm>
            <a:off x="647700" y="5067300"/>
            <a:ext cx="9525" cy="152400"/>
          </a:xfrm>
          <a:prstGeom prst="rect">
            <a:avLst/>
          </a:prstGeom>
          <a:solidFill>
            <a:srgbClr val="F0FFFF"/>
          </a:solidFill>
          <a:ln/>
        </p:spPr>
      </p:sp>
      <p:sp>
        <p:nvSpPr>
          <p:cNvPr id="17" name="Text 11"/>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8" name="Text 12"/>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9" name="Text 13"/>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14</a:t>
            </a:r>
            <a:endParaRPr lang="en-US" sz="1050" dirty="0"/>
          </a:p>
        </p:txBody>
      </p:sp>
      <p:sp>
        <p:nvSpPr>
          <p:cNvPr id="20" name="Text 14"/>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1" name="Text 15"/>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4955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推理和训练</a:t>
            </a:r>
            <a:endParaRPr lang="en-US" sz="3750" dirty="0"/>
          </a:p>
        </p:txBody>
      </p:sp>
      <p:sp>
        <p:nvSpPr>
          <p:cNvPr id="3" name="Text 1"/>
          <p:cNvSpPr txBox="1"/>
          <p:nvPr/>
        </p:nvSpPr>
        <p:spPr>
          <a:xfrm>
            <a:off x="516630" y="1211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4" name="Image 0" descr="Rendered as an image because of CSS math">    </p:cNvPr>
          <p:cNvPicPr>
            <a:picLocks noChangeAspect="1"/>
          </p:cNvPicPr>
          <p:nvPr/>
        </p:nvPicPr>
        <p:blipFill>
          <a:blip r:embed="rId1"/>
          <a:stretch>
            <a:fillRect/>
          </a:stretch>
        </p:blipFill>
        <p:spPr>
          <a:xfrm>
            <a:off x="2632323" y="1249412"/>
            <a:ext cx="1463576" cy="238125"/>
          </a:xfrm>
          <a:prstGeom prst="rect">
            <a:avLst/>
          </a:prstGeom>
        </p:spPr>
      </p:pic>
      <p:pic>
        <p:nvPicPr>
          <p:cNvPr id="5" name="Image 1" descr="Rendered as an image because of CSS math">    </p:cNvPr>
          <p:cNvPicPr>
            <a:picLocks noChangeAspect="1"/>
          </p:cNvPicPr>
          <p:nvPr/>
        </p:nvPicPr>
        <p:blipFill>
          <a:blip r:embed="rId2"/>
          <a:stretch>
            <a:fillRect/>
          </a:stretch>
        </p:blipFill>
        <p:spPr>
          <a:xfrm>
            <a:off x="5306616" y="1249412"/>
            <a:ext cx="175915" cy="238125"/>
          </a:xfrm>
          <a:prstGeom prst="rect">
            <a:avLst/>
          </a:prstGeom>
        </p:spPr>
      </p:pic>
      <p:pic>
        <p:nvPicPr>
          <p:cNvPr id="6" name="Image 2" descr="Rendered as an image because of CSS math">    </p:cNvPr>
          <p:cNvPicPr>
            <a:picLocks noChangeAspect="1"/>
          </p:cNvPicPr>
          <p:nvPr/>
        </p:nvPicPr>
        <p:blipFill>
          <a:blip r:embed="rId3"/>
          <a:stretch>
            <a:fillRect/>
          </a:stretch>
        </p:blipFill>
        <p:spPr>
          <a:xfrm>
            <a:off x="6358086" y="1249412"/>
            <a:ext cx="443359" cy="238125"/>
          </a:xfrm>
          <a:prstGeom prst="rect">
            <a:avLst/>
          </a:prstGeom>
        </p:spPr>
      </p:pic>
      <p:pic>
        <p:nvPicPr>
          <p:cNvPr id="7" name="Image 3" descr="Rendered as an image because of CSS math">    </p:cNvPr>
          <p:cNvPicPr>
            <a:picLocks noChangeAspect="1"/>
          </p:cNvPicPr>
          <p:nvPr/>
        </p:nvPicPr>
        <p:blipFill>
          <a:blip r:embed="rId4"/>
          <a:stretch>
            <a:fillRect/>
          </a:stretch>
        </p:blipFill>
        <p:spPr>
          <a:xfrm>
            <a:off x="7677001" y="1249412"/>
            <a:ext cx="100757" cy="238125"/>
          </a:xfrm>
          <a:prstGeom prst="rect">
            <a:avLst/>
          </a:prstGeom>
        </p:spPr>
      </p:pic>
      <p:sp>
        <p:nvSpPr>
          <p:cNvPr id="8" name="Text 2"/>
          <p:cNvSpPr txBox="1"/>
          <p:nvPr/>
        </p:nvSpPr>
        <p:spPr>
          <a:xfrm>
            <a:off x="751284" y="1239887"/>
            <a:ext cx="704001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训练：给定带标签数据集 </a:t>
            </a:r>
            <a:pPr algn="l" indent="0" marL="0">
              <a:buNone/>
            </a:pPr>
            <a:r>
              <a:rPr lang="en-US" sz="1320" dirty="0">
                <a:solidFill>
                  <a:srgbClr val="000000"/>
                </a:solidFill>
                <a:latin typeface="Arial" pitchFamily="34" charset="0"/>
                <a:ea typeface="Arial" pitchFamily="34" charset="-122"/>
                <a:cs typeface="Arial" pitchFamily="34" charset="-120"/>
              </a:rPr>
              <a:t>，含参神经网络 </a:t>
            </a:r>
            <a:pPr algn="l" indent="0" marL="0">
              <a:buNone/>
            </a:pPr>
            <a:r>
              <a:rPr lang="en-US" sz="1320" dirty="0">
                <a:solidFill>
                  <a:srgbClr val="000000"/>
                </a:solidFill>
                <a:latin typeface="Arial" pitchFamily="34" charset="0"/>
                <a:ea typeface="Arial" pitchFamily="34" charset="-122"/>
                <a:cs typeface="Arial" pitchFamily="34" charset="-120"/>
              </a:rPr>
              <a:t>，损失函数 </a:t>
            </a:r>
            <a:pPr algn="l" indent="0" marL="0">
              <a:buNone/>
            </a:pPr>
            <a:r>
              <a:rPr lang="en-US" sz="1320" dirty="0">
                <a:solidFill>
                  <a:srgbClr val="000000"/>
                </a:solidFill>
                <a:latin typeface="Arial" pitchFamily="34" charset="0"/>
                <a:ea typeface="Arial" pitchFamily="34" charset="-122"/>
                <a:cs typeface="Arial" pitchFamily="34" charset="-120"/>
              </a:rPr>
              <a:t>，优化参数</a:t>
            </a:r>
            <a:endParaRPr lang="en-US" sz="1320" dirty="0"/>
          </a:p>
        </p:txBody>
      </p:sp>
      <p:sp>
        <p:nvSpPr>
          <p:cNvPr id="9" name="Text 3"/>
          <p:cNvSpPr txBox="1"/>
          <p:nvPr/>
        </p:nvSpPr>
        <p:spPr>
          <a:xfrm>
            <a:off x="533400" y="1656011"/>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总体误差：</a:t>
            </a:r>
            <a:endParaRPr lang="en-US" sz="1320" dirty="0"/>
          </a:p>
        </p:txBody>
      </p:sp>
      <p:pic>
        <p:nvPicPr>
          <p:cNvPr id="10" name="Image 4" descr="Rendered as an image because of CSS math">    </p:cNvPr>
          <p:cNvPicPr>
            <a:picLocks noChangeAspect="1"/>
          </p:cNvPicPr>
          <p:nvPr/>
        </p:nvPicPr>
        <p:blipFill>
          <a:blip r:embed="rId5"/>
          <a:stretch>
            <a:fillRect/>
          </a:stretch>
        </p:blipFill>
        <p:spPr>
          <a:xfrm>
            <a:off x="533400" y="2061716"/>
            <a:ext cx="8267700" cy="629989"/>
          </a:xfrm>
          <a:prstGeom prst="rect">
            <a:avLst/>
          </a:prstGeom>
        </p:spPr>
      </p:pic>
      <p:sp>
        <p:nvSpPr>
          <p:cNvPr id="11" name="Text 4"/>
          <p:cNvSpPr txBox="1"/>
          <p:nvPr/>
        </p:nvSpPr>
        <p:spPr>
          <a:xfrm>
            <a:off x="533400" y="2849761"/>
            <a:ext cx="61719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目标：</a:t>
            </a:r>
            <a:endParaRPr lang="en-US" sz="1320" dirty="0"/>
          </a:p>
        </p:txBody>
      </p:sp>
      <p:pic>
        <p:nvPicPr>
          <p:cNvPr id="12" name="Image 5" descr="Rendered as an image because of CSS math">    </p:cNvPr>
          <p:cNvPicPr>
            <a:picLocks noChangeAspect="1"/>
          </p:cNvPicPr>
          <p:nvPr/>
        </p:nvPicPr>
        <p:blipFill>
          <a:blip r:embed="rId6"/>
          <a:stretch>
            <a:fillRect/>
          </a:stretch>
        </p:blipFill>
        <p:spPr>
          <a:xfrm>
            <a:off x="533400" y="3255466"/>
            <a:ext cx="8267700" cy="386209"/>
          </a:xfrm>
          <a:prstGeom prst="rect">
            <a:avLst/>
          </a:prstGeom>
        </p:spPr>
      </p:pic>
      <p:sp>
        <p:nvSpPr>
          <p:cNvPr id="13" name="Text 5"/>
          <p:cNvSpPr txBox="1"/>
          <p:nvPr/>
        </p:nvSpPr>
        <p:spPr>
          <a:xfrm>
            <a:off x="516630" y="380925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14" name="Image 6" descr="Rendered as an image because of CSS math">    </p:cNvPr>
          <p:cNvPicPr>
            <a:picLocks noChangeAspect="1"/>
          </p:cNvPicPr>
          <p:nvPr/>
        </p:nvPicPr>
        <p:blipFill>
          <a:blip r:embed="rId7"/>
          <a:stretch>
            <a:fillRect/>
          </a:stretch>
        </p:blipFill>
        <p:spPr>
          <a:xfrm>
            <a:off x="2297162" y="3847356"/>
            <a:ext cx="114300" cy="238125"/>
          </a:xfrm>
          <a:prstGeom prst="rect">
            <a:avLst/>
          </a:prstGeom>
        </p:spPr>
      </p:pic>
      <p:pic>
        <p:nvPicPr>
          <p:cNvPr id="15" name="Image 7" descr="Rendered as an image because of CSS math">    </p:cNvPr>
          <p:cNvPicPr>
            <a:picLocks noChangeAspect="1"/>
          </p:cNvPicPr>
          <p:nvPr/>
        </p:nvPicPr>
        <p:blipFill>
          <a:blip r:embed="rId8"/>
          <a:stretch>
            <a:fillRect/>
          </a:stretch>
        </p:blipFill>
        <p:spPr>
          <a:xfrm>
            <a:off x="3454598" y="3847356"/>
            <a:ext cx="809923" cy="238125"/>
          </a:xfrm>
          <a:prstGeom prst="rect">
            <a:avLst/>
          </a:prstGeom>
        </p:spPr>
      </p:pic>
      <p:sp>
        <p:nvSpPr>
          <p:cNvPr id="16" name="Text 6"/>
          <p:cNvSpPr txBox="1"/>
          <p:nvPr/>
        </p:nvSpPr>
        <p:spPr>
          <a:xfrm>
            <a:off x="751284" y="3837831"/>
            <a:ext cx="379526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推理：给定任意数据 </a:t>
            </a:r>
            <a:pPr algn="l" indent="0" marL="0">
              <a:buNone/>
            </a:pPr>
            <a:r>
              <a:rPr lang="en-US" sz="1320" dirty="0">
                <a:solidFill>
                  <a:srgbClr val="000000"/>
                </a:solidFill>
                <a:latin typeface="Arial" pitchFamily="34" charset="0"/>
                <a:ea typeface="Arial" pitchFamily="34" charset="-122"/>
                <a:cs typeface="Arial" pitchFamily="34" charset="-120"/>
              </a:rPr>
              <a:t>，预测其标签 </a:t>
            </a:r>
            <a:pPr algn="l" indent="0" marL="0">
              <a:buNone/>
            </a:pPr>
            <a:r>
              <a:rPr lang="en-US" sz="1320" dirty="0">
                <a:solidFill>
                  <a:srgbClr val="000000"/>
                </a:solidFill>
                <a:latin typeface="Arial" pitchFamily="34" charset="0"/>
                <a:ea typeface="Arial" pitchFamily="34" charset="-122"/>
                <a:cs typeface="Arial" pitchFamily="34" charset="-120"/>
              </a:rPr>
              <a:t>。</a:t>
            </a:r>
            <a:endParaRPr lang="en-US" sz="1320" dirty="0"/>
          </a:p>
        </p:txBody>
      </p:sp>
      <p:pic>
        <p:nvPicPr>
          <p:cNvPr id="17" name="Image 8" descr="Rendered as an image because of CSS background-image">    </p:cNvPr>
          <p:cNvPicPr>
            <a:picLocks noChangeAspect="1"/>
          </p:cNvPicPr>
          <p:nvPr/>
        </p:nvPicPr>
        <p:blipFill>
          <a:blip r:embed="rId9"/>
          <a:stretch>
            <a:fillRect/>
          </a:stretch>
        </p:blipFill>
        <p:spPr>
          <a:xfrm>
            <a:off x="0" y="210294"/>
            <a:ext cx="326678" cy="838200"/>
          </a:xfrm>
          <a:prstGeom prst="rect">
            <a:avLst/>
          </a:prstGeom>
        </p:spPr>
      </p:pic>
      <p:pic>
        <p:nvPicPr>
          <p:cNvPr id="18" name="Image 9" descr="Rendered as an image because of CSS background-image">    </p:cNvPr>
          <p:cNvPicPr>
            <a:picLocks noChangeAspect="1"/>
          </p:cNvPicPr>
          <p:nvPr/>
        </p:nvPicPr>
        <p:blipFill>
          <a:blip r:embed="rId10"/>
          <a:stretch>
            <a:fillRect/>
          </a:stretch>
        </p:blipFill>
        <p:spPr>
          <a:xfrm>
            <a:off x="0" y="5029200"/>
            <a:ext cx="9334500" cy="228600"/>
          </a:xfrm>
          <a:prstGeom prst="rect">
            <a:avLst/>
          </a:prstGeom>
        </p:spPr>
      </p:pic>
      <p:sp>
        <p:nvSpPr>
          <p:cNvPr id="19" name="Text 7"/>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0" name="Shape 8"/>
          <p:cNvSpPr/>
          <p:nvPr/>
        </p:nvSpPr>
        <p:spPr>
          <a:xfrm>
            <a:off x="647700" y="5067300"/>
            <a:ext cx="9525" cy="152400"/>
          </a:xfrm>
          <a:prstGeom prst="rect">
            <a:avLst/>
          </a:prstGeom>
          <a:solidFill>
            <a:srgbClr val="F0FFFF"/>
          </a:solidFill>
          <a:ln/>
        </p:spPr>
      </p:sp>
      <p:sp>
        <p:nvSpPr>
          <p:cNvPr id="21" name="Text 9"/>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2" name="Text 10"/>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3" name="Text 11"/>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15</a:t>
            </a:r>
            <a:endParaRPr lang="en-US" sz="1050" dirty="0"/>
          </a:p>
        </p:txBody>
      </p:sp>
      <p:sp>
        <p:nvSpPr>
          <p:cNvPr id="24" name="Text 12"/>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5" name="Text 13"/>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4955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梯度优化器</a:t>
            </a:r>
            <a:endParaRPr lang="en-US" sz="3750" dirty="0"/>
          </a:p>
        </p:txBody>
      </p:sp>
      <p:pic>
        <p:nvPicPr>
          <p:cNvPr id="3" name="Image 0" descr="Rendered as an image because of CSS math">    </p:cNvPr>
          <p:cNvPicPr>
            <a:picLocks noChangeAspect="1"/>
          </p:cNvPicPr>
          <p:nvPr/>
        </p:nvPicPr>
        <p:blipFill>
          <a:blip r:embed="rId1"/>
          <a:stretch>
            <a:fillRect/>
          </a:stretch>
        </p:blipFill>
        <p:spPr>
          <a:xfrm>
            <a:off x="1073795" y="1376958"/>
            <a:ext cx="1531739" cy="238125"/>
          </a:xfrm>
          <a:prstGeom prst="rect">
            <a:avLst/>
          </a:prstGeom>
        </p:spPr>
      </p:pic>
      <p:pic>
        <p:nvPicPr>
          <p:cNvPr id="4" name="Image 1" descr="Rendered as an image because of CSS math">    </p:cNvPr>
          <p:cNvPicPr>
            <a:picLocks noChangeAspect="1"/>
          </p:cNvPicPr>
          <p:nvPr/>
        </p:nvPicPr>
        <p:blipFill>
          <a:blip r:embed="rId2"/>
          <a:stretch>
            <a:fillRect/>
          </a:stretch>
        </p:blipFill>
        <p:spPr>
          <a:xfrm>
            <a:off x="3518595" y="1376958"/>
            <a:ext cx="1008311" cy="238125"/>
          </a:xfrm>
          <a:prstGeom prst="rect">
            <a:avLst/>
          </a:prstGeom>
        </p:spPr>
      </p:pic>
      <p:sp>
        <p:nvSpPr>
          <p:cNvPr id="5" name="Text 1"/>
          <p:cNvSpPr txBox="1"/>
          <p:nvPr/>
        </p:nvSpPr>
        <p:spPr>
          <a:xfrm>
            <a:off x="533400" y="1367433"/>
            <a:ext cx="665916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理论上 </a:t>
            </a:r>
            <a:pPr algn="l" indent="0" marL="0">
              <a:buNone/>
            </a:pPr>
            <a:r>
              <a:rPr lang="en-US" sz="1320" dirty="0">
                <a:solidFill>
                  <a:srgbClr val="000000"/>
                </a:solidFill>
                <a:latin typeface="Arial" pitchFamily="34" charset="0"/>
                <a:ea typeface="Arial" pitchFamily="34" charset="-122"/>
                <a:cs typeface="Arial" pitchFamily="34" charset="-120"/>
              </a:rPr>
              <a:t> 可以转化为 </a:t>
            </a:r>
            <a:pPr algn="l" indent="0" marL="0">
              <a:buNone/>
            </a:pPr>
            <a:r>
              <a:rPr lang="en-US" sz="1320" dirty="0">
                <a:solidFill>
                  <a:srgbClr val="000000"/>
                </a:solidFill>
                <a:latin typeface="Arial" pitchFamily="34" charset="0"/>
                <a:ea typeface="Arial" pitchFamily="34" charset="-122"/>
                <a:cs typeface="Arial" pitchFamily="34" charset="-120"/>
              </a:rPr>
              <a:t> 求驻点，再逐个代入找到最小值。</a:t>
            </a:r>
            <a:endParaRPr lang="en-US" sz="1320" dirty="0"/>
          </a:p>
        </p:txBody>
      </p:sp>
      <p:pic>
        <p:nvPicPr>
          <p:cNvPr id="6" name="Image 2" descr="Rendered as an image because of CSS math">    </p:cNvPr>
          <p:cNvPicPr>
            <a:picLocks noChangeAspect="1"/>
          </p:cNvPicPr>
          <p:nvPr/>
        </p:nvPicPr>
        <p:blipFill>
          <a:blip r:embed="rId3"/>
          <a:stretch>
            <a:fillRect/>
          </a:stretch>
        </p:blipFill>
        <p:spPr>
          <a:xfrm>
            <a:off x="1073795" y="1791742"/>
            <a:ext cx="133350" cy="238125"/>
          </a:xfrm>
          <a:prstGeom prst="rect">
            <a:avLst/>
          </a:prstGeom>
        </p:spPr>
      </p:pic>
      <p:sp>
        <p:nvSpPr>
          <p:cNvPr id="7" name="Text 2"/>
          <p:cNvSpPr txBox="1"/>
          <p:nvPr/>
        </p:nvSpPr>
        <p:spPr>
          <a:xfrm>
            <a:off x="533400" y="1782217"/>
            <a:ext cx="56855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实际上 </a:t>
            </a:r>
            <a:pPr algn="l" indent="0" marL="0">
              <a:buNone/>
            </a:pPr>
            <a:r>
              <a:rPr lang="en-US" sz="1320" dirty="0">
                <a:solidFill>
                  <a:srgbClr val="000000"/>
                </a:solidFill>
                <a:latin typeface="Arial" pitchFamily="34" charset="0"/>
                <a:ea typeface="Arial" pitchFamily="34" charset="-122"/>
                <a:cs typeface="Arial" pitchFamily="34" charset="-120"/>
              </a:rPr>
              <a:t> 高度非线性，梯度方程没有解析解。常采用梯度下降法近似求解：</a:t>
            </a:r>
            <a:endParaRPr lang="en-US" sz="1320" dirty="0"/>
          </a:p>
        </p:txBody>
      </p:sp>
      <p:sp>
        <p:nvSpPr>
          <p:cNvPr id="8" name="Text 3"/>
          <p:cNvSpPr txBox="1"/>
          <p:nvPr/>
        </p:nvSpPr>
        <p:spPr>
          <a:xfrm>
            <a:off x="516630" y="218747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1. </a:t>
            </a:r>
            <a:endParaRPr lang="en-US" sz="1320" dirty="0"/>
          </a:p>
        </p:txBody>
      </p:sp>
      <p:pic>
        <p:nvPicPr>
          <p:cNvPr id="9" name="Image 3" descr="Rendered as an image because of CSS math">    </p:cNvPr>
          <p:cNvPicPr>
            <a:picLocks noChangeAspect="1"/>
          </p:cNvPicPr>
          <p:nvPr/>
        </p:nvPicPr>
        <p:blipFill>
          <a:blip r:embed="rId4"/>
          <a:stretch>
            <a:fillRect/>
          </a:stretch>
        </p:blipFill>
        <p:spPr>
          <a:xfrm>
            <a:off x="2465040" y="2225576"/>
            <a:ext cx="453777" cy="238125"/>
          </a:xfrm>
          <a:prstGeom prst="rect">
            <a:avLst/>
          </a:prstGeom>
        </p:spPr>
      </p:pic>
      <p:sp>
        <p:nvSpPr>
          <p:cNvPr id="10" name="Text 4"/>
          <p:cNvSpPr txBox="1"/>
          <p:nvPr/>
        </p:nvSpPr>
        <p:spPr>
          <a:xfrm>
            <a:off x="751284" y="2216051"/>
            <a:ext cx="265464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从一个</a:t>
            </a:r>
            <a:pPr algn="l" indent="0" marL="0">
              <a:buNone/>
            </a:pPr>
            <a:r>
              <a:rPr lang="en-US" sz="1320" b="1" dirty="0">
                <a:solidFill>
                  <a:srgbClr val="000000"/>
                </a:solidFill>
                <a:latin typeface="Arial" pitchFamily="34" charset="0"/>
                <a:ea typeface="Arial" pitchFamily="34" charset="-122"/>
                <a:cs typeface="Arial" pitchFamily="34" charset="-120"/>
              </a:rPr>
              <a:t>好的初始化</a:t>
            </a:r>
            <a:pPr algn="l" indent="0" marL="0">
              <a:buNone/>
            </a:pPr>
            <a:r>
              <a:rPr lang="en-US" sz="1320" dirty="0">
                <a:solidFill>
                  <a:srgbClr val="000000"/>
                </a:solidFill>
                <a:latin typeface="Arial" pitchFamily="34" charset="0"/>
                <a:ea typeface="Arial" pitchFamily="34" charset="-122"/>
                <a:cs typeface="Arial" pitchFamily="34" charset="-120"/>
              </a:rPr>
              <a:t>参数 </a:t>
            </a:r>
            <a:pPr algn="l" indent="0" marL="0">
              <a:buNone/>
            </a:pPr>
            <a:r>
              <a:rPr lang="en-US" sz="1320" dirty="0">
                <a:solidFill>
                  <a:srgbClr val="000000"/>
                </a:solidFill>
                <a:latin typeface="Arial" pitchFamily="34" charset="0"/>
                <a:ea typeface="Arial" pitchFamily="34" charset="-122"/>
                <a:cs typeface="Arial" pitchFamily="34" charset="-120"/>
              </a:rPr>
              <a:t> 出发</a:t>
            </a:r>
            <a:endParaRPr lang="en-US" sz="1320" dirty="0"/>
          </a:p>
        </p:txBody>
      </p:sp>
      <p:sp>
        <p:nvSpPr>
          <p:cNvPr id="11" name="Text 5"/>
          <p:cNvSpPr txBox="1"/>
          <p:nvPr/>
        </p:nvSpPr>
        <p:spPr>
          <a:xfrm>
            <a:off x="516630" y="248929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2. </a:t>
            </a:r>
            <a:endParaRPr lang="en-US" sz="1320" dirty="0"/>
          </a:p>
        </p:txBody>
      </p:sp>
      <p:pic>
        <p:nvPicPr>
          <p:cNvPr id="12" name="Image 4" descr="Rendered as an image because of CSS math">    </p:cNvPr>
          <p:cNvPicPr>
            <a:picLocks noChangeAspect="1"/>
          </p:cNvPicPr>
          <p:nvPr/>
        </p:nvPicPr>
        <p:blipFill>
          <a:blip r:embed="rId5"/>
          <a:stretch>
            <a:fillRect/>
          </a:stretch>
        </p:blipFill>
        <p:spPr>
          <a:xfrm>
            <a:off x="1459260" y="2527399"/>
            <a:ext cx="2465784" cy="238125"/>
          </a:xfrm>
          <a:prstGeom prst="rect">
            <a:avLst/>
          </a:prstGeom>
        </p:spPr>
      </p:pic>
      <p:pic>
        <p:nvPicPr>
          <p:cNvPr id="13" name="Image 5" descr="Rendered as an image because of CSS math">    </p:cNvPr>
          <p:cNvPicPr>
            <a:picLocks noChangeAspect="1"/>
          </p:cNvPicPr>
          <p:nvPr/>
        </p:nvPicPr>
        <p:blipFill>
          <a:blip r:embed="rId6"/>
          <a:stretch>
            <a:fillRect/>
          </a:stretch>
        </p:blipFill>
        <p:spPr>
          <a:xfrm>
            <a:off x="4130278" y="2527399"/>
            <a:ext cx="102394" cy="238125"/>
          </a:xfrm>
          <a:prstGeom prst="rect">
            <a:avLst/>
          </a:prstGeom>
        </p:spPr>
      </p:pic>
      <p:sp>
        <p:nvSpPr>
          <p:cNvPr id="14" name="Text 6"/>
          <p:cNvSpPr txBox="1"/>
          <p:nvPr/>
        </p:nvSpPr>
        <p:spPr>
          <a:xfrm>
            <a:off x="751284" y="2517874"/>
            <a:ext cx="530944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不断迭代 </a:t>
            </a:r>
            <a:pPr algn="l" indent="0" marL="0">
              <a:buNone/>
            </a:pPr>
            <a:r>
              <a:rPr lang="en-US" sz="1320" dirty="0">
                <a:solidFill>
                  <a:srgbClr val="000000"/>
                </a:solidFill>
                <a:latin typeface="Arial" pitchFamily="34" charset="0"/>
                <a:ea typeface="Arial" pitchFamily="34" charset="-122"/>
                <a:cs typeface="Arial" pitchFamily="34" charset="-120"/>
              </a:rPr>
              <a:t>， </a:t>
            </a:r>
            <a:pPr algn="l" indent="0" marL="0">
              <a:buNone/>
            </a:pPr>
            <a:r>
              <a:rPr lang="en-US" sz="1320" dirty="0">
                <a:solidFill>
                  <a:srgbClr val="000000"/>
                </a:solidFill>
                <a:latin typeface="Arial" pitchFamily="34" charset="0"/>
                <a:ea typeface="Arial" pitchFamily="34" charset="-122"/>
                <a:cs typeface="Arial" pitchFamily="34" charset="-120"/>
              </a:rPr>
              <a:t> 为一个</a:t>
            </a:r>
            <a:pPr algn="l" indent="0" marL="0">
              <a:buNone/>
            </a:pPr>
            <a:r>
              <a:rPr lang="en-US" sz="1320" b="1" dirty="0">
                <a:solidFill>
                  <a:srgbClr val="000000"/>
                </a:solidFill>
                <a:latin typeface="Arial" pitchFamily="34" charset="0"/>
                <a:ea typeface="Arial" pitchFamily="34" charset="-122"/>
                <a:cs typeface="Arial" pitchFamily="34" charset="-120"/>
              </a:rPr>
              <a:t>指定的</a:t>
            </a:r>
            <a:pPr algn="l" indent="0" marL="0">
              <a:buNone/>
            </a:pPr>
            <a:r>
              <a:rPr lang="en-US" sz="1320" dirty="0">
                <a:solidFill>
                  <a:srgbClr val="000000"/>
                </a:solidFill>
                <a:latin typeface="Arial" pitchFamily="34" charset="0"/>
                <a:ea typeface="Arial" pitchFamily="34" charset="-122"/>
                <a:cs typeface="Arial" pitchFamily="34" charset="-120"/>
              </a:rPr>
              <a:t>学习率。</a:t>
            </a:r>
            <a:endParaRPr lang="en-US" sz="1320" dirty="0"/>
          </a:p>
        </p:txBody>
      </p:sp>
      <p:sp>
        <p:nvSpPr>
          <p:cNvPr id="15" name="Text 7"/>
          <p:cNvSpPr txBox="1"/>
          <p:nvPr/>
        </p:nvSpPr>
        <p:spPr>
          <a:xfrm>
            <a:off x="516630" y="279112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3. </a:t>
            </a:r>
            <a:endParaRPr lang="en-US" sz="1320" dirty="0"/>
          </a:p>
        </p:txBody>
      </p:sp>
      <p:sp>
        <p:nvSpPr>
          <p:cNvPr id="16" name="Text 8"/>
          <p:cNvSpPr txBox="1"/>
          <p:nvPr/>
        </p:nvSpPr>
        <p:spPr>
          <a:xfrm>
            <a:off x="751284" y="2819698"/>
            <a:ext cx="952649"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直至</a:t>
            </a:r>
            <a:pPr algn="l" indent="0" marL="0">
              <a:buNone/>
            </a:pPr>
            <a:r>
              <a:rPr lang="en-US" sz="1320" b="1" dirty="0">
                <a:solidFill>
                  <a:srgbClr val="000000"/>
                </a:solidFill>
                <a:latin typeface="Arial" pitchFamily="34" charset="0"/>
                <a:ea typeface="Arial" pitchFamily="34" charset="-122"/>
                <a:cs typeface="Arial" pitchFamily="34" charset="-120"/>
              </a:rPr>
              <a:t>收敛</a:t>
            </a:r>
            <a:pPr algn="l" indent="0" marL="0">
              <a:buNone/>
            </a:pPr>
            <a:r>
              <a:rPr lang="en-US" sz="1320" dirty="0">
                <a:solidFill>
                  <a:srgbClr val="000000"/>
                </a:solidFill>
                <a:latin typeface="Arial" pitchFamily="34" charset="0"/>
                <a:ea typeface="Arial" pitchFamily="34" charset="-122"/>
                <a:cs typeface="Arial" pitchFamily="34" charset="-120"/>
              </a:rPr>
              <a:t>。</a:t>
            </a:r>
            <a:endParaRPr lang="en-US" sz="1320" dirty="0"/>
          </a:p>
        </p:txBody>
      </p:sp>
      <p:pic>
        <p:nvPicPr>
          <p:cNvPr id="17" name="Image 6" descr="Rendered as an image because of CSS math">    </p:cNvPr>
          <p:cNvPicPr>
            <a:picLocks noChangeAspect="1"/>
          </p:cNvPicPr>
          <p:nvPr/>
        </p:nvPicPr>
        <p:blipFill>
          <a:blip r:embed="rId7"/>
          <a:stretch>
            <a:fillRect/>
          </a:stretch>
        </p:blipFill>
        <p:spPr>
          <a:xfrm>
            <a:off x="3755082" y="3245346"/>
            <a:ext cx="133350" cy="238125"/>
          </a:xfrm>
          <a:prstGeom prst="rect">
            <a:avLst/>
          </a:prstGeom>
        </p:spPr>
      </p:pic>
      <p:pic>
        <p:nvPicPr>
          <p:cNvPr id="18" name="Image 7" descr="Rendered as an image because of CSS math">    </p:cNvPr>
          <p:cNvPicPr>
            <a:picLocks noChangeAspect="1"/>
          </p:cNvPicPr>
          <p:nvPr/>
        </p:nvPicPr>
        <p:blipFill>
          <a:blip r:embed="rId8"/>
          <a:stretch>
            <a:fillRect/>
          </a:stretch>
        </p:blipFill>
        <p:spPr>
          <a:xfrm>
            <a:off x="5974556" y="3245346"/>
            <a:ext cx="819745" cy="238125"/>
          </a:xfrm>
          <a:prstGeom prst="rect">
            <a:avLst/>
          </a:prstGeom>
        </p:spPr>
      </p:pic>
      <p:sp>
        <p:nvSpPr>
          <p:cNvPr id="19" name="Text 9"/>
          <p:cNvSpPr txBox="1"/>
          <p:nvPr/>
        </p:nvSpPr>
        <p:spPr>
          <a:xfrm>
            <a:off x="533400" y="3235821"/>
            <a:ext cx="654293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随机梯度下降：实践中并不会计算总体损失 </a:t>
            </a:r>
            <a:pPr algn="l" indent="0" marL="0">
              <a:buNone/>
            </a:pPr>
            <a:r>
              <a:rPr lang="en-US" sz="1320" dirty="0">
                <a:solidFill>
                  <a:srgbClr val="000000"/>
                </a:solidFill>
                <a:latin typeface="Arial" pitchFamily="34" charset="0"/>
                <a:ea typeface="Arial" pitchFamily="34" charset="-122"/>
                <a:cs typeface="Arial" pitchFamily="34" charset="-120"/>
              </a:rPr>
              <a:t> ，而是一个随机批次的损失 </a:t>
            </a:r>
            <a:pPr algn="l" indent="0" marL="0">
              <a:buNone/>
            </a:pPr>
            <a:r>
              <a:rPr lang="en-US" sz="1320" dirty="0">
                <a:solidFill>
                  <a:srgbClr val="000000"/>
                </a:solidFill>
                <a:latin typeface="Arial" pitchFamily="34" charset="0"/>
                <a:ea typeface="Arial" pitchFamily="34" charset="-122"/>
                <a:cs typeface="Arial" pitchFamily="34" charset="-120"/>
              </a:rPr>
              <a:t>。</a:t>
            </a:r>
            <a:endParaRPr lang="en-US" sz="1320" dirty="0"/>
          </a:p>
        </p:txBody>
      </p:sp>
      <p:pic>
        <p:nvPicPr>
          <p:cNvPr id="20" name="Image 8" descr="preencoded.png">
            <a:hlinkClick r:id="rId10" tooltip=""/>
          </p:cNvPr>
          <p:cNvPicPr>
            <a:picLocks noChangeAspect="1"/>
          </p:cNvPicPr>
          <p:nvPr/>
        </p:nvPicPr>
        <p:blipFill>
          <a:blip r:embed="rId9"/>
          <a:stretch>
            <a:fillRect/>
          </a:stretch>
        </p:blipFill>
        <p:spPr>
          <a:xfrm>
            <a:off x="533400" y="3641080"/>
            <a:ext cx="4133850" cy="1251496"/>
          </a:xfrm>
          <a:prstGeom prst="rect">
            <a:avLst/>
          </a:prstGeom>
        </p:spPr>
      </p:pic>
      <p:pic>
        <p:nvPicPr>
          <p:cNvPr id="21" name="Image 9" descr="Rendered as an image because of CSS background-image">    </p:cNvPr>
          <p:cNvPicPr>
            <a:picLocks noChangeAspect="1"/>
          </p:cNvPicPr>
          <p:nvPr/>
        </p:nvPicPr>
        <p:blipFill>
          <a:blip r:embed="rId11"/>
          <a:stretch>
            <a:fillRect/>
          </a:stretch>
        </p:blipFill>
        <p:spPr>
          <a:xfrm>
            <a:off x="0" y="210294"/>
            <a:ext cx="326678" cy="838200"/>
          </a:xfrm>
          <a:prstGeom prst="rect">
            <a:avLst/>
          </a:prstGeom>
        </p:spPr>
      </p:pic>
      <p:pic>
        <p:nvPicPr>
          <p:cNvPr id="22" name="Image 10" descr="Rendered as an image because of CSS background-image">    </p:cNvPr>
          <p:cNvPicPr>
            <a:picLocks noChangeAspect="1"/>
          </p:cNvPicPr>
          <p:nvPr/>
        </p:nvPicPr>
        <p:blipFill>
          <a:blip r:embed="rId12"/>
          <a:stretch>
            <a:fillRect/>
          </a:stretch>
        </p:blipFill>
        <p:spPr>
          <a:xfrm>
            <a:off x="0" y="5029200"/>
            <a:ext cx="9334500" cy="228600"/>
          </a:xfrm>
          <a:prstGeom prst="rect">
            <a:avLst/>
          </a:prstGeom>
        </p:spPr>
      </p:pic>
      <p:sp>
        <p:nvSpPr>
          <p:cNvPr id="23" name="Text 10"/>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4" name="Shape 11"/>
          <p:cNvSpPr/>
          <p:nvPr/>
        </p:nvSpPr>
        <p:spPr>
          <a:xfrm>
            <a:off x="647700" y="5067300"/>
            <a:ext cx="9525" cy="152400"/>
          </a:xfrm>
          <a:prstGeom prst="rect">
            <a:avLst/>
          </a:prstGeom>
          <a:solidFill>
            <a:srgbClr val="F0FFFF"/>
          </a:solidFill>
          <a:ln/>
        </p:spPr>
      </p:sp>
      <p:sp>
        <p:nvSpPr>
          <p:cNvPr id="25" name="Text 12"/>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6" name="Text 13"/>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7" name="Text 14"/>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16</a:t>
            </a:r>
            <a:endParaRPr lang="en-US" sz="1050" dirty="0"/>
          </a:p>
        </p:txBody>
      </p:sp>
      <p:sp>
        <p:nvSpPr>
          <p:cNvPr id="28" name="Text 15"/>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9" name="Text 16"/>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44005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正向传播和反向传播</a:t>
            </a:r>
            <a:endParaRPr lang="en-US" sz="3750" dirty="0"/>
          </a:p>
        </p:txBody>
      </p:sp>
      <p:sp>
        <p:nvSpPr>
          <p:cNvPr id="3" name="Text 1"/>
          <p:cNvSpPr txBox="1"/>
          <p:nvPr/>
        </p:nvSpPr>
        <p:spPr>
          <a:xfrm>
            <a:off x="516630" y="13637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1392287"/>
            <a:ext cx="179025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可微映射诱导出切映射</a:t>
            </a:r>
            <a:endParaRPr lang="en-US" sz="1320" dirty="0"/>
          </a:p>
        </p:txBody>
      </p:sp>
      <p:pic>
        <p:nvPicPr>
          <p:cNvPr id="5" name="Image 0" descr="Rendered as an image because of CSS math">    </p:cNvPr>
          <p:cNvPicPr>
            <a:picLocks noChangeAspect="1"/>
          </p:cNvPicPr>
          <p:nvPr/>
        </p:nvPicPr>
        <p:blipFill>
          <a:blip r:embed="rId1"/>
          <a:stretch>
            <a:fillRect/>
          </a:stretch>
        </p:blipFill>
        <p:spPr>
          <a:xfrm>
            <a:off x="751284" y="1797993"/>
            <a:ext cx="4628406" cy="456754"/>
          </a:xfrm>
          <a:prstGeom prst="rect">
            <a:avLst/>
          </a:prstGeom>
        </p:spPr>
      </p:pic>
      <p:sp>
        <p:nvSpPr>
          <p:cNvPr id="6" name="Text 3"/>
          <p:cNvSpPr txBox="1"/>
          <p:nvPr/>
        </p:nvSpPr>
        <p:spPr>
          <a:xfrm>
            <a:off x="516630" y="242232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7" name="Text 4"/>
          <p:cNvSpPr txBox="1"/>
          <p:nvPr/>
        </p:nvSpPr>
        <p:spPr>
          <a:xfrm>
            <a:off x="751284" y="2450902"/>
            <a:ext cx="212541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前向传播：可微函数复合链</a:t>
            </a:r>
            <a:endParaRPr lang="en-US" sz="1320" dirty="0"/>
          </a:p>
        </p:txBody>
      </p:sp>
      <p:sp>
        <p:nvSpPr>
          <p:cNvPr id="8" name="Text 5"/>
          <p:cNvSpPr txBox="1"/>
          <p:nvPr/>
        </p:nvSpPr>
        <p:spPr>
          <a:xfrm>
            <a:off x="516630" y="284142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9" name="Text 6"/>
          <p:cNvSpPr txBox="1"/>
          <p:nvPr/>
        </p:nvSpPr>
        <p:spPr>
          <a:xfrm>
            <a:off x="751284" y="2870002"/>
            <a:ext cx="296331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反向传播：导函数乘积链（链式法则）</a:t>
            </a:r>
            <a:endParaRPr lang="en-US" sz="1320" dirty="0"/>
          </a:p>
        </p:txBody>
      </p:sp>
      <p:sp>
        <p:nvSpPr>
          <p:cNvPr id="10" name="Text 7"/>
          <p:cNvSpPr txBox="1"/>
          <p:nvPr/>
        </p:nvSpPr>
        <p:spPr>
          <a:xfrm>
            <a:off x="516630" y="326052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1" name="Text 8"/>
          <p:cNvSpPr txBox="1"/>
          <p:nvPr/>
        </p:nvSpPr>
        <p:spPr>
          <a:xfrm>
            <a:off x="751284" y="3289102"/>
            <a:ext cx="4647456" cy="466725"/>
          </a:xfrm>
          <a:prstGeom prst="rect">
            <a:avLst/>
          </a:prstGeom>
          <a:noFill/>
          <a:ln/>
        </p:spPr>
        <p:txBody>
          <a:bodyPr wrap="square" lIns="0" tIns="0" rIns="0" bIns="0" rtlCol="0" anchor="t"/>
          <a:lstStyle/>
          <a:p>
            <a:pPr algn="l" indent="0" marL="0">
              <a:lnSpc>
                <a:spcPts val="1800"/>
              </a:lnSpc>
              <a:buNone/>
            </a:pPr>
            <a:r>
              <a:rPr lang="en-US" sz="1320" dirty="0">
                <a:solidFill>
                  <a:srgbClr val="000000"/>
                </a:solidFill>
                <a:latin typeface="Arial" pitchFamily="34" charset="0"/>
                <a:ea typeface="Arial" pitchFamily="34" charset="-122"/>
                <a:cs typeface="Arial" pitchFamily="34" charset="-120"/>
              </a:rPr>
              <a:t>计算图：每个节点（神经元）记录前向传播的激活值和反向传播的梯度值；每条边（神经连接）记录映射/切映射。</a:t>
            </a:r>
            <a:endParaRPr lang="en-US" sz="1320" dirty="0"/>
          </a:p>
        </p:txBody>
      </p:sp>
      <p:sp>
        <p:nvSpPr>
          <p:cNvPr id="12" name="Text 9"/>
          <p:cNvSpPr txBox="1"/>
          <p:nvPr/>
        </p:nvSpPr>
        <p:spPr>
          <a:xfrm>
            <a:off x="516630" y="390822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3" name="Text 10"/>
          <p:cNvSpPr txBox="1"/>
          <p:nvPr/>
        </p:nvSpPr>
        <p:spPr>
          <a:xfrm>
            <a:off x="751284" y="3936802"/>
            <a:ext cx="45057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实现：自动微分引擎是 PyTorch 等深度学习库最核心的部分</a:t>
            </a:r>
            <a:endParaRPr lang="en-US" sz="1320" dirty="0"/>
          </a:p>
        </p:txBody>
      </p:sp>
      <p:pic>
        <p:nvPicPr>
          <p:cNvPr id="14" name="Image 1" descr="preencoded.png">    </p:cNvPr>
          <p:cNvPicPr>
            <a:picLocks noChangeAspect="1"/>
          </p:cNvPicPr>
          <p:nvPr/>
        </p:nvPicPr>
        <p:blipFill>
          <a:blip r:embed="rId2"/>
          <a:stretch>
            <a:fillRect/>
          </a:stretch>
        </p:blipFill>
        <p:spPr>
          <a:xfrm>
            <a:off x="5570190" y="1211312"/>
            <a:ext cx="3230910" cy="2762399"/>
          </a:xfrm>
          <a:prstGeom prst="rect">
            <a:avLst/>
          </a:prstGeom>
        </p:spPr>
      </p:pic>
      <p:pic>
        <p:nvPicPr>
          <p:cNvPr id="15" name="Image 2" descr="Rendered as an image because of CSS background-image">    </p:cNvPr>
          <p:cNvPicPr>
            <a:picLocks noChangeAspect="1"/>
          </p:cNvPicPr>
          <p:nvPr/>
        </p:nvPicPr>
        <p:blipFill>
          <a:blip r:embed="rId3"/>
          <a:stretch>
            <a:fillRect/>
          </a:stretch>
        </p:blipFill>
        <p:spPr>
          <a:xfrm>
            <a:off x="0" y="210294"/>
            <a:ext cx="326678" cy="838200"/>
          </a:xfrm>
          <a:prstGeom prst="rect">
            <a:avLst/>
          </a:prstGeom>
        </p:spPr>
      </p:pic>
      <p:pic>
        <p:nvPicPr>
          <p:cNvPr id="16" name="Image 3" descr="Rendered as an image because of CSS background-image">    </p:cNvPr>
          <p:cNvPicPr>
            <a:picLocks noChangeAspect="1"/>
          </p:cNvPicPr>
          <p:nvPr/>
        </p:nvPicPr>
        <p:blipFill>
          <a:blip r:embed="rId4"/>
          <a:stretch>
            <a:fillRect/>
          </a:stretch>
        </p:blipFill>
        <p:spPr>
          <a:xfrm>
            <a:off x="0" y="5029200"/>
            <a:ext cx="9334500" cy="228600"/>
          </a:xfrm>
          <a:prstGeom prst="rect">
            <a:avLst/>
          </a:prstGeom>
        </p:spPr>
      </p:pic>
      <p:sp>
        <p:nvSpPr>
          <p:cNvPr id="17" name="Text 1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8" name="Shape 12"/>
          <p:cNvSpPr/>
          <p:nvPr/>
        </p:nvSpPr>
        <p:spPr>
          <a:xfrm>
            <a:off x="647700" y="5067300"/>
            <a:ext cx="9525" cy="152400"/>
          </a:xfrm>
          <a:prstGeom prst="rect">
            <a:avLst/>
          </a:prstGeom>
          <a:solidFill>
            <a:srgbClr val="F0FFFF"/>
          </a:solidFill>
          <a:ln/>
        </p:spPr>
      </p:sp>
      <p:sp>
        <p:nvSpPr>
          <p:cNvPr id="19" name="Text 1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0" name="Text 1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1" name="Text 1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17</a:t>
            </a:r>
            <a:endParaRPr lang="en-US" sz="1050" dirty="0"/>
          </a:p>
        </p:txBody>
      </p:sp>
      <p:sp>
        <p:nvSpPr>
          <p:cNvPr id="22" name="Text 1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3" name="Text 1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972818" y="1399580"/>
            <a:ext cx="1486049" cy="495300"/>
          </a:xfrm>
          <a:prstGeom prst="rect">
            <a:avLst/>
          </a:prstGeom>
          <a:noFill/>
          <a:ln/>
        </p:spPr>
        <p:txBody>
          <a:bodyPr wrap="none" lIns="0" tIns="0" rIns="0" bIns="0" rtlCol="0" anchor="t"/>
          <a:lstStyle/>
          <a:p>
            <a:pPr algn="l" indent="0" marL="0">
              <a:buNone/>
            </a:pPr>
            <a:r>
              <a:rPr lang="en-US" sz="2700" dirty="0">
                <a:solidFill>
                  <a:srgbClr val="000000"/>
                </a:solidFill>
                <a:latin typeface="Arial" pitchFamily="34" charset="0"/>
                <a:ea typeface="Arial" pitchFamily="34" charset="-122"/>
                <a:cs typeface="Arial" pitchFamily="34" charset="-120"/>
              </a:rPr>
              <a:t>经典架构</a:t>
            </a:r>
            <a:endParaRPr lang="en-US" sz="2700" dirty="0"/>
          </a:p>
        </p:txBody>
      </p:sp>
      <p:sp>
        <p:nvSpPr>
          <p:cNvPr id="3" name="Text 1"/>
          <p:cNvSpPr txBox="1"/>
          <p:nvPr/>
        </p:nvSpPr>
        <p:spPr>
          <a:xfrm>
            <a:off x="3973163" y="199013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4207818" y="2018705"/>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多层感知机</a:t>
            </a:r>
            <a:endParaRPr lang="en-US" sz="1320" dirty="0"/>
          </a:p>
        </p:txBody>
      </p:sp>
      <p:sp>
        <p:nvSpPr>
          <p:cNvPr id="5" name="Text 3"/>
          <p:cNvSpPr txBox="1"/>
          <p:nvPr/>
        </p:nvSpPr>
        <p:spPr>
          <a:xfrm>
            <a:off x="3973163" y="229195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4207818" y="2320528"/>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卷积神经网络</a:t>
            </a:r>
            <a:endParaRPr lang="en-US" sz="1320" dirty="0"/>
          </a:p>
        </p:txBody>
      </p:sp>
      <p:sp>
        <p:nvSpPr>
          <p:cNvPr id="7" name="Text 5"/>
          <p:cNvSpPr txBox="1"/>
          <p:nvPr/>
        </p:nvSpPr>
        <p:spPr>
          <a:xfrm>
            <a:off x="3973163" y="259377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4207818" y="2622352"/>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循环神经网络</a:t>
            </a:r>
            <a:endParaRPr lang="en-US" sz="1320" dirty="0"/>
          </a:p>
        </p:txBody>
      </p:sp>
      <p:sp>
        <p:nvSpPr>
          <p:cNvPr id="9" name="Text 7"/>
          <p:cNvSpPr txBox="1"/>
          <p:nvPr/>
        </p:nvSpPr>
        <p:spPr>
          <a:xfrm>
            <a:off x="3973163" y="289560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4207818" y="2924175"/>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注意力机制</a:t>
            </a:r>
            <a:endParaRPr lang="en-US" sz="1320" dirty="0"/>
          </a:p>
        </p:txBody>
      </p:sp>
      <p:sp>
        <p:nvSpPr>
          <p:cNvPr id="11" name="Text 9"/>
          <p:cNvSpPr txBox="1"/>
          <p:nvPr/>
        </p:nvSpPr>
        <p:spPr>
          <a:xfrm>
            <a:off x="3973163" y="319742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4207818" y="3225998"/>
            <a:ext cx="44961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其他</a:t>
            </a:r>
            <a:endParaRPr lang="en-US" sz="1320" dirty="0"/>
          </a:p>
        </p:txBody>
      </p:sp>
      <p:sp>
        <p:nvSpPr>
          <p:cNvPr id="13" name="Text 11"/>
          <p:cNvSpPr txBox="1"/>
          <p:nvPr/>
        </p:nvSpPr>
        <p:spPr>
          <a:xfrm>
            <a:off x="3973163" y="349924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2"/>
          <p:cNvSpPr txBox="1"/>
          <p:nvPr/>
        </p:nvSpPr>
        <p:spPr>
          <a:xfrm>
            <a:off x="4207818" y="3527822"/>
            <a:ext cx="44961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小节</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4955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多层感知机</a:t>
            </a:r>
            <a:endParaRPr lang="en-US" sz="3750" dirty="0"/>
          </a:p>
        </p:txBody>
      </p:sp>
      <p:sp>
        <p:nvSpPr>
          <p:cNvPr id="3" name="Text 1"/>
          <p:cNvSpPr txBox="1"/>
          <p:nvPr/>
        </p:nvSpPr>
        <p:spPr>
          <a:xfrm>
            <a:off x="533400" y="893266"/>
            <a:ext cx="7668667"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Multilayer Peceptron (MLP)，又名前馈 feedforward 网络 ，全连接 fully-connected 网络</a:t>
            </a:r>
            <a:endParaRPr lang="en-US" sz="1500" dirty="0"/>
          </a:p>
        </p:txBody>
      </p:sp>
      <p:sp>
        <p:nvSpPr>
          <p:cNvPr id="4" name="Text 2"/>
          <p:cNvSpPr txBox="1"/>
          <p:nvPr/>
        </p:nvSpPr>
        <p:spPr>
          <a:xfrm>
            <a:off x="516630" y="16838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5" name="Text 3"/>
          <p:cNvSpPr txBox="1"/>
          <p:nvPr/>
        </p:nvSpPr>
        <p:spPr>
          <a:xfrm>
            <a:off x="751284" y="1712416"/>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生物神经元的最简化模拟</a:t>
            </a:r>
            <a:endParaRPr lang="en-US" sz="1320" dirty="0"/>
          </a:p>
        </p:txBody>
      </p:sp>
      <p:sp>
        <p:nvSpPr>
          <p:cNvPr id="6" name="Text 4"/>
          <p:cNvSpPr txBox="1"/>
          <p:nvPr/>
        </p:nvSpPr>
        <p:spPr>
          <a:xfrm>
            <a:off x="516630" y="19856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7" name="Text 5"/>
          <p:cNvSpPr txBox="1"/>
          <p:nvPr/>
        </p:nvSpPr>
        <p:spPr>
          <a:xfrm>
            <a:off x="751284" y="2014240"/>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线性变换，特征混合</a:t>
            </a:r>
            <a:endParaRPr lang="en-US" sz="1320" dirty="0"/>
          </a:p>
        </p:txBody>
      </p:sp>
      <p:sp>
        <p:nvSpPr>
          <p:cNvPr id="8" name="Text 6"/>
          <p:cNvSpPr txBox="1"/>
          <p:nvPr/>
        </p:nvSpPr>
        <p:spPr>
          <a:xfrm>
            <a:off x="516630" y="22874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9" name="Text 7"/>
          <p:cNvSpPr txBox="1"/>
          <p:nvPr/>
        </p:nvSpPr>
        <p:spPr>
          <a:xfrm>
            <a:off x="751284" y="2316063"/>
            <a:ext cx="145509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全连接，参数量大</a:t>
            </a:r>
            <a:endParaRPr lang="en-US" sz="1320" dirty="0"/>
          </a:p>
        </p:txBody>
      </p:sp>
      <p:sp>
        <p:nvSpPr>
          <p:cNvPr id="10" name="Text 8"/>
          <p:cNvSpPr txBox="1"/>
          <p:nvPr/>
        </p:nvSpPr>
        <p:spPr>
          <a:xfrm>
            <a:off x="516630" y="2589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1" name="Text 9"/>
          <p:cNvSpPr txBox="1"/>
          <p:nvPr/>
        </p:nvSpPr>
        <p:spPr>
          <a:xfrm>
            <a:off x="751284" y="2617887"/>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其他神经网络结构的雏形</a:t>
            </a:r>
            <a:endParaRPr lang="en-US" sz="1320" dirty="0"/>
          </a:p>
        </p:txBody>
      </p:sp>
      <p:pic>
        <p:nvPicPr>
          <p:cNvPr id="12" name="Image 0" descr="preencoded.png">    </p:cNvPr>
          <p:cNvPicPr>
            <a:picLocks noChangeAspect="1"/>
          </p:cNvPicPr>
          <p:nvPr/>
        </p:nvPicPr>
        <p:blipFill>
          <a:blip r:embed="rId1"/>
          <a:stretch>
            <a:fillRect/>
          </a:stretch>
        </p:blipFill>
        <p:spPr>
          <a:xfrm>
            <a:off x="3886200" y="1302841"/>
            <a:ext cx="4914900" cy="2068860"/>
          </a:xfrm>
          <a:prstGeom prst="rect">
            <a:avLst/>
          </a:prstGeom>
        </p:spPr>
      </p:pic>
      <p:pic>
        <p:nvPicPr>
          <p:cNvPr id="13"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14"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15" name="Text 10"/>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6" name="Shape 11"/>
          <p:cNvSpPr/>
          <p:nvPr/>
        </p:nvSpPr>
        <p:spPr>
          <a:xfrm>
            <a:off x="647700" y="5067300"/>
            <a:ext cx="9525" cy="152400"/>
          </a:xfrm>
          <a:prstGeom prst="rect">
            <a:avLst/>
          </a:prstGeom>
          <a:solidFill>
            <a:srgbClr val="F0FFFF"/>
          </a:solidFill>
          <a:ln/>
        </p:spPr>
      </p:sp>
      <p:sp>
        <p:nvSpPr>
          <p:cNvPr id="17" name="Text 12"/>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8" name="Text 13"/>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9" name="Text 14"/>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19</a:t>
            </a:r>
            <a:endParaRPr lang="en-US" sz="1050" dirty="0"/>
          </a:p>
        </p:txBody>
      </p:sp>
      <p:sp>
        <p:nvSpPr>
          <p:cNvPr id="20" name="Text 15"/>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1" name="Text 16"/>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971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卷积神经网络</a:t>
            </a:r>
            <a:endParaRPr lang="en-US" sz="3750" dirty="0"/>
          </a:p>
        </p:txBody>
      </p:sp>
      <p:sp>
        <p:nvSpPr>
          <p:cNvPr id="3" name="Text 1"/>
          <p:cNvSpPr txBox="1"/>
          <p:nvPr/>
        </p:nvSpPr>
        <p:spPr>
          <a:xfrm>
            <a:off x="533400" y="893266"/>
            <a:ext cx="3327797"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Convolutional neural network (CNN)</a:t>
            </a:r>
            <a:endParaRPr lang="en-US" sz="1500" dirty="0"/>
          </a:p>
        </p:txBody>
      </p:sp>
      <p:sp>
        <p:nvSpPr>
          <p:cNvPr id="4" name="Text 2"/>
          <p:cNvSpPr txBox="1"/>
          <p:nvPr/>
        </p:nvSpPr>
        <p:spPr>
          <a:xfrm>
            <a:off x="516630" y="16838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5" name="Text 3"/>
          <p:cNvSpPr txBox="1"/>
          <p:nvPr/>
        </p:nvSpPr>
        <p:spPr>
          <a:xfrm>
            <a:off x="751284" y="1712416"/>
            <a:ext cx="282728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受灵长类视觉皮层启发 (Hubel,1961)</a:t>
            </a:r>
            <a:endParaRPr lang="en-US" sz="1320" dirty="0"/>
          </a:p>
        </p:txBody>
      </p:sp>
      <p:sp>
        <p:nvSpPr>
          <p:cNvPr id="6" name="Text 4"/>
          <p:cNvSpPr txBox="1"/>
          <p:nvPr/>
        </p:nvSpPr>
        <p:spPr>
          <a:xfrm>
            <a:off x="516630" y="19856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7" name="Text 5"/>
          <p:cNvSpPr txBox="1"/>
          <p:nvPr/>
        </p:nvSpPr>
        <p:spPr>
          <a:xfrm>
            <a:off x="751284" y="2014240"/>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提取图像特征</a:t>
            </a:r>
            <a:endParaRPr lang="en-US" sz="1320" dirty="0"/>
          </a:p>
        </p:txBody>
      </p:sp>
      <p:sp>
        <p:nvSpPr>
          <p:cNvPr id="8" name="Text 6"/>
          <p:cNvSpPr txBox="1"/>
          <p:nvPr/>
        </p:nvSpPr>
        <p:spPr>
          <a:xfrm>
            <a:off x="516630" y="22874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9" name="Text 7"/>
          <p:cNvSpPr txBox="1"/>
          <p:nvPr/>
        </p:nvSpPr>
        <p:spPr>
          <a:xfrm>
            <a:off x="751284" y="2316063"/>
            <a:ext cx="246057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局部性，平移不变性，权重共享</a:t>
            </a:r>
            <a:endParaRPr lang="en-US" sz="1320" dirty="0"/>
          </a:p>
        </p:txBody>
      </p:sp>
      <p:pic>
        <p:nvPicPr>
          <p:cNvPr id="10" name="Image 0" descr="preencoded.png">    </p:cNvPr>
          <p:cNvPicPr>
            <a:picLocks noChangeAspect="1"/>
          </p:cNvPicPr>
          <p:nvPr/>
        </p:nvPicPr>
        <p:blipFill>
          <a:blip r:embed="rId1"/>
          <a:stretch>
            <a:fillRect/>
          </a:stretch>
        </p:blipFill>
        <p:spPr>
          <a:xfrm>
            <a:off x="533400" y="2589312"/>
            <a:ext cx="3757910" cy="616148"/>
          </a:xfrm>
          <a:prstGeom prst="rect">
            <a:avLst/>
          </a:prstGeom>
        </p:spPr>
      </p:pic>
      <p:sp>
        <p:nvSpPr>
          <p:cNvPr id="11" name="Text 8"/>
          <p:cNvSpPr txBox="1"/>
          <p:nvPr/>
        </p:nvSpPr>
        <p:spPr>
          <a:xfrm>
            <a:off x="516630" y="320546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9"/>
          <p:cNvSpPr txBox="1"/>
          <p:nvPr/>
        </p:nvSpPr>
        <p:spPr>
          <a:xfrm>
            <a:off x="751284" y="3234035"/>
            <a:ext cx="212541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通过降采样实现信息的压缩</a:t>
            </a:r>
            <a:endParaRPr lang="en-US" sz="1320" dirty="0"/>
          </a:p>
        </p:txBody>
      </p:sp>
      <p:sp>
        <p:nvSpPr>
          <p:cNvPr id="13" name="Text 10"/>
          <p:cNvSpPr txBox="1"/>
          <p:nvPr/>
        </p:nvSpPr>
        <p:spPr>
          <a:xfrm>
            <a:off x="516630" y="3507284"/>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1"/>
          <p:cNvSpPr txBox="1"/>
          <p:nvPr/>
        </p:nvSpPr>
        <p:spPr>
          <a:xfrm>
            <a:off x="751284" y="3535859"/>
            <a:ext cx="279573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网络越深，特征图越小，特征越高级</a:t>
            </a:r>
            <a:endParaRPr lang="en-US" sz="1320" dirty="0"/>
          </a:p>
        </p:txBody>
      </p:sp>
      <p:pic>
        <p:nvPicPr>
          <p:cNvPr id="15" name="Image 1" descr="preencoded.png">    </p:cNvPr>
          <p:cNvPicPr>
            <a:picLocks noChangeAspect="1"/>
          </p:cNvPicPr>
          <p:nvPr/>
        </p:nvPicPr>
        <p:blipFill>
          <a:blip r:embed="rId2"/>
          <a:stretch>
            <a:fillRect/>
          </a:stretch>
        </p:blipFill>
        <p:spPr>
          <a:xfrm>
            <a:off x="4291310" y="1302841"/>
            <a:ext cx="2705695" cy="1757511"/>
          </a:xfrm>
          <a:prstGeom prst="rect">
            <a:avLst/>
          </a:prstGeom>
        </p:spPr>
      </p:pic>
      <p:pic>
        <p:nvPicPr>
          <p:cNvPr id="16" name="Image 2" descr="preencoded.png">    </p:cNvPr>
          <p:cNvPicPr>
            <a:picLocks noChangeAspect="1"/>
          </p:cNvPicPr>
          <p:nvPr/>
        </p:nvPicPr>
        <p:blipFill>
          <a:blip r:embed="rId3"/>
          <a:stretch>
            <a:fillRect/>
          </a:stretch>
        </p:blipFill>
        <p:spPr>
          <a:xfrm>
            <a:off x="6997005" y="1302841"/>
            <a:ext cx="1443038" cy="1640235"/>
          </a:xfrm>
          <a:prstGeom prst="rect">
            <a:avLst/>
          </a:prstGeom>
        </p:spPr>
      </p:pic>
      <p:pic>
        <p:nvPicPr>
          <p:cNvPr id="17" name="Image 3" descr="preencoded.png">    </p:cNvPr>
          <p:cNvPicPr>
            <a:picLocks noChangeAspect="1"/>
          </p:cNvPicPr>
          <p:nvPr/>
        </p:nvPicPr>
        <p:blipFill>
          <a:blip r:embed="rId4"/>
          <a:stretch>
            <a:fillRect/>
          </a:stretch>
        </p:blipFill>
        <p:spPr>
          <a:xfrm>
            <a:off x="4291310" y="3060353"/>
            <a:ext cx="4509641" cy="1705273"/>
          </a:xfrm>
          <a:prstGeom prst="rect">
            <a:avLst/>
          </a:prstGeom>
        </p:spPr>
      </p:pic>
      <p:pic>
        <p:nvPicPr>
          <p:cNvPr id="18" name="Image 4" descr="Rendered as an image because of CSS background-image">    </p:cNvPr>
          <p:cNvPicPr>
            <a:picLocks noChangeAspect="1"/>
          </p:cNvPicPr>
          <p:nvPr/>
        </p:nvPicPr>
        <p:blipFill>
          <a:blip r:embed="rId5"/>
          <a:stretch>
            <a:fillRect/>
          </a:stretch>
        </p:blipFill>
        <p:spPr>
          <a:xfrm>
            <a:off x="0" y="210294"/>
            <a:ext cx="326678" cy="838200"/>
          </a:xfrm>
          <a:prstGeom prst="rect">
            <a:avLst/>
          </a:prstGeom>
        </p:spPr>
      </p:pic>
      <p:pic>
        <p:nvPicPr>
          <p:cNvPr id="19" name="Image 5" descr="Rendered as an image because of CSS background-image">    </p:cNvPr>
          <p:cNvPicPr>
            <a:picLocks noChangeAspect="1"/>
          </p:cNvPicPr>
          <p:nvPr/>
        </p:nvPicPr>
        <p:blipFill>
          <a:blip r:embed="rId6"/>
          <a:stretch>
            <a:fillRect/>
          </a:stretch>
        </p:blipFill>
        <p:spPr>
          <a:xfrm>
            <a:off x="0" y="5029200"/>
            <a:ext cx="9334500" cy="228600"/>
          </a:xfrm>
          <a:prstGeom prst="rect">
            <a:avLst/>
          </a:prstGeom>
        </p:spPr>
      </p:pic>
      <p:sp>
        <p:nvSpPr>
          <p:cNvPr id="20" name="Text 12"/>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1" name="Shape 13"/>
          <p:cNvSpPr/>
          <p:nvPr/>
        </p:nvSpPr>
        <p:spPr>
          <a:xfrm>
            <a:off x="647700" y="5067300"/>
            <a:ext cx="9525" cy="152400"/>
          </a:xfrm>
          <a:prstGeom prst="rect">
            <a:avLst/>
          </a:prstGeom>
          <a:solidFill>
            <a:srgbClr val="F0FFFF"/>
          </a:solidFill>
          <a:ln/>
        </p:spPr>
      </p:sp>
      <p:sp>
        <p:nvSpPr>
          <p:cNvPr id="22" name="Text 14"/>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3" name="Text 15"/>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4" name="Text 16"/>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20</a:t>
            </a:r>
            <a:endParaRPr lang="en-US" sz="1050" dirty="0"/>
          </a:p>
        </p:txBody>
      </p:sp>
      <p:sp>
        <p:nvSpPr>
          <p:cNvPr id="25" name="Text 17"/>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6" name="Text 18"/>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971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循环神经网络</a:t>
            </a:r>
            <a:endParaRPr lang="en-US" sz="3750" dirty="0"/>
          </a:p>
        </p:txBody>
      </p:sp>
      <p:sp>
        <p:nvSpPr>
          <p:cNvPr id="3" name="Text 1"/>
          <p:cNvSpPr txBox="1"/>
          <p:nvPr/>
        </p:nvSpPr>
        <p:spPr>
          <a:xfrm>
            <a:off x="533400" y="893266"/>
            <a:ext cx="2949625"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Recurrent neural network (RNN)</a:t>
            </a:r>
            <a:endParaRPr lang="en-US" sz="1500" dirty="0"/>
          </a:p>
        </p:txBody>
      </p:sp>
      <p:sp>
        <p:nvSpPr>
          <p:cNvPr id="4" name="Text 2"/>
          <p:cNvSpPr txBox="1"/>
          <p:nvPr/>
        </p:nvSpPr>
        <p:spPr>
          <a:xfrm>
            <a:off x="516630" y="16838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5" name="Text 3"/>
          <p:cNvSpPr txBox="1"/>
          <p:nvPr/>
        </p:nvSpPr>
        <p:spPr>
          <a:xfrm>
            <a:off x="751284" y="1712416"/>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自回归结构</a:t>
            </a:r>
            <a:endParaRPr lang="en-US" sz="1320" dirty="0"/>
          </a:p>
        </p:txBody>
      </p:sp>
      <p:sp>
        <p:nvSpPr>
          <p:cNvPr id="6" name="Text 4"/>
          <p:cNvSpPr txBox="1"/>
          <p:nvPr/>
        </p:nvSpPr>
        <p:spPr>
          <a:xfrm>
            <a:off x="516630" y="19856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7" name="Text 5"/>
          <p:cNvSpPr txBox="1"/>
          <p:nvPr/>
        </p:nvSpPr>
        <p:spPr>
          <a:xfrm>
            <a:off x="751284" y="2014240"/>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提取序列特征</a:t>
            </a:r>
            <a:endParaRPr lang="en-US" sz="1320" dirty="0"/>
          </a:p>
        </p:txBody>
      </p:sp>
      <p:sp>
        <p:nvSpPr>
          <p:cNvPr id="8" name="Text 6"/>
          <p:cNvSpPr txBox="1"/>
          <p:nvPr/>
        </p:nvSpPr>
        <p:spPr>
          <a:xfrm>
            <a:off x="516630" y="22874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9" name="Text 7"/>
          <p:cNvSpPr txBox="1"/>
          <p:nvPr/>
        </p:nvSpPr>
        <p:spPr>
          <a:xfrm>
            <a:off x="751284" y="2316063"/>
            <a:ext cx="241458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带门控机制的变体 (LSTM,GRU)</a:t>
            </a:r>
            <a:endParaRPr lang="en-US" sz="1320" dirty="0"/>
          </a:p>
        </p:txBody>
      </p:sp>
      <p:pic>
        <p:nvPicPr>
          <p:cNvPr id="10" name="Image 0" descr="preencoded.png">    </p:cNvPr>
          <p:cNvPicPr>
            <a:picLocks noChangeAspect="1"/>
          </p:cNvPicPr>
          <p:nvPr/>
        </p:nvPicPr>
        <p:blipFill>
          <a:blip r:embed="rId1"/>
          <a:stretch>
            <a:fillRect/>
          </a:stretch>
        </p:blipFill>
        <p:spPr>
          <a:xfrm>
            <a:off x="3886200" y="1302841"/>
            <a:ext cx="3440311" cy="1375172"/>
          </a:xfrm>
          <a:prstGeom prst="rect">
            <a:avLst/>
          </a:prstGeom>
        </p:spPr>
      </p:pic>
      <p:pic>
        <p:nvPicPr>
          <p:cNvPr id="11" name="Image 1" descr="preencoded.png">    </p:cNvPr>
          <p:cNvPicPr>
            <a:picLocks noChangeAspect="1"/>
          </p:cNvPicPr>
          <p:nvPr/>
        </p:nvPicPr>
        <p:blipFill>
          <a:blip r:embed="rId2"/>
          <a:stretch>
            <a:fillRect/>
          </a:stretch>
        </p:blipFill>
        <p:spPr>
          <a:xfrm>
            <a:off x="3886200" y="2678013"/>
            <a:ext cx="3440311" cy="1958578"/>
          </a:xfrm>
          <a:prstGeom prst="rect">
            <a:avLst/>
          </a:prstGeom>
        </p:spPr>
      </p:pic>
      <p:pic>
        <p:nvPicPr>
          <p:cNvPr id="12" name="Image 2" descr="Rendered as an image because of CSS background-image">    </p:cNvPr>
          <p:cNvPicPr>
            <a:picLocks noChangeAspect="1"/>
          </p:cNvPicPr>
          <p:nvPr/>
        </p:nvPicPr>
        <p:blipFill>
          <a:blip r:embed="rId3"/>
          <a:stretch>
            <a:fillRect/>
          </a:stretch>
        </p:blipFill>
        <p:spPr>
          <a:xfrm>
            <a:off x="0" y="210294"/>
            <a:ext cx="326678" cy="838200"/>
          </a:xfrm>
          <a:prstGeom prst="rect">
            <a:avLst/>
          </a:prstGeom>
        </p:spPr>
      </p:pic>
      <p:pic>
        <p:nvPicPr>
          <p:cNvPr id="13" name="Image 3" descr="Rendered as an image because of CSS background-image">    </p:cNvPr>
          <p:cNvPicPr>
            <a:picLocks noChangeAspect="1"/>
          </p:cNvPicPr>
          <p:nvPr/>
        </p:nvPicPr>
        <p:blipFill>
          <a:blip r:embed="rId4"/>
          <a:stretch>
            <a:fillRect/>
          </a:stretch>
        </p:blipFill>
        <p:spPr>
          <a:xfrm>
            <a:off x="0" y="5029200"/>
            <a:ext cx="9334500" cy="228600"/>
          </a:xfrm>
          <a:prstGeom prst="rect">
            <a:avLst/>
          </a:prstGeom>
        </p:spPr>
      </p:pic>
      <p:sp>
        <p:nvSpPr>
          <p:cNvPr id="14" name="Text 8"/>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5" name="Shape 9"/>
          <p:cNvSpPr/>
          <p:nvPr/>
        </p:nvSpPr>
        <p:spPr>
          <a:xfrm>
            <a:off x="647700" y="5067300"/>
            <a:ext cx="9525" cy="152400"/>
          </a:xfrm>
          <a:prstGeom prst="rect">
            <a:avLst/>
          </a:prstGeom>
          <a:solidFill>
            <a:srgbClr val="F0FFFF"/>
          </a:solidFill>
          <a:ln/>
        </p:spPr>
      </p:sp>
      <p:sp>
        <p:nvSpPr>
          <p:cNvPr id="16" name="Text 10"/>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7" name="Text 11"/>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8" name="Text 12"/>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21</a:t>
            </a:r>
            <a:endParaRPr lang="en-US" sz="1050" dirty="0"/>
          </a:p>
        </p:txBody>
      </p:sp>
      <p:sp>
        <p:nvSpPr>
          <p:cNvPr id="19" name="Text 13"/>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0" name="Text 14"/>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4955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注意力机制</a:t>
            </a:r>
            <a:endParaRPr lang="en-US" sz="3750" dirty="0"/>
          </a:p>
        </p:txBody>
      </p:sp>
      <p:sp>
        <p:nvSpPr>
          <p:cNvPr id="3" name="Text 1"/>
          <p:cNvSpPr txBox="1"/>
          <p:nvPr/>
        </p:nvSpPr>
        <p:spPr>
          <a:xfrm>
            <a:off x="533400" y="893266"/>
            <a:ext cx="941487"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Attention</a:t>
            </a:r>
            <a:endParaRPr lang="en-US" sz="1500" dirty="0"/>
          </a:p>
        </p:txBody>
      </p:sp>
      <p:sp>
        <p:nvSpPr>
          <p:cNvPr id="4" name="Text 2"/>
          <p:cNvSpPr txBox="1"/>
          <p:nvPr/>
        </p:nvSpPr>
        <p:spPr>
          <a:xfrm>
            <a:off x="516630" y="13028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5" name="Image 0" descr="Rendered as an image because of CSS math">    </p:cNvPr>
          <p:cNvPicPr>
            <a:picLocks noChangeAspect="1"/>
          </p:cNvPicPr>
          <p:nvPr/>
        </p:nvPicPr>
        <p:blipFill>
          <a:blip r:embed="rId1"/>
          <a:stretch>
            <a:fillRect/>
          </a:stretch>
        </p:blipFill>
        <p:spPr>
          <a:xfrm>
            <a:off x="1459260" y="1340941"/>
            <a:ext cx="605582" cy="238125"/>
          </a:xfrm>
          <a:prstGeom prst="rect">
            <a:avLst/>
          </a:prstGeom>
        </p:spPr>
      </p:pic>
      <p:sp>
        <p:nvSpPr>
          <p:cNvPr id="6" name="Text 3"/>
          <p:cNvSpPr txBox="1"/>
          <p:nvPr/>
        </p:nvSpPr>
        <p:spPr>
          <a:xfrm>
            <a:off x="751284" y="1331416"/>
            <a:ext cx="82227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建模序列</a:t>
            </a:r>
            <a:endParaRPr lang="en-US" sz="1320" dirty="0"/>
          </a:p>
        </p:txBody>
      </p:sp>
      <p:sp>
        <p:nvSpPr>
          <p:cNvPr id="7" name="Text 4"/>
          <p:cNvSpPr txBox="1"/>
          <p:nvPr/>
        </p:nvSpPr>
        <p:spPr>
          <a:xfrm>
            <a:off x="516630" y="16046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8" name="Image 1" descr="Rendered as an image because of CSS math">    </p:cNvPr>
          <p:cNvPicPr>
            <a:picLocks noChangeAspect="1"/>
          </p:cNvPicPr>
          <p:nvPr/>
        </p:nvPicPr>
        <p:blipFill>
          <a:blip r:embed="rId2"/>
          <a:stretch>
            <a:fillRect/>
          </a:stretch>
        </p:blipFill>
        <p:spPr>
          <a:xfrm>
            <a:off x="1459260" y="1642765"/>
            <a:ext cx="172045" cy="238125"/>
          </a:xfrm>
          <a:prstGeom prst="rect">
            <a:avLst/>
          </a:prstGeom>
        </p:spPr>
      </p:pic>
      <p:sp>
        <p:nvSpPr>
          <p:cNvPr id="9" name="Text 5"/>
          <p:cNvSpPr txBox="1"/>
          <p:nvPr/>
        </p:nvSpPr>
        <p:spPr>
          <a:xfrm>
            <a:off x="751326" y="1633240"/>
            <a:ext cx="3108085"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输入表征 </a:t>
            </a:r>
            <a:pPr algn="l" indent="0" marL="0">
              <a:lnSpc>
                <a:spcPts val="2377"/>
              </a:lnSpc>
              <a:buNone/>
            </a:pPr>
            <a:r>
              <a:rPr lang="en-US" sz="1320" dirty="0">
                <a:solidFill>
                  <a:srgbClr val="000000"/>
                </a:solidFill>
                <a:latin typeface="Arial" pitchFamily="34" charset="0"/>
                <a:ea typeface="Arial" pitchFamily="34" charset="-122"/>
                <a:cs typeface="Arial" pitchFamily="34" charset="-120"/>
              </a:rPr>
              <a:t> 线性变换得到查询、键、值表征（数据库信息检索范式）</a:t>
            </a:r>
            <a:endParaRPr lang="en-US" sz="1320" dirty="0"/>
          </a:p>
        </p:txBody>
      </p:sp>
      <p:sp>
        <p:nvSpPr>
          <p:cNvPr id="10" name="Text 6"/>
          <p:cNvSpPr txBox="1"/>
          <p:nvPr/>
        </p:nvSpPr>
        <p:spPr>
          <a:xfrm>
            <a:off x="516630" y="2208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1" name="Text 7"/>
          <p:cNvSpPr txBox="1"/>
          <p:nvPr/>
        </p:nvSpPr>
        <p:spPr>
          <a:xfrm>
            <a:off x="751284" y="2236887"/>
            <a:ext cx="255359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注意力=随上下文变化的动态权重</a:t>
            </a:r>
            <a:endParaRPr lang="en-US" sz="1320" dirty="0"/>
          </a:p>
        </p:txBody>
      </p:sp>
      <p:pic>
        <p:nvPicPr>
          <p:cNvPr id="12" name="Image 2" descr="Rendered as an image because of CSS math">    </p:cNvPr>
          <p:cNvPicPr>
            <a:picLocks noChangeAspect="1"/>
          </p:cNvPicPr>
          <p:nvPr/>
        </p:nvPicPr>
        <p:blipFill>
          <a:blip r:embed="rId3"/>
          <a:stretch>
            <a:fillRect/>
          </a:stretch>
        </p:blipFill>
        <p:spPr>
          <a:xfrm>
            <a:off x="751284" y="2677716"/>
            <a:ext cx="3089077" cy="961876"/>
          </a:xfrm>
          <a:prstGeom prst="rect">
            <a:avLst/>
          </a:prstGeom>
        </p:spPr>
      </p:pic>
      <p:pic>
        <p:nvPicPr>
          <p:cNvPr id="13" name="Image 3" descr="Rendered as an image because of CSS math">    </p:cNvPr>
          <p:cNvPicPr>
            <a:picLocks noChangeAspect="1"/>
          </p:cNvPicPr>
          <p:nvPr/>
        </p:nvPicPr>
        <p:blipFill>
          <a:blip r:embed="rId4"/>
          <a:stretch>
            <a:fillRect/>
          </a:stretch>
        </p:blipFill>
        <p:spPr>
          <a:xfrm>
            <a:off x="533400" y="3974753"/>
            <a:ext cx="3306961" cy="657523"/>
          </a:xfrm>
          <a:prstGeom prst="rect">
            <a:avLst/>
          </a:prstGeom>
        </p:spPr>
      </p:pic>
      <p:pic>
        <p:nvPicPr>
          <p:cNvPr id="14" name="Image 4" descr="preencoded.png">    </p:cNvPr>
          <p:cNvPicPr>
            <a:picLocks noChangeAspect="1"/>
          </p:cNvPicPr>
          <p:nvPr/>
        </p:nvPicPr>
        <p:blipFill>
          <a:blip r:embed="rId5"/>
          <a:stretch>
            <a:fillRect/>
          </a:stretch>
        </p:blipFill>
        <p:spPr>
          <a:xfrm>
            <a:off x="3840361" y="1302841"/>
            <a:ext cx="4960739" cy="2578596"/>
          </a:xfrm>
          <a:prstGeom prst="rect">
            <a:avLst/>
          </a:prstGeom>
        </p:spPr>
      </p:pic>
      <p:pic>
        <p:nvPicPr>
          <p:cNvPr id="15" name="Image 5" descr="Rendered as an image because of CSS background-image">    </p:cNvPr>
          <p:cNvPicPr>
            <a:picLocks noChangeAspect="1"/>
          </p:cNvPicPr>
          <p:nvPr/>
        </p:nvPicPr>
        <p:blipFill>
          <a:blip r:embed="rId6"/>
          <a:stretch>
            <a:fillRect/>
          </a:stretch>
        </p:blipFill>
        <p:spPr>
          <a:xfrm>
            <a:off x="0" y="210294"/>
            <a:ext cx="326678" cy="838200"/>
          </a:xfrm>
          <a:prstGeom prst="rect">
            <a:avLst/>
          </a:prstGeom>
        </p:spPr>
      </p:pic>
      <p:pic>
        <p:nvPicPr>
          <p:cNvPr id="16" name="Image 6" descr="Rendered as an image because of CSS background-image">    </p:cNvPr>
          <p:cNvPicPr>
            <a:picLocks noChangeAspect="1"/>
          </p:cNvPicPr>
          <p:nvPr/>
        </p:nvPicPr>
        <p:blipFill>
          <a:blip r:embed="rId7"/>
          <a:stretch>
            <a:fillRect/>
          </a:stretch>
        </p:blipFill>
        <p:spPr>
          <a:xfrm>
            <a:off x="0" y="5029200"/>
            <a:ext cx="9334500" cy="228600"/>
          </a:xfrm>
          <a:prstGeom prst="rect">
            <a:avLst/>
          </a:prstGeom>
        </p:spPr>
      </p:pic>
      <p:sp>
        <p:nvSpPr>
          <p:cNvPr id="17" name="Text 8"/>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8" name="Shape 9"/>
          <p:cNvSpPr/>
          <p:nvPr/>
        </p:nvSpPr>
        <p:spPr>
          <a:xfrm>
            <a:off x="647700" y="5067300"/>
            <a:ext cx="9525" cy="152400"/>
          </a:xfrm>
          <a:prstGeom prst="rect">
            <a:avLst/>
          </a:prstGeom>
          <a:solidFill>
            <a:srgbClr val="F0FFFF"/>
          </a:solidFill>
          <a:ln/>
        </p:spPr>
      </p:sp>
      <p:sp>
        <p:nvSpPr>
          <p:cNvPr id="19" name="Text 10"/>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0" name="Text 11"/>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1" name="Text 12"/>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22</a:t>
            </a:r>
            <a:endParaRPr lang="en-US" sz="1050" dirty="0"/>
          </a:p>
        </p:txBody>
      </p:sp>
      <p:sp>
        <p:nvSpPr>
          <p:cNvPr id="22" name="Text 13"/>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3" name="Text 14"/>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1066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其他</a:t>
            </a:r>
            <a:endParaRPr lang="en-US" sz="3750" dirty="0"/>
          </a:p>
        </p:txBody>
      </p:sp>
      <p:sp>
        <p:nvSpPr>
          <p:cNvPr id="3" name="Text 1"/>
          <p:cNvSpPr txBox="1"/>
          <p:nvPr/>
        </p:nvSpPr>
        <p:spPr>
          <a:xfrm>
            <a:off x="516630" y="15695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1598116"/>
            <a:ext cx="346605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残差连接：解决深层网络训练的梯度传播问题</a:t>
            </a:r>
            <a:endParaRPr lang="en-US" sz="1320" dirty="0"/>
          </a:p>
        </p:txBody>
      </p:sp>
      <p:sp>
        <p:nvSpPr>
          <p:cNvPr id="5" name="Text 3"/>
          <p:cNvSpPr txBox="1"/>
          <p:nvPr/>
        </p:nvSpPr>
        <p:spPr>
          <a:xfrm>
            <a:off x="516630" y="18713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284" y="1899940"/>
            <a:ext cx="346605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归一化层：解决激活值尺度不稳定的数值问题</a:t>
            </a:r>
            <a:endParaRPr lang="en-US" sz="1320" dirty="0"/>
          </a:p>
        </p:txBody>
      </p:sp>
      <p:sp>
        <p:nvSpPr>
          <p:cNvPr id="7" name="Text 5"/>
          <p:cNvSpPr txBox="1"/>
          <p:nvPr/>
        </p:nvSpPr>
        <p:spPr>
          <a:xfrm>
            <a:off x="516630" y="21731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751284" y="2201763"/>
            <a:ext cx="348362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Dropout 层：随机丢弃激活信号，防止过拟合</a:t>
            </a:r>
            <a:endParaRPr lang="en-US" sz="1320" dirty="0"/>
          </a:p>
        </p:txBody>
      </p:sp>
      <p:pic>
        <p:nvPicPr>
          <p:cNvPr id="9" name="Image 0" descr="preencoded.png">    </p:cNvPr>
          <p:cNvPicPr>
            <a:picLocks noChangeAspect="1"/>
          </p:cNvPicPr>
          <p:nvPr/>
        </p:nvPicPr>
        <p:blipFill>
          <a:blip r:embed="rId1"/>
          <a:stretch>
            <a:fillRect/>
          </a:stretch>
        </p:blipFill>
        <p:spPr>
          <a:xfrm>
            <a:off x="4332982" y="1188541"/>
            <a:ext cx="3127474" cy="1694259"/>
          </a:xfrm>
          <a:prstGeom prst="rect">
            <a:avLst/>
          </a:prstGeom>
        </p:spPr>
      </p:pic>
      <p:pic>
        <p:nvPicPr>
          <p:cNvPr id="10" name="Image 1" descr="preencoded.png">    </p:cNvPr>
          <p:cNvPicPr>
            <a:picLocks noChangeAspect="1"/>
          </p:cNvPicPr>
          <p:nvPr/>
        </p:nvPicPr>
        <p:blipFill>
          <a:blip r:embed="rId2"/>
          <a:stretch>
            <a:fillRect/>
          </a:stretch>
        </p:blipFill>
        <p:spPr>
          <a:xfrm>
            <a:off x="4332982" y="2882801"/>
            <a:ext cx="4467969" cy="1427262"/>
          </a:xfrm>
          <a:prstGeom prst="rect">
            <a:avLst/>
          </a:prstGeom>
        </p:spPr>
      </p:pic>
      <p:pic>
        <p:nvPicPr>
          <p:cNvPr id="11" name="Image 2" descr="Rendered as an image because of CSS background-image">    </p:cNvPr>
          <p:cNvPicPr>
            <a:picLocks noChangeAspect="1"/>
          </p:cNvPicPr>
          <p:nvPr/>
        </p:nvPicPr>
        <p:blipFill>
          <a:blip r:embed="rId3"/>
          <a:stretch>
            <a:fillRect/>
          </a:stretch>
        </p:blipFill>
        <p:spPr>
          <a:xfrm>
            <a:off x="0" y="210294"/>
            <a:ext cx="326678" cy="838200"/>
          </a:xfrm>
          <a:prstGeom prst="rect">
            <a:avLst/>
          </a:prstGeom>
        </p:spPr>
      </p:pic>
      <p:pic>
        <p:nvPicPr>
          <p:cNvPr id="12" name="Image 3" descr="Rendered as an image because of CSS background-image">    </p:cNvPr>
          <p:cNvPicPr>
            <a:picLocks noChangeAspect="1"/>
          </p:cNvPicPr>
          <p:nvPr/>
        </p:nvPicPr>
        <p:blipFill>
          <a:blip r:embed="rId4"/>
          <a:stretch>
            <a:fillRect/>
          </a:stretch>
        </p:blipFill>
        <p:spPr>
          <a:xfrm>
            <a:off x="0" y="5029200"/>
            <a:ext cx="9334500" cy="228600"/>
          </a:xfrm>
          <a:prstGeom prst="rect">
            <a:avLst/>
          </a:prstGeom>
        </p:spPr>
      </p:pic>
      <p:sp>
        <p:nvSpPr>
          <p:cNvPr id="13" name="Text 7"/>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4" name="Shape 8"/>
          <p:cNvSpPr/>
          <p:nvPr/>
        </p:nvSpPr>
        <p:spPr>
          <a:xfrm>
            <a:off x="647700" y="5067300"/>
            <a:ext cx="9525" cy="152400"/>
          </a:xfrm>
          <a:prstGeom prst="rect">
            <a:avLst/>
          </a:prstGeom>
          <a:solidFill>
            <a:srgbClr val="F0FFFF"/>
          </a:solidFill>
          <a:ln/>
        </p:spPr>
      </p:sp>
      <p:sp>
        <p:nvSpPr>
          <p:cNvPr id="15" name="Text 9"/>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6" name="Text 10"/>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7" name="Text 11"/>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23</a:t>
            </a:r>
            <a:endParaRPr lang="en-US" sz="1050" dirty="0"/>
          </a:p>
        </p:txBody>
      </p:sp>
      <p:sp>
        <p:nvSpPr>
          <p:cNvPr id="18" name="Text 12"/>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19" name="Text 13"/>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1066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小结</a:t>
            </a:r>
            <a:endParaRPr lang="en-US" sz="3750" dirty="0"/>
          </a:p>
        </p:txBody>
      </p:sp>
      <p:sp>
        <p:nvSpPr>
          <p:cNvPr id="3" name="Text 1"/>
          <p:cNvSpPr txBox="1"/>
          <p:nvPr/>
        </p:nvSpPr>
        <p:spPr>
          <a:xfrm>
            <a:off x="516630" y="1592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1620887"/>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仿生学启发式</a:t>
            </a:r>
            <a:endParaRPr lang="en-US" sz="1320" dirty="0"/>
          </a:p>
        </p:txBody>
      </p:sp>
      <p:sp>
        <p:nvSpPr>
          <p:cNvPr id="5" name="Text 3"/>
          <p:cNvSpPr txBox="1"/>
          <p:nvPr/>
        </p:nvSpPr>
        <p:spPr>
          <a:xfrm>
            <a:off x="516630" y="189413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284" y="1922711"/>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结构决定知识的性质</a:t>
            </a:r>
            <a:endParaRPr lang="en-US" sz="1320" dirty="0"/>
          </a:p>
        </p:txBody>
      </p:sp>
      <p:sp>
        <p:nvSpPr>
          <p:cNvPr id="7" name="Text 5"/>
          <p:cNvSpPr txBox="1"/>
          <p:nvPr/>
        </p:nvSpPr>
        <p:spPr>
          <a:xfrm>
            <a:off x="516630" y="21959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751284" y="2224534"/>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数值问题、工程技巧</a:t>
            </a:r>
            <a:endParaRPr lang="en-US" sz="1320" dirty="0"/>
          </a:p>
        </p:txBody>
      </p:sp>
      <p:pic>
        <p:nvPicPr>
          <p:cNvPr id="9" name="Image 0" descr="Rendered as an image because of CSS background-image">    </p:cNvPr>
          <p:cNvPicPr>
            <a:picLocks noChangeAspect="1"/>
          </p:cNvPicPr>
          <p:nvPr/>
        </p:nvPicPr>
        <p:blipFill>
          <a:blip r:embed="rId1"/>
          <a:stretch>
            <a:fillRect/>
          </a:stretch>
        </p:blipFill>
        <p:spPr>
          <a:xfrm>
            <a:off x="0" y="210294"/>
            <a:ext cx="326678" cy="838200"/>
          </a:xfrm>
          <a:prstGeom prst="rect">
            <a:avLst/>
          </a:prstGeom>
        </p:spPr>
      </p:pic>
      <p:pic>
        <p:nvPicPr>
          <p:cNvPr id="10" name="Image 1" descr="Rendered as an image because of CSS background-image">    </p:cNvPr>
          <p:cNvPicPr>
            <a:picLocks noChangeAspect="1"/>
          </p:cNvPicPr>
          <p:nvPr/>
        </p:nvPicPr>
        <p:blipFill>
          <a:blip r:embed="rId2"/>
          <a:stretch>
            <a:fillRect/>
          </a:stretch>
        </p:blipFill>
        <p:spPr>
          <a:xfrm>
            <a:off x="0" y="5029200"/>
            <a:ext cx="9334500" cy="228600"/>
          </a:xfrm>
          <a:prstGeom prst="rect">
            <a:avLst/>
          </a:prstGeom>
        </p:spPr>
      </p:pic>
      <p:sp>
        <p:nvSpPr>
          <p:cNvPr id="11" name="Text 7"/>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2" name="Shape 8"/>
          <p:cNvSpPr/>
          <p:nvPr/>
        </p:nvSpPr>
        <p:spPr>
          <a:xfrm>
            <a:off x="647700" y="5067300"/>
            <a:ext cx="9525" cy="152400"/>
          </a:xfrm>
          <a:prstGeom prst="rect">
            <a:avLst/>
          </a:prstGeom>
          <a:solidFill>
            <a:srgbClr val="F0FFFF"/>
          </a:solidFill>
          <a:ln/>
        </p:spPr>
      </p:sp>
      <p:sp>
        <p:nvSpPr>
          <p:cNvPr id="13" name="Text 9"/>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4" name="Text 10"/>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5" name="Text 11"/>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24</a:t>
            </a:r>
            <a:endParaRPr lang="en-US" sz="1050" dirty="0"/>
          </a:p>
        </p:txBody>
      </p:sp>
      <p:sp>
        <p:nvSpPr>
          <p:cNvPr id="16" name="Text 12"/>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17" name="Text 13"/>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894261" y="1852315"/>
            <a:ext cx="3643164" cy="495300"/>
          </a:xfrm>
          <a:prstGeom prst="rect">
            <a:avLst/>
          </a:prstGeom>
          <a:noFill/>
          <a:ln/>
        </p:spPr>
        <p:txBody>
          <a:bodyPr wrap="none" lIns="0" tIns="0" rIns="0" bIns="0" rtlCol="0" anchor="t"/>
          <a:lstStyle/>
          <a:p>
            <a:pPr algn="l" indent="0" marL="0">
              <a:buNone/>
            </a:pPr>
            <a:r>
              <a:rPr lang="en-US" sz="2700" dirty="0">
                <a:solidFill>
                  <a:srgbClr val="000000"/>
                </a:solidFill>
                <a:latin typeface="Arial" pitchFamily="34" charset="0"/>
                <a:ea typeface="Arial" pitchFamily="34" charset="-122"/>
                <a:cs typeface="Arial" pitchFamily="34" charset="-120"/>
              </a:rPr>
              <a:t>从 Transformer 到 GPT</a:t>
            </a:r>
            <a:endParaRPr lang="en-US" sz="2700" dirty="0"/>
          </a:p>
        </p:txBody>
      </p:sp>
      <p:sp>
        <p:nvSpPr>
          <p:cNvPr id="3" name="Text 1"/>
          <p:cNvSpPr txBox="1"/>
          <p:nvPr/>
        </p:nvSpPr>
        <p:spPr>
          <a:xfrm>
            <a:off x="2894606" y="24428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3129260" y="2471440"/>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从序列到序列</a:t>
            </a:r>
            <a:endParaRPr lang="en-US" sz="1320" dirty="0"/>
          </a:p>
        </p:txBody>
      </p:sp>
      <p:sp>
        <p:nvSpPr>
          <p:cNvPr id="5" name="Text 3"/>
          <p:cNvSpPr txBox="1"/>
          <p:nvPr/>
        </p:nvSpPr>
        <p:spPr>
          <a:xfrm>
            <a:off x="2894606" y="27446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3129260" y="2773263"/>
            <a:ext cx="107379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Transformer</a:t>
            </a:r>
            <a:endParaRPr lang="en-US" sz="1320" dirty="0"/>
          </a:p>
        </p:txBody>
      </p:sp>
      <p:sp>
        <p:nvSpPr>
          <p:cNvPr id="7" name="Text 5"/>
          <p:cNvSpPr txBox="1"/>
          <p:nvPr/>
        </p:nvSpPr>
        <p:spPr>
          <a:xfrm>
            <a:off x="2894606" y="30465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3129260" y="3075087"/>
            <a:ext cx="43175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GPT</a:t>
            </a:r>
            <a:endParaRPr lang="en-US" sz="132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971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从序列到序列</a:t>
            </a:r>
            <a:endParaRPr lang="en-US" sz="3750" dirty="0"/>
          </a:p>
        </p:txBody>
      </p:sp>
      <p:sp>
        <p:nvSpPr>
          <p:cNvPr id="3" name="Text 1"/>
          <p:cNvSpPr txBox="1"/>
          <p:nvPr/>
        </p:nvSpPr>
        <p:spPr>
          <a:xfrm>
            <a:off x="533400" y="893266"/>
            <a:ext cx="2149822"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Sequence-to-sequence</a:t>
            </a:r>
            <a:endParaRPr lang="en-US" sz="1500" dirty="0"/>
          </a:p>
        </p:txBody>
      </p:sp>
      <p:sp>
        <p:nvSpPr>
          <p:cNvPr id="4" name="Text 2"/>
          <p:cNvSpPr txBox="1"/>
          <p:nvPr/>
        </p:nvSpPr>
        <p:spPr>
          <a:xfrm>
            <a:off x="516630" y="13028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5" name="Text 3"/>
          <p:cNvSpPr txBox="1"/>
          <p:nvPr/>
        </p:nvSpPr>
        <p:spPr>
          <a:xfrm>
            <a:off x="751284" y="1331416"/>
            <a:ext cx="179025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机器翻译，问答，续写</a:t>
            </a:r>
            <a:endParaRPr lang="en-US" sz="1320" dirty="0"/>
          </a:p>
        </p:txBody>
      </p:sp>
      <p:sp>
        <p:nvSpPr>
          <p:cNvPr id="6" name="Text 4"/>
          <p:cNvSpPr txBox="1"/>
          <p:nvPr/>
        </p:nvSpPr>
        <p:spPr>
          <a:xfrm>
            <a:off x="516630" y="16046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7" name="Image 0" descr="Rendered as an image because of CSS math">    </p:cNvPr>
          <p:cNvPicPr>
            <a:picLocks noChangeAspect="1"/>
          </p:cNvPicPr>
          <p:nvPr/>
        </p:nvPicPr>
        <p:blipFill>
          <a:blip r:embed="rId1"/>
          <a:stretch>
            <a:fillRect/>
          </a:stretch>
        </p:blipFill>
        <p:spPr>
          <a:xfrm>
            <a:off x="2297162" y="1642765"/>
            <a:ext cx="1784896" cy="238125"/>
          </a:xfrm>
          <a:prstGeom prst="rect">
            <a:avLst/>
          </a:prstGeom>
        </p:spPr>
      </p:pic>
      <p:sp>
        <p:nvSpPr>
          <p:cNvPr id="8" name="Text 5"/>
          <p:cNvSpPr txBox="1"/>
          <p:nvPr/>
        </p:nvSpPr>
        <p:spPr>
          <a:xfrm>
            <a:off x="751284" y="1633240"/>
            <a:ext cx="166017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数据：一段文本序列</a:t>
            </a:r>
            <a:endParaRPr lang="en-US" sz="1320" dirty="0"/>
          </a:p>
        </p:txBody>
      </p:sp>
      <p:sp>
        <p:nvSpPr>
          <p:cNvPr id="9" name="Text 6"/>
          <p:cNvSpPr txBox="1"/>
          <p:nvPr/>
        </p:nvSpPr>
        <p:spPr>
          <a:xfrm>
            <a:off x="516630" y="19064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pic>
        <p:nvPicPr>
          <p:cNvPr id="10" name="Image 1" descr="Rendered as an image because of CSS math">    </p:cNvPr>
          <p:cNvPicPr>
            <a:picLocks noChangeAspect="1"/>
          </p:cNvPicPr>
          <p:nvPr/>
        </p:nvPicPr>
        <p:blipFill>
          <a:blip r:embed="rId2"/>
          <a:stretch>
            <a:fillRect/>
          </a:stretch>
        </p:blipFill>
        <p:spPr>
          <a:xfrm>
            <a:off x="2464743" y="1944588"/>
            <a:ext cx="1747391" cy="238125"/>
          </a:xfrm>
          <a:prstGeom prst="rect">
            <a:avLst/>
          </a:prstGeom>
        </p:spPr>
      </p:pic>
      <p:sp>
        <p:nvSpPr>
          <p:cNvPr id="11" name="Text 7"/>
          <p:cNvSpPr txBox="1"/>
          <p:nvPr/>
        </p:nvSpPr>
        <p:spPr>
          <a:xfrm>
            <a:off x="751284" y="1935063"/>
            <a:ext cx="182775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标签：另一段文本序列</a:t>
            </a:r>
            <a:endParaRPr lang="en-US" sz="1320" dirty="0"/>
          </a:p>
        </p:txBody>
      </p:sp>
      <p:sp>
        <p:nvSpPr>
          <p:cNvPr id="12" name="Text 8"/>
          <p:cNvSpPr txBox="1"/>
          <p:nvPr/>
        </p:nvSpPr>
        <p:spPr>
          <a:xfrm>
            <a:off x="516630" y="2208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3" name="Text 9"/>
          <p:cNvSpPr txBox="1"/>
          <p:nvPr/>
        </p:nvSpPr>
        <p:spPr>
          <a:xfrm>
            <a:off x="751284" y="2236887"/>
            <a:ext cx="3728889"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分词器 tokenizer：把文本切分为词元序列的映射</a:t>
            </a:r>
            <a:endParaRPr lang="en-US" sz="1320" dirty="0"/>
          </a:p>
        </p:txBody>
      </p:sp>
      <p:sp>
        <p:nvSpPr>
          <p:cNvPr id="14" name="Text 10"/>
          <p:cNvSpPr txBox="1"/>
          <p:nvPr/>
        </p:nvSpPr>
        <p:spPr>
          <a:xfrm>
            <a:off x="516630" y="25101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5" name="Text 11"/>
          <p:cNvSpPr txBox="1"/>
          <p:nvPr/>
        </p:nvSpPr>
        <p:spPr>
          <a:xfrm>
            <a:off x="751284" y="2538710"/>
            <a:ext cx="327689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码本 codebook：把词元转换为词向量表征</a:t>
            </a:r>
            <a:endParaRPr lang="en-US" sz="1320" dirty="0"/>
          </a:p>
        </p:txBody>
      </p:sp>
      <p:sp>
        <p:nvSpPr>
          <p:cNvPr id="16" name="Text 12"/>
          <p:cNvSpPr txBox="1"/>
          <p:nvPr/>
        </p:nvSpPr>
        <p:spPr>
          <a:xfrm>
            <a:off x="516630" y="28119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7" name="Text 13"/>
          <p:cNvSpPr txBox="1"/>
          <p:nvPr/>
        </p:nvSpPr>
        <p:spPr>
          <a:xfrm>
            <a:off x="751284" y="2840534"/>
            <a:ext cx="246057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从序列到序列的条件自回归建模</a:t>
            </a:r>
            <a:endParaRPr lang="en-US" sz="1320" dirty="0"/>
          </a:p>
        </p:txBody>
      </p:sp>
      <p:pic>
        <p:nvPicPr>
          <p:cNvPr id="18" name="Image 2" descr="Rendered as an image because of CSS math">    </p:cNvPr>
          <p:cNvPicPr>
            <a:picLocks noChangeAspect="1"/>
          </p:cNvPicPr>
          <p:nvPr/>
        </p:nvPicPr>
        <p:blipFill>
          <a:blip r:embed="rId3"/>
          <a:stretch>
            <a:fillRect/>
          </a:stretch>
        </p:blipFill>
        <p:spPr>
          <a:xfrm>
            <a:off x="533400" y="3281363"/>
            <a:ext cx="4114800" cy="591889"/>
          </a:xfrm>
          <a:prstGeom prst="rect">
            <a:avLst/>
          </a:prstGeom>
        </p:spPr>
      </p:pic>
      <p:sp>
        <p:nvSpPr>
          <p:cNvPr id="19" name="Shape 14"/>
          <p:cNvSpPr/>
          <p:nvPr/>
        </p:nvSpPr>
        <p:spPr>
          <a:xfrm>
            <a:off x="4686300" y="3456533"/>
            <a:ext cx="4114800" cy="0"/>
          </a:xfrm>
          <a:prstGeom prst="line">
            <a:avLst/>
          </a:prstGeom>
          <a:noFill/>
          <a:ln w="9525">
            <a:solidFill>
              <a:srgbClr val="000000"/>
            </a:solidFill>
            <a:prstDash val="dash"/>
          </a:ln>
        </p:spPr>
      </p:sp>
      <p:pic>
        <p:nvPicPr>
          <p:cNvPr id="20" name="Image 3" descr="preencoded.png">
            <a:hlinkClick r:id="rId5" tooltip=""/>
          </p:cNvPr>
          <p:cNvPicPr>
            <a:picLocks noChangeAspect="1"/>
          </p:cNvPicPr>
          <p:nvPr/>
        </p:nvPicPr>
        <p:blipFill>
          <a:blip r:embed="rId4"/>
          <a:stretch>
            <a:fillRect/>
          </a:stretch>
        </p:blipFill>
        <p:spPr>
          <a:xfrm>
            <a:off x="4686300" y="1302841"/>
            <a:ext cx="4114502" cy="2153692"/>
          </a:xfrm>
          <a:prstGeom prst="rect">
            <a:avLst/>
          </a:prstGeom>
        </p:spPr>
      </p:pic>
      <p:pic>
        <p:nvPicPr>
          <p:cNvPr id="21" name="Image 4" descr="Rendered as an image because of CSS background-image">    </p:cNvPr>
          <p:cNvPicPr>
            <a:picLocks noChangeAspect="1"/>
          </p:cNvPicPr>
          <p:nvPr/>
        </p:nvPicPr>
        <p:blipFill>
          <a:blip r:embed="rId6"/>
          <a:stretch>
            <a:fillRect/>
          </a:stretch>
        </p:blipFill>
        <p:spPr>
          <a:xfrm>
            <a:off x="0" y="210294"/>
            <a:ext cx="326678" cy="838200"/>
          </a:xfrm>
          <a:prstGeom prst="rect">
            <a:avLst/>
          </a:prstGeom>
        </p:spPr>
      </p:pic>
      <p:pic>
        <p:nvPicPr>
          <p:cNvPr id="22" name="Image 5" descr="Rendered as an image because of CSS background-image">    </p:cNvPr>
          <p:cNvPicPr>
            <a:picLocks noChangeAspect="1"/>
          </p:cNvPicPr>
          <p:nvPr/>
        </p:nvPicPr>
        <p:blipFill>
          <a:blip r:embed="rId7"/>
          <a:stretch>
            <a:fillRect/>
          </a:stretch>
        </p:blipFill>
        <p:spPr>
          <a:xfrm>
            <a:off x="0" y="5029200"/>
            <a:ext cx="9334500" cy="228600"/>
          </a:xfrm>
          <a:prstGeom prst="rect">
            <a:avLst/>
          </a:prstGeom>
        </p:spPr>
      </p:pic>
      <p:sp>
        <p:nvSpPr>
          <p:cNvPr id="23" name="Text 15"/>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4" name="Shape 16"/>
          <p:cNvSpPr/>
          <p:nvPr/>
        </p:nvSpPr>
        <p:spPr>
          <a:xfrm>
            <a:off x="647700" y="5067300"/>
            <a:ext cx="9525" cy="152400"/>
          </a:xfrm>
          <a:prstGeom prst="rect">
            <a:avLst/>
          </a:prstGeom>
          <a:solidFill>
            <a:srgbClr val="F0FFFF"/>
          </a:solidFill>
          <a:ln/>
        </p:spPr>
      </p:sp>
      <p:sp>
        <p:nvSpPr>
          <p:cNvPr id="25" name="Text 17"/>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6" name="Text 18"/>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7" name="Text 19"/>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26</a:t>
            </a:r>
            <a:endParaRPr lang="en-US" sz="1050" dirty="0"/>
          </a:p>
        </p:txBody>
      </p:sp>
      <p:sp>
        <p:nvSpPr>
          <p:cNvPr id="28" name="Text 20"/>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9" name="Text 21"/>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840831"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Transformer</a:t>
            </a:r>
            <a:endParaRPr lang="en-US" sz="3750" dirty="0"/>
          </a:p>
        </p:txBody>
      </p:sp>
      <p:sp>
        <p:nvSpPr>
          <p:cNvPr id="3" name="Text 1"/>
          <p:cNvSpPr txBox="1"/>
          <p:nvPr/>
        </p:nvSpPr>
        <p:spPr>
          <a:xfrm>
            <a:off x="516630" y="11885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1217116"/>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可并行的自回归序列建模</a:t>
            </a:r>
            <a:endParaRPr lang="en-US" sz="1320" dirty="0"/>
          </a:p>
        </p:txBody>
      </p:sp>
      <p:sp>
        <p:nvSpPr>
          <p:cNvPr id="5" name="Text 3"/>
          <p:cNvSpPr txBox="1"/>
          <p:nvPr/>
        </p:nvSpPr>
        <p:spPr>
          <a:xfrm>
            <a:off x="516630" y="14903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284" y="1518940"/>
            <a:ext cx="128751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工程优化的结晶</a:t>
            </a:r>
            <a:endParaRPr lang="en-US" sz="1320" dirty="0"/>
          </a:p>
        </p:txBody>
      </p:sp>
      <p:sp>
        <p:nvSpPr>
          <p:cNvPr id="7" name="Text 5"/>
          <p:cNvSpPr txBox="1"/>
          <p:nvPr/>
        </p:nvSpPr>
        <p:spPr>
          <a:xfrm>
            <a:off x="734514" y="17921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969210" y="1820763"/>
            <a:ext cx="2875020"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对词向量的上下文建模</a:t>
            </a:r>
            <a:br/>
            <a:pPr algn="l" indent="0" marL="0">
              <a:lnSpc>
                <a:spcPts val="2377"/>
              </a:lnSpc>
              <a:buNone/>
            </a:pPr>
            <a:r>
              <a:rPr lang="en-US" sz="1320" dirty="0">
                <a:solidFill>
                  <a:srgbClr val="000000"/>
                </a:solidFill>
                <a:latin typeface="Arial" pitchFamily="34" charset="0"/>
                <a:ea typeface="Arial" pitchFamily="34" charset="-122"/>
                <a:cs typeface="Arial" pitchFamily="34" charset="-120"/>
              </a:rPr>
              <a:t>contextualized embedding</a:t>
            </a:r>
            <a:endParaRPr lang="en-US" sz="1320" dirty="0"/>
          </a:p>
        </p:txBody>
      </p:sp>
      <p:sp>
        <p:nvSpPr>
          <p:cNvPr id="9" name="Text 7"/>
          <p:cNvSpPr txBox="1"/>
          <p:nvPr/>
        </p:nvSpPr>
        <p:spPr>
          <a:xfrm>
            <a:off x="734514" y="23958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969169" y="2424410"/>
            <a:ext cx="128751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自注意力机制：</a:t>
            </a:r>
            <a:endParaRPr lang="en-US" sz="1320" dirty="0"/>
          </a:p>
        </p:txBody>
      </p:sp>
      <p:sp>
        <p:nvSpPr>
          <p:cNvPr id="11" name="Text 9"/>
          <p:cNvSpPr txBox="1"/>
          <p:nvPr/>
        </p:nvSpPr>
        <p:spPr>
          <a:xfrm>
            <a:off x="952399" y="26976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1187053" y="2726234"/>
            <a:ext cx="249614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全局感受野（vs 卷积神经网络）</a:t>
            </a:r>
            <a:endParaRPr lang="en-US" sz="1320" dirty="0"/>
          </a:p>
        </p:txBody>
      </p:sp>
      <p:sp>
        <p:nvSpPr>
          <p:cNvPr id="13" name="Text 11"/>
          <p:cNvSpPr txBox="1"/>
          <p:nvPr/>
        </p:nvSpPr>
        <p:spPr>
          <a:xfrm>
            <a:off x="952399" y="299948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2"/>
          <p:cNvSpPr txBox="1"/>
          <p:nvPr/>
        </p:nvSpPr>
        <p:spPr>
          <a:xfrm>
            <a:off x="1187053" y="3028057"/>
            <a:ext cx="249614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可并行计算（vs 循环神经网络）</a:t>
            </a:r>
            <a:endParaRPr lang="en-US" sz="1320" dirty="0"/>
          </a:p>
        </p:txBody>
      </p:sp>
      <p:sp>
        <p:nvSpPr>
          <p:cNvPr id="15" name="Text 13"/>
          <p:cNvSpPr txBox="1"/>
          <p:nvPr/>
        </p:nvSpPr>
        <p:spPr>
          <a:xfrm>
            <a:off x="952399" y="330130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6" name="Text 14"/>
          <p:cNvSpPr txBox="1"/>
          <p:nvPr/>
        </p:nvSpPr>
        <p:spPr>
          <a:xfrm>
            <a:off x="1187053" y="3329880"/>
            <a:ext cx="249614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动态的连接权重（vs 全连接层）</a:t>
            </a:r>
            <a:endParaRPr lang="en-US" sz="1320" dirty="0"/>
          </a:p>
        </p:txBody>
      </p:sp>
      <p:sp>
        <p:nvSpPr>
          <p:cNvPr id="17" name="Text 15"/>
          <p:cNvSpPr txBox="1"/>
          <p:nvPr/>
        </p:nvSpPr>
        <p:spPr>
          <a:xfrm>
            <a:off x="952399" y="360312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8" name="Text 16"/>
          <p:cNvSpPr txBox="1"/>
          <p:nvPr/>
        </p:nvSpPr>
        <p:spPr>
          <a:xfrm>
            <a:off x="1187053" y="3631704"/>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低秩但多头</a:t>
            </a:r>
            <a:endParaRPr lang="en-US" sz="1320" dirty="0"/>
          </a:p>
        </p:txBody>
      </p:sp>
      <p:sp>
        <p:nvSpPr>
          <p:cNvPr id="19" name="Text 17"/>
          <p:cNvSpPr txBox="1"/>
          <p:nvPr/>
        </p:nvSpPr>
        <p:spPr>
          <a:xfrm>
            <a:off x="734514" y="390495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0" name="Text 18"/>
          <p:cNvSpPr txBox="1"/>
          <p:nvPr/>
        </p:nvSpPr>
        <p:spPr>
          <a:xfrm>
            <a:off x="969169" y="3933527"/>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全连接层：信息混合</a:t>
            </a:r>
            <a:endParaRPr lang="en-US" sz="1320" dirty="0"/>
          </a:p>
        </p:txBody>
      </p:sp>
      <p:sp>
        <p:nvSpPr>
          <p:cNvPr id="21" name="Text 19"/>
          <p:cNvSpPr txBox="1"/>
          <p:nvPr/>
        </p:nvSpPr>
        <p:spPr>
          <a:xfrm>
            <a:off x="734514" y="420677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2" name="Text 20"/>
          <p:cNvSpPr txBox="1"/>
          <p:nvPr/>
        </p:nvSpPr>
        <p:spPr>
          <a:xfrm>
            <a:off x="969169" y="4235351"/>
            <a:ext cx="227305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残差连接，归一化，Dropout</a:t>
            </a:r>
            <a:endParaRPr lang="en-US" sz="1320" dirty="0"/>
          </a:p>
        </p:txBody>
      </p:sp>
      <p:pic>
        <p:nvPicPr>
          <p:cNvPr id="23" name="Image 0" descr="preencoded.png">    </p:cNvPr>
          <p:cNvPicPr>
            <a:picLocks noChangeAspect="1"/>
          </p:cNvPicPr>
          <p:nvPr/>
        </p:nvPicPr>
        <p:blipFill>
          <a:blip r:embed="rId1"/>
          <a:stretch>
            <a:fillRect/>
          </a:stretch>
        </p:blipFill>
        <p:spPr>
          <a:xfrm>
            <a:off x="3939480" y="1188541"/>
            <a:ext cx="4861620" cy="2661196"/>
          </a:xfrm>
          <a:prstGeom prst="rect">
            <a:avLst/>
          </a:prstGeom>
        </p:spPr>
      </p:pic>
      <p:pic>
        <p:nvPicPr>
          <p:cNvPr id="24"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25"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26" name="Text 2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7" name="Shape 22"/>
          <p:cNvSpPr/>
          <p:nvPr/>
        </p:nvSpPr>
        <p:spPr>
          <a:xfrm>
            <a:off x="647700" y="5067300"/>
            <a:ext cx="9525" cy="152400"/>
          </a:xfrm>
          <a:prstGeom prst="rect">
            <a:avLst/>
          </a:prstGeom>
          <a:solidFill>
            <a:srgbClr val="F0FFFF"/>
          </a:solidFill>
          <a:ln/>
        </p:spPr>
      </p:sp>
      <p:sp>
        <p:nvSpPr>
          <p:cNvPr id="28" name="Text 2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9" name="Text 2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30" name="Text 2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27</a:t>
            </a:r>
            <a:endParaRPr lang="en-US" sz="1050" dirty="0"/>
          </a:p>
        </p:txBody>
      </p:sp>
      <p:sp>
        <p:nvSpPr>
          <p:cNvPr id="31" name="Text 2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32" name="Text 2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840831"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Transformer</a:t>
            </a:r>
            <a:endParaRPr lang="en-US" sz="3750" dirty="0"/>
          </a:p>
        </p:txBody>
      </p:sp>
      <p:sp>
        <p:nvSpPr>
          <p:cNvPr id="3" name="Text 1"/>
          <p:cNvSpPr txBox="1"/>
          <p:nvPr/>
        </p:nvSpPr>
        <p:spPr>
          <a:xfrm>
            <a:off x="516630" y="11885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1217116"/>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可并行的自回归序列建模</a:t>
            </a:r>
            <a:endParaRPr lang="en-US" sz="1320" dirty="0"/>
          </a:p>
        </p:txBody>
      </p:sp>
      <p:sp>
        <p:nvSpPr>
          <p:cNvPr id="5" name="Text 3"/>
          <p:cNvSpPr txBox="1"/>
          <p:nvPr/>
        </p:nvSpPr>
        <p:spPr>
          <a:xfrm>
            <a:off x="516630" y="14903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284" y="1518940"/>
            <a:ext cx="128751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工程优化的结晶</a:t>
            </a:r>
            <a:endParaRPr lang="en-US" sz="1320" dirty="0"/>
          </a:p>
        </p:txBody>
      </p:sp>
      <p:sp>
        <p:nvSpPr>
          <p:cNvPr id="7" name="Text 5"/>
          <p:cNvSpPr txBox="1"/>
          <p:nvPr/>
        </p:nvSpPr>
        <p:spPr>
          <a:xfrm>
            <a:off x="734514" y="17921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969210" y="1820763"/>
            <a:ext cx="4498140"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对词向量的上下文建模</a:t>
            </a:r>
            <a:br/>
            <a:pPr algn="l" indent="0" marL="0">
              <a:lnSpc>
                <a:spcPts val="2377"/>
              </a:lnSpc>
              <a:buNone/>
            </a:pPr>
            <a:r>
              <a:rPr lang="en-US" sz="1320" dirty="0">
                <a:solidFill>
                  <a:srgbClr val="000000"/>
                </a:solidFill>
                <a:latin typeface="Arial" pitchFamily="34" charset="0"/>
                <a:ea typeface="Arial" pitchFamily="34" charset="-122"/>
                <a:cs typeface="Arial" pitchFamily="34" charset="-120"/>
              </a:rPr>
              <a:t>contextualized embedding</a:t>
            </a:r>
            <a:endParaRPr lang="en-US" sz="1320" dirty="0"/>
          </a:p>
        </p:txBody>
      </p:sp>
      <p:sp>
        <p:nvSpPr>
          <p:cNvPr id="9" name="Text 7"/>
          <p:cNvSpPr txBox="1"/>
          <p:nvPr/>
        </p:nvSpPr>
        <p:spPr>
          <a:xfrm>
            <a:off x="734514" y="23958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969169" y="2424410"/>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自注意力机制</a:t>
            </a:r>
            <a:endParaRPr lang="en-US" sz="1320" dirty="0"/>
          </a:p>
        </p:txBody>
      </p:sp>
      <p:sp>
        <p:nvSpPr>
          <p:cNvPr id="11" name="Text 9"/>
          <p:cNvSpPr txBox="1"/>
          <p:nvPr/>
        </p:nvSpPr>
        <p:spPr>
          <a:xfrm>
            <a:off x="952399" y="26976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1187053" y="2726234"/>
            <a:ext cx="249614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全局感受野（vs 卷积神经网络）</a:t>
            </a:r>
            <a:endParaRPr lang="en-US" sz="1320" dirty="0"/>
          </a:p>
        </p:txBody>
      </p:sp>
      <p:sp>
        <p:nvSpPr>
          <p:cNvPr id="13" name="Text 11"/>
          <p:cNvSpPr txBox="1"/>
          <p:nvPr/>
        </p:nvSpPr>
        <p:spPr>
          <a:xfrm>
            <a:off x="952399" y="299948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2"/>
          <p:cNvSpPr txBox="1"/>
          <p:nvPr/>
        </p:nvSpPr>
        <p:spPr>
          <a:xfrm>
            <a:off x="1187053" y="3028057"/>
            <a:ext cx="249614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可并行计算（vs 循环神经网络）</a:t>
            </a:r>
            <a:endParaRPr lang="en-US" sz="1320" dirty="0"/>
          </a:p>
        </p:txBody>
      </p:sp>
      <p:sp>
        <p:nvSpPr>
          <p:cNvPr id="15" name="Text 13"/>
          <p:cNvSpPr txBox="1"/>
          <p:nvPr/>
        </p:nvSpPr>
        <p:spPr>
          <a:xfrm>
            <a:off x="952399" y="330130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6" name="Text 14"/>
          <p:cNvSpPr txBox="1"/>
          <p:nvPr/>
        </p:nvSpPr>
        <p:spPr>
          <a:xfrm>
            <a:off x="1187053" y="3329880"/>
            <a:ext cx="249614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动态的连接权重（vs 全连接层）</a:t>
            </a:r>
            <a:endParaRPr lang="en-US" sz="1320" dirty="0"/>
          </a:p>
        </p:txBody>
      </p:sp>
      <p:sp>
        <p:nvSpPr>
          <p:cNvPr id="17" name="Text 15"/>
          <p:cNvSpPr txBox="1"/>
          <p:nvPr/>
        </p:nvSpPr>
        <p:spPr>
          <a:xfrm>
            <a:off x="952399" y="360312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8" name="Text 16"/>
          <p:cNvSpPr txBox="1"/>
          <p:nvPr/>
        </p:nvSpPr>
        <p:spPr>
          <a:xfrm>
            <a:off x="1187053" y="3631704"/>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低秩但多头</a:t>
            </a:r>
            <a:endParaRPr lang="en-US" sz="1320" dirty="0"/>
          </a:p>
        </p:txBody>
      </p:sp>
      <p:sp>
        <p:nvSpPr>
          <p:cNvPr id="19" name="Text 17"/>
          <p:cNvSpPr txBox="1"/>
          <p:nvPr/>
        </p:nvSpPr>
        <p:spPr>
          <a:xfrm>
            <a:off x="734514" y="390495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0" name="Text 18"/>
          <p:cNvSpPr txBox="1"/>
          <p:nvPr/>
        </p:nvSpPr>
        <p:spPr>
          <a:xfrm>
            <a:off x="969169" y="3933527"/>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全连接层：信息混合</a:t>
            </a:r>
            <a:endParaRPr lang="en-US" sz="1320" dirty="0"/>
          </a:p>
        </p:txBody>
      </p:sp>
      <p:sp>
        <p:nvSpPr>
          <p:cNvPr id="21" name="Text 19"/>
          <p:cNvSpPr txBox="1"/>
          <p:nvPr/>
        </p:nvSpPr>
        <p:spPr>
          <a:xfrm>
            <a:off x="734514" y="420677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2" name="Text 20"/>
          <p:cNvSpPr txBox="1"/>
          <p:nvPr/>
        </p:nvSpPr>
        <p:spPr>
          <a:xfrm>
            <a:off x="969169" y="4235351"/>
            <a:ext cx="227305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残差连接，归一化，Dropout</a:t>
            </a:r>
            <a:endParaRPr lang="en-US" sz="1320" dirty="0"/>
          </a:p>
        </p:txBody>
      </p:sp>
      <p:pic>
        <p:nvPicPr>
          <p:cNvPr id="23" name="Image 0" descr="preencoded.png">    </p:cNvPr>
          <p:cNvPicPr>
            <a:picLocks noChangeAspect="1"/>
          </p:cNvPicPr>
          <p:nvPr/>
        </p:nvPicPr>
        <p:blipFill>
          <a:blip r:embed="rId1"/>
          <a:stretch>
            <a:fillRect/>
          </a:stretch>
        </p:blipFill>
        <p:spPr>
          <a:xfrm>
            <a:off x="5524500" y="1188541"/>
            <a:ext cx="2621161" cy="3767733"/>
          </a:xfrm>
          <a:prstGeom prst="rect">
            <a:avLst/>
          </a:prstGeom>
        </p:spPr>
      </p:pic>
      <p:pic>
        <p:nvPicPr>
          <p:cNvPr id="24"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25"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26" name="Text 2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7" name="Shape 22"/>
          <p:cNvSpPr/>
          <p:nvPr/>
        </p:nvSpPr>
        <p:spPr>
          <a:xfrm>
            <a:off x="647700" y="5067300"/>
            <a:ext cx="9525" cy="152400"/>
          </a:xfrm>
          <a:prstGeom prst="rect">
            <a:avLst/>
          </a:prstGeom>
          <a:solidFill>
            <a:srgbClr val="F0FFFF"/>
          </a:solidFill>
          <a:ln/>
        </p:spPr>
      </p:sp>
      <p:sp>
        <p:nvSpPr>
          <p:cNvPr id="28" name="Text 2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9" name="Text 2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30" name="Text 2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28</a:t>
            </a:r>
            <a:endParaRPr lang="en-US" sz="1050" dirty="0"/>
          </a:p>
        </p:txBody>
      </p:sp>
      <p:sp>
        <p:nvSpPr>
          <p:cNvPr id="31" name="Text 2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32" name="Text 2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1016347"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GPT</a:t>
            </a:r>
            <a:endParaRPr lang="en-US" sz="3750" dirty="0"/>
          </a:p>
        </p:txBody>
      </p:sp>
      <p:sp>
        <p:nvSpPr>
          <p:cNvPr id="3" name="Text 1"/>
          <p:cNvSpPr txBox="1"/>
          <p:nvPr/>
        </p:nvSpPr>
        <p:spPr>
          <a:xfrm>
            <a:off x="533400" y="893266"/>
            <a:ext cx="5843439"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生成式预训练的 Transformer，Generative Pretrained Transformer</a:t>
            </a:r>
            <a:endParaRPr lang="en-US" sz="1500" dirty="0"/>
          </a:p>
        </p:txBody>
      </p:sp>
      <p:sp>
        <p:nvSpPr>
          <p:cNvPr id="4" name="Text 2"/>
          <p:cNvSpPr txBox="1"/>
          <p:nvPr/>
        </p:nvSpPr>
        <p:spPr>
          <a:xfrm>
            <a:off x="516630" y="16838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5" name="Text 3"/>
          <p:cNvSpPr txBox="1"/>
          <p:nvPr/>
        </p:nvSpPr>
        <p:spPr>
          <a:xfrm>
            <a:off x="751326" y="1712416"/>
            <a:ext cx="4690574"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构造预训练任务和标签：下一词预测 next-token prediction。</a:t>
            </a:r>
            <a:br/>
            <a:pPr algn="l" indent="0" marL="0">
              <a:lnSpc>
                <a:spcPts val="2377"/>
              </a:lnSpc>
              <a:buNone/>
            </a:pPr>
            <a:r>
              <a:rPr lang="en-US" sz="1320" dirty="0">
                <a:solidFill>
                  <a:srgbClr val="000000"/>
                </a:solidFill>
                <a:latin typeface="Arial" pitchFamily="34" charset="0"/>
                <a:ea typeface="Arial" pitchFamily="34" charset="-122"/>
                <a:cs typeface="Arial" pitchFamily="34" charset="-120"/>
              </a:rPr>
              <a:t>数据为上文，标签为下一词。</a:t>
            </a:r>
            <a:endParaRPr lang="en-US" sz="1320" dirty="0"/>
          </a:p>
        </p:txBody>
      </p:sp>
      <p:sp>
        <p:nvSpPr>
          <p:cNvPr id="6" name="Text 4"/>
          <p:cNvSpPr txBox="1"/>
          <p:nvPr/>
        </p:nvSpPr>
        <p:spPr>
          <a:xfrm>
            <a:off x="516630" y="22874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7" name="Shape 5"/>
          <p:cNvSpPr/>
          <p:nvPr/>
        </p:nvSpPr>
        <p:spPr>
          <a:xfrm>
            <a:off x="1756916" y="2665512"/>
            <a:ext cx="3552379" cy="209550"/>
          </a:xfrm>
          <a:prstGeom prst="roundRect">
            <a:avLst>
              <a:gd name="adj" fmla="val 18182"/>
            </a:avLst>
          </a:prstGeom>
          <a:solidFill>
            <a:srgbClr val="F5F5F5"/>
          </a:solidFill>
          <a:ln/>
        </p:spPr>
      </p:sp>
      <p:sp>
        <p:nvSpPr>
          <p:cNvPr id="8" name="Text 6"/>
          <p:cNvSpPr txBox="1"/>
          <p:nvPr/>
        </p:nvSpPr>
        <p:spPr>
          <a:xfrm>
            <a:off x="751326" y="2316063"/>
            <a:ext cx="4690574"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微调：将所有文本任务统一为带格式的序列生成任务 (T5)</a:t>
            </a:r>
            <a:br/>
            <a:pPr algn="l" indent="0" marL="0">
              <a:lnSpc>
                <a:spcPts val="2377"/>
              </a:lnSpc>
              <a:buNone/>
            </a:pPr>
            <a:r>
              <a:rPr lang="en-US" sz="1320" dirty="0">
                <a:solidFill>
                  <a:srgbClr val="000000"/>
                </a:solidFill>
                <a:latin typeface="Arial" pitchFamily="34" charset="0"/>
                <a:ea typeface="Arial" pitchFamily="34" charset="-122"/>
                <a:cs typeface="Arial" pitchFamily="34" charset="-120"/>
              </a:rPr>
              <a:t>如翻译任务：</a:t>
            </a:r>
            <a:pPr algn="l" indent="0" marL="0">
              <a:lnSpc>
                <a:spcPts val="2377"/>
              </a:lnSpc>
              <a:buNone/>
            </a:pPr>
            <a:r>
              <a:rPr lang="en-US" sz="1188" dirty="0">
                <a:solidFill>
                  <a:srgbClr val="000000"/>
                </a:solidFill>
                <a:latin typeface="Liberation Mono" pitchFamily="34" charset="0"/>
                <a:ea typeface="Liberation Mono" pitchFamily="34" charset="-122"/>
                <a:cs typeface="Liberation Mono" pitchFamily="34" charset="-120"/>
              </a:rPr>
              <a:t>&lt;English&gt; how are you? &lt;Answer&gt; ça va?</a:t>
            </a:r>
            <a:endParaRPr lang="en-US" sz="1320" dirty="0"/>
          </a:p>
        </p:txBody>
      </p:sp>
      <p:sp>
        <p:nvSpPr>
          <p:cNvPr id="9" name="Text 7"/>
          <p:cNvSpPr txBox="1"/>
          <p:nvPr/>
        </p:nvSpPr>
        <p:spPr>
          <a:xfrm>
            <a:off x="516630" y="29292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751284" y="2957810"/>
            <a:ext cx="453732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从序列到序列转变成序列生成：纯解码器结构 decoder-only</a:t>
            </a:r>
            <a:endParaRPr lang="en-US" sz="1320" dirty="0"/>
          </a:p>
        </p:txBody>
      </p:sp>
      <p:sp>
        <p:nvSpPr>
          <p:cNvPr id="11" name="Text 9"/>
          <p:cNvSpPr txBox="1"/>
          <p:nvPr/>
        </p:nvSpPr>
        <p:spPr>
          <a:xfrm>
            <a:off x="516630" y="32310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751284" y="3259634"/>
            <a:ext cx="325368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掩码 mask：控制注意力区间在格式标记内</a:t>
            </a:r>
            <a:endParaRPr lang="en-US" sz="1320" dirty="0"/>
          </a:p>
        </p:txBody>
      </p:sp>
      <p:sp>
        <p:nvSpPr>
          <p:cNvPr id="13" name="Text 11"/>
          <p:cNvSpPr txBox="1"/>
          <p:nvPr/>
        </p:nvSpPr>
        <p:spPr>
          <a:xfrm>
            <a:off x="516630" y="353288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2"/>
          <p:cNvSpPr txBox="1"/>
          <p:nvPr/>
        </p:nvSpPr>
        <p:spPr>
          <a:xfrm>
            <a:off x="751284" y="3561457"/>
            <a:ext cx="400853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指令微调+偏好对齐：基于人类反馈的强化学习 RLHF</a:t>
            </a:r>
            <a:endParaRPr lang="en-US" sz="1320" dirty="0"/>
          </a:p>
        </p:txBody>
      </p:sp>
      <p:sp>
        <p:nvSpPr>
          <p:cNvPr id="15" name="Text 13"/>
          <p:cNvSpPr txBox="1"/>
          <p:nvPr/>
        </p:nvSpPr>
        <p:spPr>
          <a:xfrm>
            <a:off x="516630" y="383470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6" name="Text 14"/>
          <p:cNvSpPr txBox="1"/>
          <p:nvPr/>
        </p:nvSpPr>
        <p:spPr>
          <a:xfrm>
            <a:off x="751284" y="3863280"/>
            <a:ext cx="360863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Scale-up：1 亿 &lt; 15 亿 &lt; 1750 亿 &lt; 1 万亿 &lt; ???</a:t>
            </a:r>
            <a:endParaRPr lang="en-US" sz="1320" dirty="0"/>
          </a:p>
        </p:txBody>
      </p:sp>
      <p:sp>
        <p:nvSpPr>
          <p:cNvPr id="17" name="Text 15"/>
          <p:cNvSpPr txBox="1"/>
          <p:nvPr/>
        </p:nvSpPr>
        <p:spPr>
          <a:xfrm>
            <a:off x="516630" y="413652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8" name="Text 16"/>
          <p:cNvSpPr txBox="1"/>
          <p:nvPr/>
        </p:nvSpPr>
        <p:spPr>
          <a:xfrm>
            <a:off x="751284" y="4165104"/>
            <a:ext cx="178415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聊天机器人 (ChatGPT)</a:t>
            </a:r>
            <a:endParaRPr lang="en-US" sz="1320" dirty="0"/>
          </a:p>
        </p:txBody>
      </p:sp>
      <p:sp>
        <p:nvSpPr>
          <p:cNvPr id="19" name="Shape 17"/>
          <p:cNvSpPr/>
          <p:nvPr/>
        </p:nvSpPr>
        <p:spPr>
          <a:xfrm>
            <a:off x="533400" y="4476452"/>
            <a:ext cx="4889450" cy="495300"/>
          </a:xfrm>
          <a:prstGeom prst="roundRect">
            <a:avLst>
              <a:gd name="adj" fmla="val 7692"/>
            </a:avLst>
          </a:prstGeom>
          <a:solidFill>
            <a:srgbClr val="F5F5F5"/>
          </a:solidFill>
          <a:ln/>
        </p:spPr>
      </p:sp>
      <p:sp>
        <p:nvSpPr>
          <p:cNvPr id="20" name="Text 18"/>
          <p:cNvSpPr txBox="1"/>
          <p:nvPr/>
        </p:nvSpPr>
        <p:spPr>
          <a:xfrm>
            <a:off x="609600" y="4571702"/>
            <a:ext cx="4756100" cy="304800"/>
          </a:xfrm>
          <a:prstGeom prst="rect">
            <a:avLst/>
          </a:prstGeom>
          <a:noFill/>
          <a:ln/>
        </p:spPr>
        <p:txBody>
          <a:bodyPr wrap="square" lIns="0" tIns="0" rIns="0" bIns="0" rtlCol="0" anchor="t"/>
          <a:lstStyle/>
          <a:p>
            <a:pPr algn="l" indent="0" marL="0">
              <a:lnSpc>
                <a:spcPts val="1350"/>
              </a:lnSpc>
              <a:buNone/>
            </a:pPr>
            <a:r>
              <a:rPr lang="en-US" sz="900" dirty="0">
                <a:solidFill>
                  <a:srgbClr val="393A34"/>
                </a:solidFill>
                <a:latin typeface="Liberation Mono" pitchFamily="34" charset="0"/>
                <a:ea typeface="Liberation Mono" pitchFamily="34" charset="-122"/>
                <a:cs typeface="Liberation Mono" pitchFamily="34" charset="-120"/>
              </a:rPr>
              <a:t>&lt;Prompt&gt; Translate to French: how are you?</a:t>
            </a:r>
            <a:br/>
            <a:pPr algn="l" indent="0" marL="0">
              <a:lnSpc>
                <a:spcPts val="1350"/>
              </a:lnSpc>
              <a:buNone/>
            </a:pPr>
            <a:r>
              <a:rPr lang="en-US" sz="900" dirty="0">
                <a:solidFill>
                  <a:srgbClr val="393A34"/>
                </a:solidFill>
                <a:latin typeface="Liberation Mono" pitchFamily="34" charset="0"/>
                <a:ea typeface="Liberation Mono" pitchFamily="34" charset="-122"/>
                <a:cs typeface="Liberation Mono" pitchFamily="34" charset="-120"/>
              </a:rPr>
              <a:t>&lt;Assistant&gt; ça va?</a:t>
            </a:r>
            <a:endParaRPr lang="en-US" sz="900" dirty="0"/>
          </a:p>
        </p:txBody>
      </p:sp>
      <p:pic>
        <p:nvPicPr>
          <p:cNvPr id="21" name="Image 0" descr="preencoded.png">    </p:cNvPr>
          <p:cNvPicPr>
            <a:picLocks noChangeAspect="1"/>
          </p:cNvPicPr>
          <p:nvPr/>
        </p:nvPicPr>
        <p:blipFill>
          <a:blip r:embed="rId1"/>
          <a:stretch>
            <a:fillRect/>
          </a:stretch>
        </p:blipFill>
        <p:spPr>
          <a:xfrm>
            <a:off x="6070550" y="1302841"/>
            <a:ext cx="2730550" cy="3568452"/>
          </a:xfrm>
          <a:prstGeom prst="rect">
            <a:avLst/>
          </a:prstGeom>
        </p:spPr>
      </p:pic>
      <p:pic>
        <p:nvPicPr>
          <p:cNvPr id="22"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23"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24" name="Text 19"/>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5" name="Shape 20"/>
          <p:cNvSpPr/>
          <p:nvPr/>
        </p:nvSpPr>
        <p:spPr>
          <a:xfrm>
            <a:off x="647700" y="5067300"/>
            <a:ext cx="9525" cy="152400"/>
          </a:xfrm>
          <a:prstGeom prst="rect">
            <a:avLst/>
          </a:prstGeom>
          <a:solidFill>
            <a:srgbClr val="F0FFFF"/>
          </a:solidFill>
          <a:ln/>
        </p:spPr>
      </p:sp>
      <p:sp>
        <p:nvSpPr>
          <p:cNvPr id="26" name="Text 21"/>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7" name="Text 22"/>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8" name="Text 23"/>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29</a:t>
            </a:r>
            <a:endParaRPr lang="en-US" sz="1050" dirty="0"/>
          </a:p>
        </p:txBody>
      </p:sp>
      <p:sp>
        <p:nvSpPr>
          <p:cNvPr id="29" name="Text 24"/>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30" name="Text 25"/>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458468" y="1852315"/>
            <a:ext cx="2514749" cy="495300"/>
          </a:xfrm>
          <a:prstGeom prst="rect">
            <a:avLst/>
          </a:prstGeom>
          <a:noFill/>
          <a:ln/>
        </p:spPr>
        <p:txBody>
          <a:bodyPr wrap="none" lIns="0" tIns="0" rIns="0" bIns="0" rtlCol="0" anchor="t"/>
          <a:lstStyle/>
          <a:p>
            <a:pPr algn="l" indent="0" marL="0">
              <a:buNone/>
            </a:pPr>
            <a:r>
              <a:rPr lang="en-US" sz="2700" dirty="0">
                <a:solidFill>
                  <a:srgbClr val="000000"/>
                </a:solidFill>
                <a:latin typeface="Arial" pitchFamily="34" charset="0"/>
                <a:ea typeface="Arial" pitchFamily="34" charset="-122"/>
                <a:cs typeface="Arial" pitchFamily="34" charset="-120"/>
              </a:rPr>
              <a:t>从文本到多模态</a:t>
            </a:r>
            <a:endParaRPr lang="en-US" sz="2700" dirty="0"/>
          </a:p>
        </p:txBody>
      </p:sp>
      <p:sp>
        <p:nvSpPr>
          <p:cNvPr id="3" name="Text 1"/>
          <p:cNvSpPr txBox="1"/>
          <p:nvPr/>
        </p:nvSpPr>
        <p:spPr>
          <a:xfrm>
            <a:off x="3458813" y="24428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3693468" y="2471440"/>
            <a:ext cx="128751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一切皆“文本”</a:t>
            </a:r>
            <a:endParaRPr lang="en-US" sz="1320" dirty="0"/>
          </a:p>
        </p:txBody>
      </p:sp>
      <p:sp>
        <p:nvSpPr>
          <p:cNvPr id="5" name="Text 3"/>
          <p:cNvSpPr txBox="1"/>
          <p:nvPr/>
        </p:nvSpPr>
        <p:spPr>
          <a:xfrm>
            <a:off x="3458813" y="27446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3693468" y="2773263"/>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统一模态空间</a:t>
            </a:r>
            <a:endParaRPr lang="en-US" sz="1320" dirty="0"/>
          </a:p>
        </p:txBody>
      </p:sp>
      <p:sp>
        <p:nvSpPr>
          <p:cNvPr id="7" name="Text 5"/>
          <p:cNvSpPr txBox="1"/>
          <p:nvPr/>
        </p:nvSpPr>
        <p:spPr>
          <a:xfrm>
            <a:off x="3458813" y="30465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3693468" y="3075087"/>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以语言为中介</a:t>
            </a:r>
            <a:endParaRPr lang="en-US" sz="132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34480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一切皆“文本”</a:t>
            </a:r>
            <a:endParaRPr lang="en-US" sz="3750" dirty="0"/>
          </a:p>
        </p:txBody>
      </p:sp>
      <p:sp>
        <p:nvSpPr>
          <p:cNvPr id="3" name="Text 1"/>
          <p:cNvSpPr txBox="1"/>
          <p:nvPr/>
        </p:nvSpPr>
        <p:spPr>
          <a:xfrm>
            <a:off x="533400" y="893266"/>
            <a:ext cx="2637234" cy="276225"/>
          </a:xfrm>
          <a:prstGeom prst="rect">
            <a:avLst/>
          </a:prstGeom>
          <a:noFill/>
          <a:ln/>
        </p:spPr>
        <p:txBody>
          <a:bodyPr wrap="none" lIns="0" tIns="0" rIns="0" bIns="0" rtlCol="0" anchor="t"/>
          <a:lstStyle/>
          <a:p>
            <a:pPr algn="l" indent="0" marL="0">
              <a:buNone/>
            </a:pPr>
            <a:r>
              <a:rPr lang="en-US" sz="1500" dirty="0">
                <a:solidFill>
                  <a:srgbClr val="000000">
                    <a:alpha val="50000"/>
                  </a:srgbClr>
                </a:solidFill>
                <a:latin typeface="Arial" pitchFamily="34" charset="0"/>
                <a:ea typeface="Arial" pitchFamily="34" charset="-122"/>
                <a:cs typeface="Arial" pitchFamily="34" charset="-120"/>
              </a:rPr>
              <a:t>Transform everything as text</a:t>
            </a:r>
            <a:endParaRPr lang="en-US" sz="1500" dirty="0"/>
          </a:p>
        </p:txBody>
      </p:sp>
      <p:sp>
        <p:nvSpPr>
          <p:cNvPr id="4" name="Text 2"/>
          <p:cNvSpPr txBox="1"/>
          <p:nvPr/>
        </p:nvSpPr>
        <p:spPr>
          <a:xfrm>
            <a:off x="533400" y="1697087"/>
            <a:ext cx="3599971" cy="466725"/>
          </a:xfrm>
          <a:prstGeom prst="rect">
            <a:avLst/>
          </a:prstGeom>
          <a:noFill/>
          <a:ln/>
        </p:spPr>
        <p:txBody>
          <a:bodyPr wrap="square" lIns="0" tIns="0" rIns="0" bIns="0" rtlCol="0" anchor="t"/>
          <a:lstStyle/>
          <a:p>
            <a:pPr algn="l" indent="0" marL="0">
              <a:lnSpc>
                <a:spcPts val="1800"/>
              </a:lnSpc>
              <a:buNone/>
            </a:pPr>
            <a:r>
              <a:rPr lang="en-US" sz="1320" dirty="0">
                <a:solidFill>
                  <a:srgbClr val="000000"/>
                </a:solidFill>
                <a:latin typeface="Arial" pitchFamily="34" charset="0"/>
                <a:ea typeface="Arial" pitchFamily="34" charset="-122"/>
                <a:cs typeface="Arial" pitchFamily="34" charset="-120"/>
              </a:rPr>
              <a:t>Transformer 的并行化、规模化能力吸引人们把其他模态的信号都以文本的方式建模。</a:t>
            </a:r>
            <a:endParaRPr lang="en-US" sz="1320" dirty="0"/>
          </a:p>
        </p:txBody>
      </p:sp>
      <p:sp>
        <p:nvSpPr>
          <p:cNvPr id="5" name="Text 3"/>
          <p:cNvSpPr txBox="1"/>
          <p:nvPr/>
        </p:nvSpPr>
        <p:spPr>
          <a:xfrm>
            <a:off x="516630" y="23162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326" y="2344787"/>
            <a:ext cx="3325374"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文本信号离散且信息率高，图像、声音信号连续且信息率低</a:t>
            </a:r>
            <a:endParaRPr lang="en-US" sz="1320" dirty="0"/>
          </a:p>
        </p:txBody>
      </p:sp>
      <p:sp>
        <p:nvSpPr>
          <p:cNvPr id="7" name="Text 5"/>
          <p:cNvSpPr txBox="1"/>
          <p:nvPr/>
        </p:nvSpPr>
        <p:spPr>
          <a:xfrm>
            <a:off x="516630" y="29198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751326" y="2948434"/>
            <a:ext cx="3361789"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（广义）分词器+编码器：把图像或声音等连续信号压缩成嵌入序列</a:t>
            </a:r>
            <a:endParaRPr lang="en-US" sz="1320" dirty="0"/>
          </a:p>
        </p:txBody>
      </p:sp>
      <p:sp>
        <p:nvSpPr>
          <p:cNvPr id="9" name="Text 7"/>
          <p:cNvSpPr txBox="1"/>
          <p:nvPr/>
        </p:nvSpPr>
        <p:spPr>
          <a:xfrm>
            <a:off x="516630" y="352350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751326" y="3552081"/>
            <a:ext cx="3325374"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传入 Transformer，其余不变：适用于连续模态到离散模态（文本，类别）的任务</a:t>
            </a:r>
            <a:endParaRPr lang="en-US" sz="1320" dirty="0"/>
          </a:p>
        </p:txBody>
      </p:sp>
      <p:sp>
        <p:nvSpPr>
          <p:cNvPr id="11" name="Text 9"/>
          <p:cNvSpPr txBox="1"/>
          <p:nvPr/>
        </p:nvSpPr>
        <p:spPr>
          <a:xfrm>
            <a:off x="516630" y="412715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751326" y="4155728"/>
            <a:ext cx="3325374" cy="539948"/>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如果需要还原回连续模态，需要对应模态的解码器</a:t>
            </a:r>
            <a:endParaRPr lang="en-US" sz="1320" dirty="0"/>
          </a:p>
        </p:txBody>
      </p:sp>
      <p:pic>
        <p:nvPicPr>
          <p:cNvPr id="13" name="Image 0" descr="preencoded.png">    </p:cNvPr>
          <p:cNvPicPr>
            <a:picLocks noChangeAspect="1"/>
          </p:cNvPicPr>
          <p:nvPr/>
        </p:nvPicPr>
        <p:blipFill>
          <a:blip r:embed="rId1"/>
          <a:stretch>
            <a:fillRect/>
          </a:stretch>
        </p:blipFill>
        <p:spPr>
          <a:xfrm>
            <a:off x="4705350" y="1554212"/>
            <a:ext cx="4095750" cy="2117229"/>
          </a:xfrm>
          <a:prstGeom prst="rect">
            <a:avLst/>
          </a:prstGeom>
        </p:spPr>
      </p:pic>
      <p:pic>
        <p:nvPicPr>
          <p:cNvPr id="14"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15"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16" name="Text 1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7" name="Shape 12"/>
          <p:cNvSpPr/>
          <p:nvPr/>
        </p:nvSpPr>
        <p:spPr>
          <a:xfrm>
            <a:off x="647700" y="5067300"/>
            <a:ext cx="9525" cy="152400"/>
          </a:xfrm>
          <a:prstGeom prst="rect">
            <a:avLst/>
          </a:prstGeom>
          <a:solidFill>
            <a:srgbClr val="F0FFFF"/>
          </a:solidFill>
          <a:ln/>
        </p:spPr>
      </p:sp>
      <p:sp>
        <p:nvSpPr>
          <p:cNvPr id="18" name="Text 1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9" name="Text 1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0" name="Text 1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31</a:t>
            </a:r>
            <a:endParaRPr lang="en-US" sz="1050" dirty="0"/>
          </a:p>
        </p:txBody>
      </p:sp>
      <p:sp>
        <p:nvSpPr>
          <p:cNvPr id="21" name="Text 1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2" name="Text 1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971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统一模态空间</a:t>
            </a:r>
            <a:endParaRPr lang="en-US" sz="3750" dirty="0"/>
          </a:p>
        </p:txBody>
      </p:sp>
      <p:sp>
        <p:nvSpPr>
          <p:cNvPr id="3" name="Text 1"/>
          <p:cNvSpPr txBox="1"/>
          <p:nvPr/>
        </p:nvSpPr>
        <p:spPr>
          <a:xfrm>
            <a:off x="533400" y="1354187"/>
            <a:ext cx="262815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多模态任务需要在不同模态间转换</a:t>
            </a:r>
            <a:endParaRPr lang="en-US" sz="1320" dirty="0"/>
          </a:p>
        </p:txBody>
      </p:sp>
      <p:sp>
        <p:nvSpPr>
          <p:cNvPr id="4" name="Text 2"/>
          <p:cNvSpPr txBox="1"/>
          <p:nvPr/>
        </p:nvSpPr>
        <p:spPr>
          <a:xfrm>
            <a:off x="516630" y="17447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5" name="Text 3"/>
          <p:cNvSpPr txBox="1"/>
          <p:nvPr/>
        </p:nvSpPr>
        <p:spPr>
          <a:xfrm>
            <a:off x="751284" y="1773287"/>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图像到文本（图像描述）</a:t>
            </a:r>
            <a:endParaRPr lang="en-US" sz="1320" dirty="0"/>
          </a:p>
        </p:txBody>
      </p:sp>
      <p:sp>
        <p:nvSpPr>
          <p:cNvPr id="6" name="Text 4"/>
          <p:cNvSpPr txBox="1"/>
          <p:nvPr/>
        </p:nvSpPr>
        <p:spPr>
          <a:xfrm>
            <a:off x="516630" y="204653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7" name="Text 5"/>
          <p:cNvSpPr txBox="1"/>
          <p:nvPr/>
        </p:nvSpPr>
        <p:spPr>
          <a:xfrm>
            <a:off x="751284" y="2075111"/>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文本到图像（图像生成）</a:t>
            </a:r>
            <a:endParaRPr lang="en-US" sz="1320" dirty="0"/>
          </a:p>
        </p:txBody>
      </p:sp>
      <p:sp>
        <p:nvSpPr>
          <p:cNvPr id="8" name="Text 6"/>
          <p:cNvSpPr txBox="1"/>
          <p:nvPr/>
        </p:nvSpPr>
        <p:spPr>
          <a:xfrm>
            <a:off x="516630" y="23483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9" name="Text 7"/>
          <p:cNvSpPr txBox="1"/>
          <p:nvPr/>
        </p:nvSpPr>
        <p:spPr>
          <a:xfrm>
            <a:off x="751284" y="2376934"/>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声音到文本（语音识别）</a:t>
            </a:r>
            <a:endParaRPr lang="en-US" sz="1320" dirty="0"/>
          </a:p>
        </p:txBody>
      </p:sp>
      <p:sp>
        <p:nvSpPr>
          <p:cNvPr id="10" name="Text 8"/>
          <p:cNvSpPr txBox="1"/>
          <p:nvPr/>
        </p:nvSpPr>
        <p:spPr>
          <a:xfrm>
            <a:off x="516630" y="265018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1" name="Text 9"/>
          <p:cNvSpPr txBox="1"/>
          <p:nvPr/>
        </p:nvSpPr>
        <p:spPr>
          <a:xfrm>
            <a:off x="751284" y="2678757"/>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文本到声音（语音合成）</a:t>
            </a:r>
            <a:endParaRPr lang="en-US" sz="1320" dirty="0"/>
          </a:p>
        </p:txBody>
      </p:sp>
      <p:sp>
        <p:nvSpPr>
          <p:cNvPr id="12" name="Text 10"/>
          <p:cNvSpPr txBox="1"/>
          <p:nvPr/>
        </p:nvSpPr>
        <p:spPr>
          <a:xfrm>
            <a:off x="516630" y="295200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3" name="Text 11"/>
          <p:cNvSpPr txBox="1"/>
          <p:nvPr/>
        </p:nvSpPr>
        <p:spPr>
          <a:xfrm>
            <a:off x="751284" y="2980581"/>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视频到声音（视频配乐）</a:t>
            </a:r>
            <a:endParaRPr lang="en-US" sz="1320" dirty="0"/>
          </a:p>
        </p:txBody>
      </p:sp>
      <p:sp>
        <p:nvSpPr>
          <p:cNvPr id="14" name="Text 12"/>
          <p:cNvSpPr txBox="1"/>
          <p:nvPr/>
        </p:nvSpPr>
        <p:spPr>
          <a:xfrm>
            <a:off x="516630" y="325382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5" name="Text 13"/>
          <p:cNvSpPr txBox="1"/>
          <p:nvPr/>
        </p:nvSpPr>
        <p:spPr>
          <a:xfrm>
            <a:off x="751284" y="3282404"/>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视频到视频（自动剪辑）</a:t>
            </a:r>
            <a:endParaRPr lang="en-US" sz="1320" dirty="0"/>
          </a:p>
        </p:txBody>
      </p:sp>
      <p:sp>
        <p:nvSpPr>
          <p:cNvPr id="16" name="Text 14"/>
          <p:cNvSpPr txBox="1"/>
          <p:nvPr/>
        </p:nvSpPr>
        <p:spPr>
          <a:xfrm>
            <a:off x="516630" y="355565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7" name="Text 15"/>
          <p:cNvSpPr txBox="1"/>
          <p:nvPr/>
        </p:nvSpPr>
        <p:spPr>
          <a:xfrm>
            <a:off x="751284" y="3584228"/>
            <a:ext cx="65469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等等 …</a:t>
            </a:r>
            <a:endParaRPr lang="en-US" sz="1320" dirty="0"/>
          </a:p>
        </p:txBody>
      </p:sp>
      <p:sp>
        <p:nvSpPr>
          <p:cNvPr id="18" name="Text 16"/>
          <p:cNvSpPr txBox="1"/>
          <p:nvPr/>
        </p:nvSpPr>
        <p:spPr>
          <a:xfrm>
            <a:off x="533400" y="4000351"/>
            <a:ext cx="313089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如何保证不同模态嵌入之间的语义一致性</a:t>
            </a:r>
            <a:endParaRPr lang="en-US" sz="1320" dirty="0"/>
          </a:p>
        </p:txBody>
      </p:sp>
      <p:pic>
        <p:nvPicPr>
          <p:cNvPr id="19" name="Image 0" descr="preencoded.png">    </p:cNvPr>
          <p:cNvPicPr>
            <a:picLocks noChangeAspect="1"/>
          </p:cNvPicPr>
          <p:nvPr/>
        </p:nvPicPr>
        <p:blipFill>
          <a:blip r:embed="rId1"/>
          <a:stretch>
            <a:fillRect/>
          </a:stretch>
        </p:blipFill>
        <p:spPr>
          <a:xfrm>
            <a:off x="3824287" y="1211312"/>
            <a:ext cx="4786313" cy="2333774"/>
          </a:xfrm>
          <a:prstGeom prst="rect">
            <a:avLst/>
          </a:prstGeom>
        </p:spPr>
      </p:pic>
      <p:sp>
        <p:nvSpPr>
          <p:cNvPr id="20" name="Text 17"/>
          <p:cNvSpPr txBox="1"/>
          <p:nvPr/>
        </p:nvSpPr>
        <p:spPr>
          <a:xfrm>
            <a:off x="516630" y="439087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1" name="Text 18"/>
          <p:cNvSpPr txBox="1"/>
          <p:nvPr/>
        </p:nvSpPr>
        <p:spPr>
          <a:xfrm>
            <a:off x="751284" y="4419451"/>
            <a:ext cx="782344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对齐：</a:t>
            </a:r>
            <a:pPr algn="l" indent="0" marL="0">
              <a:buNone/>
            </a:pPr>
            <a:r>
              <a:rPr lang="en-US" sz="1320" b="1" dirty="0">
                <a:solidFill>
                  <a:srgbClr val="000000"/>
                </a:solidFill>
                <a:latin typeface="Arial" pitchFamily="34" charset="0"/>
                <a:ea typeface="Arial" pitchFamily="34" charset="-122"/>
                <a:cs typeface="Arial" pitchFamily="34" charset="-120"/>
              </a:rPr>
              <a:t>以文本为锚点</a:t>
            </a:r>
            <a:pPr algn="l" indent="0" marL="0">
              <a:buNone/>
            </a:pPr>
            <a:r>
              <a:rPr lang="en-US" sz="1320" dirty="0">
                <a:solidFill>
                  <a:srgbClr val="000000"/>
                </a:solidFill>
                <a:latin typeface="Arial" pitchFamily="34" charset="0"/>
                <a:ea typeface="Arial" pitchFamily="34" charset="-122"/>
                <a:cs typeface="Arial" pitchFamily="34" charset="-120"/>
              </a:rPr>
              <a:t>，训练对齐映射使不同模态语义相近的嵌入在统一空间中，使向量距离反映语义距离</a:t>
            </a:r>
            <a:endParaRPr lang="en-US" sz="1320" dirty="0"/>
          </a:p>
        </p:txBody>
      </p:sp>
      <p:pic>
        <p:nvPicPr>
          <p:cNvPr id="22"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23"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24" name="Text 19"/>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5" name="Shape 20"/>
          <p:cNvSpPr/>
          <p:nvPr/>
        </p:nvSpPr>
        <p:spPr>
          <a:xfrm>
            <a:off x="647700" y="5067300"/>
            <a:ext cx="9525" cy="152400"/>
          </a:xfrm>
          <a:prstGeom prst="rect">
            <a:avLst/>
          </a:prstGeom>
          <a:solidFill>
            <a:srgbClr val="F0FFFF"/>
          </a:solidFill>
          <a:ln/>
        </p:spPr>
      </p:sp>
      <p:sp>
        <p:nvSpPr>
          <p:cNvPr id="26" name="Text 21"/>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7" name="Text 22"/>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8" name="Text 23"/>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32</a:t>
            </a:r>
            <a:endParaRPr lang="en-US" sz="1050" dirty="0"/>
          </a:p>
        </p:txBody>
      </p:sp>
      <p:sp>
        <p:nvSpPr>
          <p:cNvPr id="29" name="Text 24"/>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30" name="Text 25"/>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34480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任意模态大模型</a:t>
            </a:r>
            <a:endParaRPr lang="en-US" sz="3750" dirty="0"/>
          </a:p>
        </p:txBody>
      </p:sp>
      <p:sp>
        <p:nvSpPr>
          <p:cNvPr id="3" name="Text 1"/>
          <p:cNvSpPr txBox="1"/>
          <p:nvPr/>
        </p:nvSpPr>
        <p:spPr>
          <a:xfrm>
            <a:off x="516630" y="1211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1239887"/>
            <a:ext cx="313089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各自模态配备编码器、解码器、对齐映射</a:t>
            </a:r>
            <a:endParaRPr lang="en-US" sz="1320" dirty="0"/>
          </a:p>
        </p:txBody>
      </p:sp>
      <p:sp>
        <p:nvSpPr>
          <p:cNvPr id="5" name="Text 3"/>
          <p:cNvSpPr txBox="1"/>
          <p:nvPr/>
        </p:nvSpPr>
        <p:spPr>
          <a:xfrm>
            <a:off x="516630" y="151313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284" y="1541711"/>
            <a:ext cx="246057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统一的大语言模型骨干网络建模</a:t>
            </a:r>
            <a:endParaRPr lang="en-US" sz="1320" dirty="0"/>
          </a:p>
        </p:txBody>
      </p:sp>
      <p:pic>
        <p:nvPicPr>
          <p:cNvPr id="7" name="Image 0" descr="preencoded.png">    </p:cNvPr>
          <p:cNvPicPr>
            <a:picLocks noChangeAspect="1"/>
          </p:cNvPicPr>
          <p:nvPr/>
        </p:nvPicPr>
        <p:blipFill>
          <a:blip r:embed="rId1"/>
          <a:stretch>
            <a:fillRect/>
          </a:stretch>
        </p:blipFill>
        <p:spPr>
          <a:xfrm>
            <a:off x="533400" y="1814959"/>
            <a:ext cx="5787330" cy="2974925"/>
          </a:xfrm>
          <a:prstGeom prst="rect">
            <a:avLst/>
          </a:prstGeom>
        </p:spPr>
      </p:pic>
      <p:pic>
        <p:nvPicPr>
          <p:cNvPr id="8"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9"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10" name="Text 5"/>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1" name="Shape 6"/>
          <p:cNvSpPr/>
          <p:nvPr/>
        </p:nvSpPr>
        <p:spPr>
          <a:xfrm>
            <a:off x="647700" y="5067300"/>
            <a:ext cx="9525" cy="152400"/>
          </a:xfrm>
          <a:prstGeom prst="rect">
            <a:avLst/>
          </a:prstGeom>
          <a:solidFill>
            <a:srgbClr val="F0FFFF"/>
          </a:solidFill>
          <a:ln/>
        </p:spPr>
      </p:sp>
      <p:sp>
        <p:nvSpPr>
          <p:cNvPr id="12" name="Text 7"/>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3" name="Text 8"/>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4" name="Text 9"/>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33</a:t>
            </a:r>
            <a:endParaRPr lang="en-US" sz="1050" dirty="0"/>
          </a:p>
        </p:txBody>
      </p:sp>
      <p:sp>
        <p:nvSpPr>
          <p:cNvPr id="15" name="Text 10"/>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16" name="Text 11"/>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772668" y="1701403"/>
            <a:ext cx="3886349" cy="495300"/>
          </a:xfrm>
          <a:prstGeom prst="rect">
            <a:avLst/>
          </a:prstGeom>
          <a:noFill/>
          <a:ln/>
        </p:spPr>
        <p:txBody>
          <a:bodyPr wrap="none" lIns="0" tIns="0" rIns="0" bIns="0" rtlCol="0" anchor="t"/>
          <a:lstStyle/>
          <a:p>
            <a:pPr algn="l" indent="0" marL="0">
              <a:buNone/>
            </a:pPr>
            <a:r>
              <a:rPr lang="en-US" sz="2700" dirty="0">
                <a:solidFill>
                  <a:srgbClr val="000000"/>
                </a:solidFill>
                <a:latin typeface="Arial" pitchFamily="34" charset="0"/>
                <a:ea typeface="Arial" pitchFamily="34" charset="-122"/>
                <a:cs typeface="Arial" pitchFamily="34" charset="-120"/>
              </a:rPr>
              <a:t>深度学习时代的语音处理</a:t>
            </a:r>
            <a:endParaRPr lang="en-US" sz="2700" dirty="0"/>
          </a:p>
        </p:txBody>
      </p:sp>
      <p:sp>
        <p:nvSpPr>
          <p:cNvPr id="3" name="Text 1"/>
          <p:cNvSpPr txBox="1"/>
          <p:nvPr/>
        </p:nvSpPr>
        <p:spPr>
          <a:xfrm>
            <a:off x="2773013" y="229195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3007668" y="2320528"/>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语音的特殊性</a:t>
            </a:r>
            <a:endParaRPr lang="en-US" sz="1320" dirty="0"/>
          </a:p>
        </p:txBody>
      </p:sp>
      <p:sp>
        <p:nvSpPr>
          <p:cNvPr id="5" name="Text 3"/>
          <p:cNvSpPr txBox="1"/>
          <p:nvPr/>
        </p:nvSpPr>
        <p:spPr>
          <a:xfrm>
            <a:off x="2773013" y="2593777"/>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3007668" y="2622352"/>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传统语音处理</a:t>
            </a:r>
            <a:endParaRPr lang="en-US" sz="1320" dirty="0"/>
          </a:p>
        </p:txBody>
      </p:sp>
      <p:sp>
        <p:nvSpPr>
          <p:cNvPr id="7" name="Text 5"/>
          <p:cNvSpPr txBox="1"/>
          <p:nvPr/>
        </p:nvSpPr>
        <p:spPr>
          <a:xfrm>
            <a:off x="2773013" y="289560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3007668" y="2924175"/>
            <a:ext cx="293623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判别式任务举例：语音到文本（ASR）</a:t>
            </a:r>
            <a:endParaRPr lang="en-US" sz="1320" dirty="0"/>
          </a:p>
        </p:txBody>
      </p:sp>
      <p:sp>
        <p:nvSpPr>
          <p:cNvPr id="9" name="Text 7"/>
          <p:cNvSpPr txBox="1"/>
          <p:nvPr/>
        </p:nvSpPr>
        <p:spPr>
          <a:xfrm>
            <a:off x="2773013" y="319742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3007668" y="3225998"/>
            <a:ext cx="292134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生成式任务举例：文本到语音（TTS）</a:t>
            </a:r>
            <a:endParaRPr lang="en-US" sz="132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971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语音的特殊性</a:t>
            </a:r>
            <a:endParaRPr lang="en-US" sz="3750" dirty="0"/>
          </a:p>
        </p:txBody>
      </p:sp>
      <p:sp>
        <p:nvSpPr>
          <p:cNvPr id="3" name="Text 1"/>
          <p:cNvSpPr txBox="1"/>
          <p:nvPr/>
        </p:nvSpPr>
        <p:spPr>
          <a:xfrm>
            <a:off x="533400" y="1102816"/>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信息密度低：</a:t>
            </a:r>
            <a:endParaRPr lang="en-US" sz="1320" dirty="0"/>
          </a:p>
        </p:txBody>
      </p:sp>
      <p:sp>
        <p:nvSpPr>
          <p:cNvPr id="4" name="Text 2"/>
          <p:cNvSpPr txBox="1"/>
          <p:nvPr/>
        </p:nvSpPr>
        <p:spPr>
          <a:xfrm>
            <a:off x="516630" y="14933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5" name="Text 3"/>
          <p:cNvSpPr txBox="1"/>
          <p:nvPr/>
        </p:nvSpPr>
        <p:spPr>
          <a:xfrm>
            <a:off x="751326" y="1521916"/>
            <a:ext cx="2901511" cy="1143595"/>
          </a:xfrm>
          <a:prstGeom prst="rect">
            <a:avLst/>
          </a:prstGeom>
          <a:noFill/>
          <a:ln/>
        </p:spPr>
        <p:txBody>
          <a:bodyPr wrap="square" lIns="0" tIns="0" rIns="0" bIns="0" rtlCol="0" anchor="t"/>
          <a:lstStyle/>
          <a:p>
            <a:pPr algn="l" indent="0" marL="0">
              <a:lnSpc>
                <a:spcPts val="2377"/>
              </a:lnSpc>
              <a:buNone/>
            </a:pPr>
            <a:r>
              <a:rPr lang="en-US" sz="1320" dirty="0">
                <a:solidFill>
                  <a:srgbClr val="000000"/>
                </a:solidFill>
                <a:latin typeface="Arial" pitchFamily="34" charset="0"/>
                <a:ea typeface="Arial" pitchFamily="34" charset="-122"/>
                <a:cs typeface="Arial" pitchFamily="34" charset="-120"/>
              </a:rPr>
              <a:t>3 分钟的音乐波形文件大小</a:t>
            </a:r>
            <a:br/>
            <a:pPr algn="l" indent="0" marL="0">
              <a:lnSpc>
                <a:spcPts val="2377"/>
              </a:lnSpc>
              <a:buNone/>
            </a:pPr>
            <a:r>
              <a:rPr lang="en-US" sz="1320" dirty="0">
                <a:solidFill>
                  <a:srgbClr val="000000"/>
                </a:solidFill>
                <a:latin typeface="Arial" pitchFamily="34" charset="0"/>
                <a:ea typeface="Arial" pitchFamily="34" charset="-122"/>
                <a:cs typeface="Arial" pitchFamily="34" charset="-120"/>
              </a:rPr>
              <a:t>44100Hz×16bit×2×180s/8≈30.3 MB</a:t>
            </a:r>
            <a:br/>
            <a:pPr algn="l" indent="0" marL="0">
              <a:lnSpc>
                <a:spcPts val="2377"/>
              </a:lnSpc>
              <a:buNone/>
            </a:pPr>
            <a:r>
              <a:rPr lang="en-US" sz="1320" dirty="0">
                <a:solidFill>
                  <a:srgbClr val="000000"/>
                </a:solidFill>
                <a:latin typeface="Arial" pitchFamily="34" charset="0"/>
                <a:ea typeface="Arial" pitchFamily="34" charset="-122"/>
                <a:cs typeface="Arial" pitchFamily="34" charset="-120"/>
              </a:rPr>
              <a:t>相当于一本千万字小说</a:t>
            </a:r>
            <a:endParaRPr lang="en-US" sz="1320" dirty="0"/>
          </a:p>
        </p:txBody>
      </p:sp>
      <p:sp>
        <p:nvSpPr>
          <p:cNvPr id="6" name="Text 4"/>
          <p:cNvSpPr txBox="1"/>
          <p:nvPr/>
        </p:nvSpPr>
        <p:spPr>
          <a:xfrm>
            <a:off x="516630" y="27006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7" name="Text 5"/>
          <p:cNvSpPr txBox="1"/>
          <p:nvPr/>
        </p:nvSpPr>
        <p:spPr>
          <a:xfrm>
            <a:off x="751284" y="2729210"/>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可用数据少</a:t>
            </a:r>
            <a:endParaRPr lang="en-US" sz="1320" dirty="0"/>
          </a:p>
        </p:txBody>
      </p:sp>
      <p:sp>
        <p:nvSpPr>
          <p:cNvPr id="8" name="Text 6"/>
          <p:cNvSpPr txBox="1"/>
          <p:nvPr/>
        </p:nvSpPr>
        <p:spPr>
          <a:xfrm>
            <a:off x="533400" y="3145334"/>
            <a:ext cx="195783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信息层次丰富，多且杂：</a:t>
            </a:r>
            <a:endParaRPr lang="en-US" sz="1320" dirty="0"/>
          </a:p>
        </p:txBody>
      </p:sp>
      <p:sp>
        <p:nvSpPr>
          <p:cNvPr id="9" name="Text 7"/>
          <p:cNvSpPr txBox="1"/>
          <p:nvPr/>
        </p:nvSpPr>
        <p:spPr>
          <a:xfrm>
            <a:off x="516630" y="35358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751284" y="3564434"/>
            <a:ext cx="44961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音色</a:t>
            </a:r>
            <a:endParaRPr lang="en-US" sz="1320" dirty="0"/>
          </a:p>
        </p:txBody>
      </p:sp>
      <p:sp>
        <p:nvSpPr>
          <p:cNvPr id="11" name="Text 9"/>
          <p:cNvSpPr txBox="1"/>
          <p:nvPr/>
        </p:nvSpPr>
        <p:spPr>
          <a:xfrm>
            <a:off x="516630" y="383768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751284" y="3866257"/>
            <a:ext cx="44961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音素</a:t>
            </a:r>
            <a:endParaRPr lang="en-US" sz="1320" dirty="0"/>
          </a:p>
        </p:txBody>
      </p:sp>
      <p:sp>
        <p:nvSpPr>
          <p:cNvPr id="13" name="Text 11"/>
          <p:cNvSpPr txBox="1"/>
          <p:nvPr/>
        </p:nvSpPr>
        <p:spPr>
          <a:xfrm>
            <a:off x="516630" y="413950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2"/>
          <p:cNvSpPr txBox="1"/>
          <p:nvPr/>
        </p:nvSpPr>
        <p:spPr>
          <a:xfrm>
            <a:off x="751284" y="4168080"/>
            <a:ext cx="145509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韵律、语气、情绪</a:t>
            </a:r>
            <a:endParaRPr lang="en-US" sz="1320" dirty="0"/>
          </a:p>
        </p:txBody>
      </p:sp>
      <p:sp>
        <p:nvSpPr>
          <p:cNvPr id="15" name="Text 13"/>
          <p:cNvSpPr txBox="1"/>
          <p:nvPr/>
        </p:nvSpPr>
        <p:spPr>
          <a:xfrm>
            <a:off x="516630" y="444132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6" name="Text 14"/>
          <p:cNvSpPr txBox="1"/>
          <p:nvPr/>
        </p:nvSpPr>
        <p:spPr>
          <a:xfrm>
            <a:off x="751284" y="4469904"/>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副语言现象</a:t>
            </a:r>
            <a:endParaRPr lang="en-US" sz="1320" dirty="0"/>
          </a:p>
        </p:txBody>
      </p:sp>
      <p:pic>
        <p:nvPicPr>
          <p:cNvPr id="17" name="Image 0" descr="preencoded.png">    </p:cNvPr>
          <p:cNvPicPr>
            <a:picLocks noChangeAspect="1"/>
          </p:cNvPicPr>
          <p:nvPr/>
        </p:nvPicPr>
        <p:blipFill>
          <a:blip r:embed="rId1"/>
          <a:stretch>
            <a:fillRect/>
          </a:stretch>
        </p:blipFill>
        <p:spPr>
          <a:xfrm>
            <a:off x="3633787" y="959941"/>
            <a:ext cx="5167312" cy="2929830"/>
          </a:xfrm>
          <a:prstGeom prst="rect">
            <a:avLst/>
          </a:prstGeom>
        </p:spPr>
      </p:pic>
      <p:pic>
        <p:nvPicPr>
          <p:cNvPr id="18"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19"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20" name="Text 15"/>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1" name="Shape 16"/>
          <p:cNvSpPr/>
          <p:nvPr/>
        </p:nvSpPr>
        <p:spPr>
          <a:xfrm>
            <a:off x="647700" y="5067300"/>
            <a:ext cx="9525" cy="152400"/>
          </a:xfrm>
          <a:prstGeom prst="rect">
            <a:avLst/>
          </a:prstGeom>
          <a:solidFill>
            <a:srgbClr val="F0FFFF"/>
          </a:solidFill>
          <a:ln/>
        </p:spPr>
      </p:sp>
      <p:sp>
        <p:nvSpPr>
          <p:cNvPr id="22" name="Text 17"/>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3" name="Text 18"/>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4" name="Text 19"/>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35</a:t>
            </a:r>
            <a:endParaRPr lang="en-US" sz="1050" dirty="0"/>
          </a:p>
        </p:txBody>
      </p:sp>
      <p:sp>
        <p:nvSpPr>
          <p:cNvPr id="25" name="Text 20"/>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6" name="Text 21"/>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2971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传统语音处理</a:t>
            </a:r>
            <a:endParaRPr lang="en-US" sz="3750" dirty="0"/>
          </a:p>
        </p:txBody>
      </p:sp>
      <p:sp>
        <p:nvSpPr>
          <p:cNvPr id="3" name="Text 1"/>
          <p:cNvSpPr txBox="1"/>
          <p:nvPr/>
        </p:nvSpPr>
        <p:spPr>
          <a:xfrm>
            <a:off x="516630" y="9599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988516"/>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人耳是傅立叶分析器</a:t>
            </a:r>
            <a:endParaRPr lang="en-US" sz="1320" dirty="0"/>
          </a:p>
        </p:txBody>
      </p:sp>
      <p:sp>
        <p:nvSpPr>
          <p:cNvPr id="5" name="Text 3"/>
          <p:cNvSpPr txBox="1"/>
          <p:nvPr/>
        </p:nvSpPr>
        <p:spPr>
          <a:xfrm>
            <a:off x="516630" y="12617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284" y="1290340"/>
            <a:ext cx="3130897"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模型：语音信号建模为局部广义平稳过程</a:t>
            </a:r>
            <a:endParaRPr lang="en-US" sz="1320" dirty="0"/>
          </a:p>
        </p:txBody>
      </p:sp>
      <p:sp>
        <p:nvSpPr>
          <p:cNvPr id="7" name="Text 5"/>
          <p:cNvSpPr txBox="1"/>
          <p:nvPr/>
        </p:nvSpPr>
        <p:spPr>
          <a:xfrm>
            <a:off x="516630" y="15635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751284" y="1592163"/>
            <a:ext cx="327734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表征映射：短时傅立叶变换，Mel 滤波器组</a:t>
            </a:r>
            <a:endParaRPr lang="en-US" sz="1320" dirty="0"/>
          </a:p>
        </p:txBody>
      </p:sp>
      <p:sp>
        <p:nvSpPr>
          <p:cNvPr id="9" name="Text 7"/>
          <p:cNvSpPr txBox="1"/>
          <p:nvPr/>
        </p:nvSpPr>
        <p:spPr>
          <a:xfrm>
            <a:off x="516630" y="18654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751284" y="1893987"/>
            <a:ext cx="3968800"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表征：从时域表征（波形）到时频域表征（频谱图）</a:t>
            </a:r>
            <a:endParaRPr lang="en-US" sz="1320" dirty="0"/>
          </a:p>
        </p:txBody>
      </p:sp>
      <p:sp>
        <p:nvSpPr>
          <p:cNvPr id="11" name="Text 9"/>
          <p:cNvSpPr txBox="1"/>
          <p:nvPr/>
        </p:nvSpPr>
        <p:spPr>
          <a:xfrm>
            <a:off x="516630" y="21672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751284" y="2195810"/>
            <a:ext cx="229299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作为深度学习的特征提取步骤</a:t>
            </a:r>
            <a:endParaRPr lang="en-US" sz="1320" dirty="0"/>
          </a:p>
        </p:txBody>
      </p:sp>
      <p:pic>
        <p:nvPicPr>
          <p:cNvPr id="13" name="Image 0" descr="preencoded.png">    </p:cNvPr>
          <p:cNvPicPr>
            <a:picLocks noChangeAspect="1"/>
          </p:cNvPicPr>
          <p:nvPr/>
        </p:nvPicPr>
        <p:blipFill>
          <a:blip r:embed="rId1"/>
          <a:stretch>
            <a:fillRect/>
          </a:stretch>
        </p:blipFill>
        <p:spPr>
          <a:xfrm>
            <a:off x="533400" y="2469059"/>
            <a:ext cx="3100388" cy="2370386"/>
          </a:xfrm>
          <a:prstGeom prst="rect">
            <a:avLst/>
          </a:prstGeom>
        </p:spPr>
      </p:pic>
      <p:pic>
        <p:nvPicPr>
          <p:cNvPr id="14" name="Image 1" descr="preencoded.png">    </p:cNvPr>
          <p:cNvPicPr>
            <a:picLocks noChangeAspect="1"/>
          </p:cNvPicPr>
          <p:nvPr/>
        </p:nvPicPr>
        <p:blipFill>
          <a:blip r:embed="rId2"/>
          <a:stretch>
            <a:fillRect/>
          </a:stretch>
        </p:blipFill>
        <p:spPr>
          <a:xfrm>
            <a:off x="5700713" y="959941"/>
            <a:ext cx="2480221" cy="3432870"/>
          </a:xfrm>
          <a:prstGeom prst="rect">
            <a:avLst/>
          </a:prstGeom>
        </p:spPr>
      </p:pic>
      <p:pic>
        <p:nvPicPr>
          <p:cNvPr id="15" name="Image 2" descr="Rendered as an image because of CSS background-image">    </p:cNvPr>
          <p:cNvPicPr>
            <a:picLocks noChangeAspect="1"/>
          </p:cNvPicPr>
          <p:nvPr/>
        </p:nvPicPr>
        <p:blipFill>
          <a:blip r:embed="rId3"/>
          <a:stretch>
            <a:fillRect/>
          </a:stretch>
        </p:blipFill>
        <p:spPr>
          <a:xfrm>
            <a:off x="0" y="210294"/>
            <a:ext cx="326678" cy="838200"/>
          </a:xfrm>
          <a:prstGeom prst="rect">
            <a:avLst/>
          </a:prstGeom>
        </p:spPr>
      </p:pic>
      <p:pic>
        <p:nvPicPr>
          <p:cNvPr id="16" name="Image 3" descr="Rendered as an image because of CSS background-image">    </p:cNvPr>
          <p:cNvPicPr>
            <a:picLocks noChangeAspect="1"/>
          </p:cNvPicPr>
          <p:nvPr/>
        </p:nvPicPr>
        <p:blipFill>
          <a:blip r:embed="rId4"/>
          <a:stretch>
            <a:fillRect/>
          </a:stretch>
        </p:blipFill>
        <p:spPr>
          <a:xfrm>
            <a:off x="0" y="5029200"/>
            <a:ext cx="9334500" cy="228600"/>
          </a:xfrm>
          <a:prstGeom prst="rect">
            <a:avLst/>
          </a:prstGeom>
        </p:spPr>
      </p:pic>
      <p:sp>
        <p:nvSpPr>
          <p:cNvPr id="17" name="Text 1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8" name="Shape 12"/>
          <p:cNvSpPr/>
          <p:nvPr/>
        </p:nvSpPr>
        <p:spPr>
          <a:xfrm>
            <a:off x="647700" y="5067300"/>
            <a:ext cx="9525" cy="152400"/>
          </a:xfrm>
          <a:prstGeom prst="rect">
            <a:avLst/>
          </a:prstGeom>
          <a:solidFill>
            <a:srgbClr val="F0FFFF"/>
          </a:solidFill>
          <a:ln/>
        </p:spPr>
      </p:sp>
      <p:sp>
        <p:nvSpPr>
          <p:cNvPr id="19" name="Text 1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0" name="Text 1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1" name="Text 1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36</a:t>
            </a:r>
            <a:endParaRPr lang="en-US" sz="1050" dirty="0"/>
          </a:p>
        </p:txBody>
      </p:sp>
      <p:sp>
        <p:nvSpPr>
          <p:cNvPr id="22" name="Text 1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3" name="Text 1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344805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作为图像的声音</a:t>
            </a:r>
            <a:endParaRPr lang="en-US" sz="3750" dirty="0"/>
          </a:p>
        </p:txBody>
      </p:sp>
      <p:sp>
        <p:nvSpPr>
          <p:cNvPr id="3" name="Text 1"/>
          <p:cNvSpPr txBox="1"/>
          <p:nvPr/>
        </p:nvSpPr>
        <p:spPr>
          <a:xfrm>
            <a:off x="516630" y="959941"/>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988516"/>
            <a:ext cx="279573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频谱图：关于时间和频率的二元函数</a:t>
            </a:r>
            <a:endParaRPr lang="en-US" sz="1320" dirty="0"/>
          </a:p>
        </p:txBody>
      </p:sp>
      <p:sp>
        <p:nvSpPr>
          <p:cNvPr id="5" name="Text 3"/>
          <p:cNvSpPr txBox="1"/>
          <p:nvPr/>
        </p:nvSpPr>
        <p:spPr>
          <a:xfrm>
            <a:off x="516630" y="126176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284" y="1290340"/>
            <a:ext cx="7847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似图非图</a:t>
            </a:r>
            <a:endParaRPr lang="en-US" sz="1320" dirty="0"/>
          </a:p>
        </p:txBody>
      </p:sp>
      <p:sp>
        <p:nvSpPr>
          <p:cNvPr id="7" name="Text 5"/>
          <p:cNvSpPr txBox="1"/>
          <p:nvPr/>
        </p:nvSpPr>
        <p:spPr>
          <a:xfrm>
            <a:off x="734514" y="1563588"/>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969169" y="1592163"/>
            <a:ext cx="1790254"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时间轴和频率轴非对称</a:t>
            </a:r>
            <a:endParaRPr lang="en-US" sz="1320" dirty="0"/>
          </a:p>
        </p:txBody>
      </p:sp>
      <p:sp>
        <p:nvSpPr>
          <p:cNvPr id="9" name="Text 7"/>
          <p:cNvSpPr txBox="1"/>
          <p:nvPr/>
        </p:nvSpPr>
        <p:spPr>
          <a:xfrm>
            <a:off x="734514" y="18654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969169" y="1893987"/>
            <a:ext cx="3298478"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视觉对象只有覆盖无重叠，声音事件可重叠</a:t>
            </a:r>
            <a:endParaRPr lang="en-US" sz="1320" dirty="0"/>
          </a:p>
        </p:txBody>
      </p:sp>
      <p:sp>
        <p:nvSpPr>
          <p:cNvPr id="11" name="Text 9"/>
          <p:cNvSpPr txBox="1"/>
          <p:nvPr/>
        </p:nvSpPr>
        <p:spPr>
          <a:xfrm>
            <a:off x="516630" y="2167235"/>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751284" y="2195810"/>
            <a:ext cx="2795736"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计算机视觉方法迁移：卷积神经网络</a:t>
            </a:r>
            <a:endParaRPr lang="en-US" sz="1320" dirty="0"/>
          </a:p>
        </p:txBody>
      </p:sp>
      <p:pic>
        <p:nvPicPr>
          <p:cNvPr id="13" name="Image 0" descr="preencoded.png">    </p:cNvPr>
          <p:cNvPicPr>
            <a:picLocks noChangeAspect="1"/>
          </p:cNvPicPr>
          <p:nvPr/>
        </p:nvPicPr>
        <p:blipFill>
          <a:blip r:embed="rId1"/>
          <a:stretch>
            <a:fillRect/>
          </a:stretch>
        </p:blipFill>
        <p:spPr>
          <a:xfrm>
            <a:off x="533400" y="2659559"/>
            <a:ext cx="8267700" cy="2229892"/>
          </a:xfrm>
          <a:prstGeom prst="rect">
            <a:avLst/>
          </a:prstGeom>
        </p:spPr>
      </p:pic>
      <p:pic>
        <p:nvPicPr>
          <p:cNvPr id="14"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15"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16" name="Text 1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17" name="Shape 12"/>
          <p:cNvSpPr/>
          <p:nvPr/>
        </p:nvSpPr>
        <p:spPr>
          <a:xfrm>
            <a:off x="647700" y="5067300"/>
            <a:ext cx="9525" cy="152400"/>
          </a:xfrm>
          <a:prstGeom prst="rect">
            <a:avLst/>
          </a:prstGeom>
          <a:solidFill>
            <a:srgbClr val="F0FFFF"/>
          </a:solidFill>
          <a:ln/>
        </p:spPr>
      </p:sp>
      <p:sp>
        <p:nvSpPr>
          <p:cNvPr id="18" name="Text 1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19" name="Text 1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20" name="Text 1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37</a:t>
            </a:r>
            <a:endParaRPr lang="en-US" sz="1050" dirty="0"/>
          </a:p>
        </p:txBody>
      </p:sp>
      <p:sp>
        <p:nvSpPr>
          <p:cNvPr id="21" name="Text 1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22" name="Text 1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58293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判别式任务举例：语音识别</a:t>
            </a:r>
            <a:endParaRPr lang="en-US" sz="3750" dirty="0"/>
          </a:p>
        </p:txBody>
      </p:sp>
      <p:pic>
        <p:nvPicPr>
          <p:cNvPr id="3" name="Image 0" descr="preencoded.png">    </p:cNvPr>
          <p:cNvPicPr>
            <a:picLocks noChangeAspect="1"/>
          </p:cNvPicPr>
          <p:nvPr/>
        </p:nvPicPr>
        <p:blipFill>
          <a:blip r:embed="rId1"/>
          <a:stretch>
            <a:fillRect/>
          </a:stretch>
        </p:blipFill>
        <p:spPr>
          <a:xfrm>
            <a:off x="533400" y="959941"/>
            <a:ext cx="8267402" cy="3909120"/>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5"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6" name="Text 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7" name="Shape 2"/>
          <p:cNvSpPr/>
          <p:nvPr/>
        </p:nvSpPr>
        <p:spPr>
          <a:xfrm>
            <a:off x="647700" y="5067300"/>
            <a:ext cx="9525" cy="152400"/>
          </a:xfrm>
          <a:prstGeom prst="rect">
            <a:avLst/>
          </a:prstGeom>
          <a:solidFill>
            <a:srgbClr val="F0FFFF"/>
          </a:solidFill>
          <a:ln/>
        </p:spPr>
      </p:sp>
      <p:sp>
        <p:nvSpPr>
          <p:cNvPr id="8" name="Text 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9" name="Text 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0" name="Text 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38</a:t>
            </a:r>
            <a:endParaRPr lang="en-US" sz="1050" dirty="0"/>
          </a:p>
        </p:txBody>
      </p:sp>
      <p:sp>
        <p:nvSpPr>
          <p:cNvPr id="11" name="Text 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12" name="Text 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58293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生成式任务举例：语音合成</a:t>
            </a:r>
            <a:endParaRPr lang="en-US" sz="3750" dirty="0"/>
          </a:p>
        </p:txBody>
      </p:sp>
      <p:pic>
        <p:nvPicPr>
          <p:cNvPr id="3" name="Image 0" descr="preencoded.png">    </p:cNvPr>
          <p:cNvPicPr>
            <a:picLocks noChangeAspect="1"/>
          </p:cNvPicPr>
          <p:nvPr/>
        </p:nvPicPr>
        <p:blipFill>
          <a:blip r:embed="rId1"/>
          <a:stretch>
            <a:fillRect/>
          </a:stretch>
        </p:blipFill>
        <p:spPr>
          <a:xfrm>
            <a:off x="533400" y="959941"/>
            <a:ext cx="8267402" cy="4016127"/>
          </a:xfrm>
          <a:prstGeom prst="rect">
            <a:avLst/>
          </a:prstGeom>
        </p:spPr>
      </p:pic>
      <p:pic>
        <p:nvPicPr>
          <p:cNvPr id="4"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5"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6" name="Text 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7" name="Shape 2"/>
          <p:cNvSpPr/>
          <p:nvPr/>
        </p:nvSpPr>
        <p:spPr>
          <a:xfrm>
            <a:off x="647700" y="5067300"/>
            <a:ext cx="9525" cy="152400"/>
          </a:xfrm>
          <a:prstGeom prst="rect">
            <a:avLst/>
          </a:prstGeom>
          <a:solidFill>
            <a:srgbClr val="F0FFFF"/>
          </a:solidFill>
          <a:ln/>
        </p:spPr>
      </p:sp>
      <p:sp>
        <p:nvSpPr>
          <p:cNvPr id="8" name="Text 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9" name="Text 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10" name="Text 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39</a:t>
            </a:r>
            <a:endParaRPr lang="en-US" sz="1050" dirty="0"/>
          </a:p>
        </p:txBody>
      </p:sp>
      <p:sp>
        <p:nvSpPr>
          <p:cNvPr id="11" name="Text 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12" name="Text 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9587" y="251371"/>
            <a:ext cx="1066800" cy="685800"/>
          </a:xfrm>
          <a:prstGeom prst="rect">
            <a:avLst/>
          </a:prstGeom>
          <a:noFill/>
          <a:ln/>
        </p:spPr>
        <p:txBody>
          <a:bodyPr wrap="none" lIns="0" tIns="0" rIns="0" bIns="0" rtlCol="0" anchor="t"/>
          <a:lstStyle/>
          <a:p>
            <a:pPr algn="l" indent="0" marL="0">
              <a:buNone/>
            </a:pPr>
            <a:r>
              <a:rPr lang="en-US" sz="3750" dirty="0">
                <a:solidFill>
                  <a:srgbClr val="000000"/>
                </a:solidFill>
                <a:latin typeface="Arial" pitchFamily="34" charset="0"/>
                <a:ea typeface="Arial" pitchFamily="34" charset="-122"/>
                <a:cs typeface="Arial" pitchFamily="34" charset="-120"/>
              </a:rPr>
              <a:t>感想</a:t>
            </a:r>
            <a:endParaRPr lang="en-US" sz="3750" dirty="0"/>
          </a:p>
        </p:txBody>
      </p:sp>
      <p:sp>
        <p:nvSpPr>
          <p:cNvPr id="3" name="Text 1"/>
          <p:cNvSpPr txBox="1"/>
          <p:nvPr/>
        </p:nvSpPr>
        <p:spPr>
          <a:xfrm>
            <a:off x="516630" y="121131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4" name="Text 2"/>
          <p:cNvSpPr txBox="1"/>
          <p:nvPr/>
        </p:nvSpPr>
        <p:spPr>
          <a:xfrm>
            <a:off x="751284" y="1239887"/>
            <a:ext cx="145509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通用人工智能问题</a:t>
            </a:r>
            <a:endParaRPr lang="en-US" sz="1320" dirty="0"/>
          </a:p>
        </p:txBody>
      </p:sp>
      <p:sp>
        <p:nvSpPr>
          <p:cNvPr id="5" name="Text 3"/>
          <p:cNvSpPr txBox="1"/>
          <p:nvPr/>
        </p:nvSpPr>
        <p:spPr>
          <a:xfrm>
            <a:off x="516630" y="151313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6" name="Text 4"/>
          <p:cNvSpPr txBox="1"/>
          <p:nvPr/>
        </p:nvSpPr>
        <p:spPr>
          <a:xfrm>
            <a:off x="751284" y="1541711"/>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涌现还是误认</a:t>
            </a:r>
            <a:endParaRPr lang="en-US" sz="1320" dirty="0"/>
          </a:p>
        </p:txBody>
      </p:sp>
      <p:sp>
        <p:nvSpPr>
          <p:cNvPr id="7" name="Text 5"/>
          <p:cNvSpPr txBox="1"/>
          <p:nvPr/>
        </p:nvSpPr>
        <p:spPr>
          <a:xfrm>
            <a:off x="516630" y="181495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8" name="Text 6"/>
          <p:cNvSpPr txBox="1"/>
          <p:nvPr/>
        </p:nvSpPr>
        <p:spPr>
          <a:xfrm>
            <a:off x="751284" y="1843534"/>
            <a:ext cx="78477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新的物神</a:t>
            </a:r>
            <a:endParaRPr lang="en-US" sz="1320" dirty="0"/>
          </a:p>
        </p:txBody>
      </p:sp>
      <p:sp>
        <p:nvSpPr>
          <p:cNvPr id="9" name="Text 7"/>
          <p:cNvSpPr txBox="1"/>
          <p:nvPr/>
        </p:nvSpPr>
        <p:spPr>
          <a:xfrm>
            <a:off x="516630" y="2116782"/>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0" name="Text 8"/>
          <p:cNvSpPr txBox="1"/>
          <p:nvPr/>
        </p:nvSpPr>
        <p:spPr>
          <a:xfrm>
            <a:off x="751284" y="2145357"/>
            <a:ext cx="1475929"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AI 工具的使用体验</a:t>
            </a:r>
            <a:endParaRPr lang="en-US" sz="1320" dirty="0"/>
          </a:p>
        </p:txBody>
      </p:sp>
      <p:sp>
        <p:nvSpPr>
          <p:cNvPr id="11" name="Text 9"/>
          <p:cNvSpPr txBox="1"/>
          <p:nvPr/>
        </p:nvSpPr>
        <p:spPr>
          <a:xfrm>
            <a:off x="516630" y="241860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2" name="Text 10"/>
          <p:cNvSpPr txBox="1"/>
          <p:nvPr/>
        </p:nvSpPr>
        <p:spPr>
          <a:xfrm>
            <a:off x="751284" y="2447181"/>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炒作和投机：</a:t>
            </a:r>
            <a:endParaRPr lang="en-US" sz="1320" dirty="0"/>
          </a:p>
        </p:txBody>
      </p:sp>
      <p:sp>
        <p:nvSpPr>
          <p:cNvPr id="13" name="Text 11"/>
          <p:cNvSpPr txBox="1"/>
          <p:nvPr/>
        </p:nvSpPr>
        <p:spPr>
          <a:xfrm>
            <a:off x="734514" y="2720429"/>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4" name="Text 12"/>
          <p:cNvSpPr txBox="1"/>
          <p:nvPr/>
        </p:nvSpPr>
        <p:spPr>
          <a:xfrm>
            <a:off x="969169" y="2749004"/>
            <a:ext cx="952351"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混乱的术语</a:t>
            </a:r>
            <a:endParaRPr lang="en-US" sz="1320" dirty="0"/>
          </a:p>
        </p:txBody>
      </p:sp>
      <p:sp>
        <p:nvSpPr>
          <p:cNvPr id="15" name="Text 13"/>
          <p:cNvSpPr txBox="1"/>
          <p:nvPr/>
        </p:nvSpPr>
        <p:spPr>
          <a:xfrm>
            <a:off x="734514" y="302225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6" name="Text 14"/>
          <p:cNvSpPr txBox="1"/>
          <p:nvPr/>
        </p:nvSpPr>
        <p:spPr>
          <a:xfrm>
            <a:off x="969169" y="3050828"/>
            <a:ext cx="145509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社交媒体中的科研</a:t>
            </a:r>
            <a:endParaRPr lang="en-US" sz="1320" dirty="0"/>
          </a:p>
        </p:txBody>
      </p:sp>
      <p:sp>
        <p:nvSpPr>
          <p:cNvPr id="17" name="Text 15"/>
          <p:cNvSpPr txBox="1"/>
          <p:nvPr/>
        </p:nvSpPr>
        <p:spPr>
          <a:xfrm>
            <a:off x="734514" y="3324076"/>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18" name="Text 16"/>
          <p:cNvSpPr txBox="1"/>
          <p:nvPr/>
        </p:nvSpPr>
        <p:spPr>
          <a:xfrm>
            <a:off x="969169" y="3352651"/>
            <a:ext cx="1185565"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模型/测试造假</a:t>
            </a:r>
            <a:endParaRPr lang="en-US" sz="1320" dirty="0"/>
          </a:p>
        </p:txBody>
      </p:sp>
      <p:sp>
        <p:nvSpPr>
          <p:cNvPr id="19" name="Text 17"/>
          <p:cNvSpPr txBox="1"/>
          <p:nvPr/>
        </p:nvSpPr>
        <p:spPr>
          <a:xfrm>
            <a:off x="734514" y="3625900"/>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0" name="Text 18"/>
          <p:cNvSpPr txBox="1"/>
          <p:nvPr/>
        </p:nvSpPr>
        <p:spPr>
          <a:xfrm>
            <a:off x="969169" y="3654475"/>
            <a:ext cx="1622673"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指标与现实需要脱节</a:t>
            </a:r>
            <a:endParaRPr lang="en-US" sz="1320" dirty="0"/>
          </a:p>
        </p:txBody>
      </p:sp>
      <p:sp>
        <p:nvSpPr>
          <p:cNvPr id="21" name="Text 19"/>
          <p:cNvSpPr txBox="1"/>
          <p:nvPr/>
        </p:nvSpPr>
        <p:spPr>
          <a:xfrm>
            <a:off x="734514" y="3927723"/>
            <a:ext cx="315468" cy="301752"/>
          </a:xfrm>
          <a:prstGeom prst="rect">
            <a:avLst/>
          </a:prstGeom>
          <a:noFill/>
          <a:ln/>
        </p:spPr>
        <p:txBody>
          <a:bodyPr wrap="none" lIns="0" tIns="0" rIns="0" bIns="0" rtlCol="0" anchor="ctr"/>
          <a:lstStyle/>
          <a:p>
            <a:pPr algn="l" indent="0" marL="0">
              <a:buNone/>
            </a:pPr>
            <a:r>
              <a:rPr lang="en-US" sz="1320" dirty="0">
                <a:solidFill>
                  <a:srgbClr val="000000"/>
                </a:solidFill>
                <a:latin typeface="Arial" pitchFamily="34" charset="0"/>
                <a:ea typeface="Arial" pitchFamily="34" charset="-122"/>
                <a:cs typeface="Arial" pitchFamily="34" charset="-120"/>
              </a:rPr>
              <a:t>▪ </a:t>
            </a:r>
            <a:endParaRPr lang="en-US" sz="1320" dirty="0"/>
          </a:p>
        </p:txBody>
      </p:sp>
      <p:sp>
        <p:nvSpPr>
          <p:cNvPr id="22" name="Text 20"/>
          <p:cNvSpPr txBox="1"/>
          <p:nvPr/>
        </p:nvSpPr>
        <p:spPr>
          <a:xfrm>
            <a:off x="969169" y="3956298"/>
            <a:ext cx="1119932" cy="238125"/>
          </a:xfrm>
          <a:prstGeom prst="rect">
            <a:avLst/>
          </a:prstGeom>
          <a:noFill/>
          <a:ln/>
        </p:spPr>
        <p:txBody>
          <a:bodyPr wrap="none" lIns="0" tIns="0" rIns="0" bIns="0" rtlCol="0" anchor="t"/>
          <a:lstStyle/>
          <a:p>
            <a:pPr algn="l" indent="0" marL="0">
              <a:buNone/>
            </a:pPr>
            <a:r>
              <a:rPr lang="en-US" sz="1320" dirty="0">
                <a:solidFill>
                  <a:srgbClr val="000000"/>
                </a:solidFill>
                <a:latin typeface="Arial" pitchFamily="34" charset="0"/>
                <a:ea typeface="Arial" pitchFamily="34" charset="-122"/>
                <a:cs typeface="Arial" pitchFamily="34" charset="-120"/>
              </a:rPr>
              <a:t>头部公司互保</a:t>
            </a:r>
            <a:endParaRPr lang="en-US" sz="1320" dirty="0"/>
          </a:p>
        </p:txBody>
      </p:sp>
      <p:pic>
        <p:nvPicPr>
          <p:cNvPr id="23" name="Image 0" descr="preencoded.png">    </p:cNvPr>
          <p:cNvPicPr>
            <a:picLocks noChangeAspect="1"/>
          </p:cNvPicPr>
          <p:nvPr/>
        </p:nvPicPr>
        <p:blipFill>
          <a:blip r:embed="rId1"/>
          <a:stretch>
            <a:fillRect/>
          </a:stretch>
        </p:blipFill>
        <p:spPr>
          <a:xfrm>
            <a:off x="3723382" y="1211312"/>
            <a:ext cx="3046512" cy="3042047"/>
          </a:xfrm>
          <a:prstGeom prst="rect">
            <a:avLst/>
          </a:prstGeom>
        </p:spPr>
      </p:pic>
      <p:pic>
        <p:nvPicPr>
          <p:cNvPr id="24" name="Image 1" descr="Rendered as an image because of CSS background-image">    </p:cNvPr>
          <p:cNvPicPr>
            <a:picLocks noChangeAspect="1"/>
          </p:cNvPicPr>
          <p:nvPr/>
        </p:nvPicPr>
        <p:blipFill>
          <a:blip r:embed="rId2"/>
          <a:stretch>
            <a:fillRect/>
          </a:stretch>
        </p:blipFill>
        <p:spPr>
          <a:xfrm>
            <a:off x="0" y="210294"/>
            <a:ext cx="326678" cy="838200"/>
          </a:xfrm>
          <a:prstGeom prst="rect">
            <a:avLst/>
          </a:prstGeom>
        </p:spPr>
      </p:pic>
      <p:pic>
        <p:nvPicPr>
          <p:cNvPr id="25" name="Image 2" descr="Rendered as an image because of CSS background-image">    </p:cNvPr>
          <p:cNvPicPr>
            <a:picLocks noChangeAspect="1"/>
          </p:cNvPicPr>
          <p:nvPr/>
        </p:nvPicPr>
        <p:blipFill>
          <a:blip r:embed="rId3"/>
          <a:stretch>
            <a:fillRect/>
          </a:stretch>
        </p:blipFill>
        <p:spPr>
          <a:xfrm>
            <a:off x="0" y="5029200"/>
            <a:ext cx="9334500" cy="228600"/>
          </a:xfrm>
          <a:prstGeom prst="rect">
            <a:avLst/>
          </a:prstGeom>
        </p:spPr>
      </p:pic>
      <p:sp>
        <p:nvSpPr>
          <p:cNvPr id="26" name="Text 21"/>
          <p:cNvSpPr txBox="1"/>
          <p:nvPr/>
        </p:nvSpPr>
        <p:spPr>
          <a:xfrm>
            <a:off x="152400" y="5048250"/>
            <a:ext cx="5143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毛思成</a:t>
            </a:r>
            <a:endParaRPr lang="en-US" sz="1050" dirty="0"/>
          </a:p>
        </p:txBody>
      </p:sp>
      <p:sp>
        <p:nvSpPr>
          <p:cNvPr id="27" name="Shape 22"/>
          <p:cNvSpPr/>
          <p:nvPr/>
        </p:nvSpPr>
        <p:spPr>
          <a:xfrm>
            <a:off x="647700" y="5067300"/>
            <a:ext cx="9525" cy="152400"/>
          </a:xfrm>
          <a:prstGeom prst="rect">
            <a:avLst/>
          </a:prstGeom>
          <a:solidFill>
            <a:srgbClr val="F0FFFF"/>
          </a:solidFill>
          <a:ln/>
        </p:spPr>
      </p:sp>
      <p:sp>
        <p:nvSpPr>
          <p:cNvPr id="28" name="Text 23"/>
          <p:cNvSpPr txBox="1"/>
          <p:nvPr/>
        </p:nvSpPr>
        <p:spPr>
          <a:xfrm>
            <a:off x="752475" y="5048250"/>
            <a:ext cx="241116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深度学习概览 及其在语音处理中的应用</a:t>
            </a:r>
            <a:endParaRPr lang="en-US" sz="1050" dirty="0"/>
          </a:p>
        </p:txBody>
      </p:sp>
      <p:sp>
        <p:nvSpPr>
          <p:cNvPr id="29" name="Text 24"/>
          <p:cNvSpPr txBox="1"/>
          <p:nvPr/>
        </p:nvSpPr>
        <p:spPr>
          <a:xfrm>
            <a:off x="4619625" y="5048250"/>
            <a:ext cx="1047750"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机器学习讨论班</a:t>
            </a:r>
            <a:endParaRPr lang="en-US" sz="1050" dirty="0"/>
          </a:p>
        </p:txBody>
      </p:sp>
      <p:sp>
        <p:nvSpPr>
          <p:cNvPr id="30" name="Text 25"/>
          <p:cNvSpPr txBox="1"/>
          <p:nvPr/>
        </p:nvSpPr>
        <p:spPr>
          <a:xfrm>
            <a:off x="8833545"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40</a:t>
            </a:r>
            <a:endParaRPr lang="en-US" sz="1050" dirty="0"/>
          </a:p>
        </p:txBody>
      </p:sp>
      <p:sp>
        <p:nvSpPr>
          <p:cNvPr id="31" name="Text 26"/>
          <p:cNvSpPr txBox="1"/>
          <p:nvPr/>
        </p:nvSpPr>
        <p:spPr>
          <a:xfrm>
            <a:off x="8981629" y="5048250"/>
            <a:ext cx="166688"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a:t>
            </a:r>
            <a:endParaRPr lang="en-US" sz="1050" dirty="0"/>
          </a:p>
        </p:txBody>
      </p:sp>
      <p:sp>
        <p:nvSpPr>
          <p:cNvPr id="32" name="Text 27"/>
          <p:cNvSpPr txBox="1"/>
          <p:nvPr/>
        </p:nvSpPr>
        <p:spPr>
          <a:xfrm>
            <a:off x="9034016" y="5048250"/>
            <a:ext cx="262384" cy="190500"/>
          </a:xfrm>
          <a:prstGeom prst="rect">
            <a:avLst/>
          </a:prstGeom>
          <a:noFill/>
          <a:ln/>
        </p:spPr>
        <p:txBody>
          <a:bodyPr wrap="none" lIns="0" tIns="0" rIns="0" bIns="0" rtlCol="0" anchor="t"/>
          <a:lstStyle/>
          <a:p>
            <a:pPr algn="l" indent="0" marL="0">
              <a:buNone/>
            </a:pPr>
            <a:r>
              <a:rPr lang="en-US" sz="1050" dirty="0">
                <a:solidFill>
                  <a:srgbClr val="F0FFFF"/>
                </a:solidFill>
                <a:latin typeface="Arial" pitchFamily="34" charset="0"/>
                <a:ea typeface="Arial" pitchFamily="34" charset="-122"/>
                <a:cs typeface="Arial" pitchFamily="34" charset="-120"/>
              </a:rPr>
              <a:t>42</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315718" y="2305050"/>
            <a:ext cx="800249" cy="495300"/>
          </a:xfrm>
          <a:prstGeom prst="rect">
            <a:avLst/>
          </a:prstGeom>
          <a:noFill/>
          <a:ln/>
        </p:spPr>
        <p:txBody>
          <a:bodyPr wrap="none" lIns="0" tIns="0" rIns="0" bIns="0" rtlCol="0" anchor="t"/>
          <a:lstStyle/>
          <a:p>
            <a:pPr algn="l" indent="0" marL="0">
              <a:buNone/>
            </a:pPr>
            <a:r>
              <a:rPr lang="en-US" sz="2700" u="dash" dirty="0">
                <a:solidFill>
                  <a:srgbClr val="00000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彩蛋</a:t>
            </a:r>
            <a:endParaRPr lang="en-US" sz="2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334500" cy="5257800"/>
          </a:xfrm>
          <a:prstGeom prst="rect">
            <a:avLst/>
          </a:prstGeom>
          <a:solidFill>
            <a:srgbClr val="000000"/>
          </a:solidFill>
          <a:ln/>
        </p:spPr>
      </p:sp>
      <p:sp>
        <p:nvSpPr>
          <p:cNvPr id="3" name="Text 1"/>
          <p:cNvSpPr txBox="1"/>
          <p:nvPr/>
        </p:nvSpPr>
        <p:spPr>
          <a:xfrm>
            <a:off x="4400550" y="2486025"/>
            <a:ext cx="533400" cy="276225"/>
          </a:xfrm>
          <a:prstGeom prst="rect">
            <a:avLst/>
          </a:prstGeom>
          <a:noFill/>
          <a:ln/>
        </p:spPr>
        <p:txBody>
          <a:bodyPr wrap="none" lIns="0" tIns="0" rIns="0" bIns="0" rtlCol="0" anchor="t"/>
          <a:lstStyle/>
          <a:p>
            <a:pPr algn="ctr" indent="0" marL="0">
              <a:buNone/>
            </a:pPr>
            <a:r>
              <a:rPr lang="en-US" sz="1500" spc="150" kern="0" dirty="0">
                <a:solidFill>
                  <a:srgbClr val="FFFFFF">
                    <a:alpha val="85000"/>
                  </a:srgbClr>
                </a:solidFill>
                <a:latin typeface="Arial" pitchFamily="34" charset="0"/>
                <a:ea typeface="Arial" pitchFamily="34" charset="-122"/>
                <a:cs typeface="Arial" pitchFamily="34" charset="-120"/>
              </a:rPr>
              <a:t>谢谢</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2026-09-18T10:54:09Z</dcterms:created>
  <dcterms:modified xsi:type="dcterms:W3CDTF">2026-09-18T10:54:09Z</dcterms:modified>
</cp:coreProperties>
</file>